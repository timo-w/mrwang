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2"/>
  </p:notesMasterIdLst>
  <p:handoutMasterIdLst>
    <p:handoutMasterId r:id="rId13"/>
  </p:handoutMasterIdLst>
  <p:sldIdLst>
    <p:sldId id="296" r:id="rId5"/>
    <p:sldId id="256" r:id="rId6"/>
    <p:sldId id="429" r:id="rId7"/>
    <p:sldId id="431" r:id="rId8"/>
    <p:sldId id="432" r:id="rId9"/>
    <p:sldId id="433" r:id="rId10"/>
    <p:sldId id="430" r:id="rId11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0" y="96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27/10/2025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27/10/2025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freephotos.com/vector-images/computer-laptop-vector-graphic.png.php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s/photo/1136507" TargetMode="External"/><Relationship Id="rId7" Type="http://schemas.openxmlformats.org/officeDocument/2006/relationships/hyperlink" Target="https://archive.org/details/hpr0967" TargetMode="Externa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jpg"/><Relationship Id="rId5" Type="http://schemas.openxmlformats.org/officeDocument/2006/relationships/hyperlink" Target="https://pxhere.com/es/photo/708441" TargetMode="External"/><Relationship Id="rId4" Type="http://schemas.openxmlformats.org/officeDocument/2006/relationships/image" Target="../media/image31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vgsilh.com/9c27b0/image/1967796.html" TargetMode="External"/><Relationship Id="rId3" Type="http://schemas.openxmlformats.org/officeDocument/2006/relationships/hyperlink" Target="https://positek.net/automatic-backup-using-cloud-storage/" TargetMode="External"/><Relationship Id="rId7" Type="http://schemas.openxmlformats.org/officeDocument/2006/relationships/image" Target="../media/image36.sv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png"/><Relationship Id="rId5" Type="http://schemas.openxmlformats.org/officeDocument/2006/relationships/hyperlink" Target="https://aprendiendoarduino.wordpress.com/tag/arduino/page/62/" TargetMode="External"/><Relationship Id="rId4" Type="http://schemas.openxmlformats.org/officeDocument/2006/relationships/image" Target="../media/image3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audio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different methods of transferring audio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how audio can be transferred from one device to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Identify the differences between audio transfer methods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Audio Transfer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NPA Digital Media (Level 5)</a:t>
            </a:r>
          </a:p>
        </p:txBody>
      </p:sp>
      <p:pic>
        <p:nvPicPr>
          <p:cNvPr id="8" name="Graphic 7" descr="Video camera with solid fill">
            <a:extLst>
              <a:ext uri="{FF2B5EF4-FFF2-40B4-BE49-F238E27FC236}">
                <a16:creationId xmlns:a16="http://schemas.microsoft.com/office/drawing/2014/main" id="{D4E46534-1CEF-8407-F9A3-76D1BFEF8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3160" y="2845798"/>
            <a:ext cx="1574118" cy="157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072A7-D03A-A667-1C92-79EE2E0F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92E8-2CD6-2240-0418-65C7C240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Recap: Digital Sound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1580D-756E-1091-FD36-62B033FACB8B}"/>
              </a:ext>
            </a:extLst>
          </p:cNvPr>
          <p:cNvSpPr txBox="1"/>
          <p:nvPr/>
        </p:nvSpPr>
        <p:spPr>
          <a:xfrm>
            <a:off x="1357632" y="1843950"/>
            <a:ext cx="6428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measurements of the </a:t>
            </a:r>
            <a:r>
              <a:rPr lang="en-GB" b="1" dirty="0"/>
              <a:t>sound wave</a:t>
            </a:r>
            <a:r>
              <a:rPr lang="en-GB" dirty="0"/>
              <a:t> are converted to </a:t>
            </a:r>
            <a:r>
              <a:rPr lang="en-GB" b="1" dirty="0"/>
              <a:t>binary values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Like a </a:t>
            </a:r>
            <a:r>
              <a:rPr lang="en-GB" b="1" dirty="0"/>
              <a:t>staircase</a:t>
            </a:r>
            <a:r>
              <a:rPr lang="en-GB" dirty="0"/>
              <a:t> – you can </a:t>
            </a:r>
            <a:r>
              <a:rPr lang="en-GB" b="1" dirty="0"/>
              <a:t>step up </a:t>
            </a:r>
            <a:r>
              <a:rPr lang="en-GB" dirty="0"/>
              <a:t>or </a:t>
            </a:r>
            <a:r>
              <a:rPr lang="en-GB" b="1" dirty="0"/>
              <a:t>step down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 </a:t>
            </a:r>
            <a:r>
              <a:rPr lang="en-GB" b="1" dirty="0"/>
              <a:t>audio file</a:t>
            </a:r>
            <a:r>
              <a:rPr lang="en-GB" dirty="0"/>
              <a:t> is just a </a:t>
            </a:r>
            <a:r>
              <a:rPr lang="en-GB" b="1" dirty="0"/>
              <a:t>list of these steps </a:t>
            </a:r>
            <a:r>
              <a:rPr lang="en-GB" dirty="0"/>
              <a:t>– to reproduce the wave approximately</a:t>
            </a:r>
          </a:p>
        </p:txBody>
      </p:sp>
      <p:pic>
        <p:nvPicPr>
          <p:cNvPr id="3080" name="Picture 8" descr="Vector scientific or educational scheme or diagram of the analog signal and  digital signal isolated on white. Continuous time-varying signal and  discrete signal used to carry data. Physics, technology Stock Vector |">
            <a:extLst>
              <a:ext uri="{FF2B5EF4-FFF2-40B4-BE49-F238E27FC236}">
                <a16:creationId xmlns:a16="http://schemas.microsoft.com/office/drawing/2014/main" id="{3C2FB933-1020-5324-647E-FBB016553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75" y="4049359"/>
            <a:ext cx="7277450" cy="280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98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9BBE5-4574-4EA6-E931-32068D372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4BF4-E92D-9670-60D2-29BFECA4F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Audio Transfer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B776A5-A1A1-B7E5-611C-996D74849E95}"/>
              </a:ext>
            </a:extLst>
          </p:cNvPr>
          <p:cNvSpPr txBox="1"/>
          <p:nvPr/>
        </p:nvSpPr>
        <p:spPr>
          <a:xfrm>
            <a:off x="1357632" y="1843950"/>
            <a:ext cx="6428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Once an audio file (MP3, WAV, etc.) is </a:t>
            </a:r>
            <a:r>
              <a:rPr lang="en-GB" b="1" dirty="0"/>
              <a:t>created</a:t>
            </a:r>
            <a:r>
              <a:rPr lang="en-GB" dirty="0"/>
              <a:t>, it can be </a:t>
            </a:r>
            <a:r>
              <a:rPr lang="en-GB" b="1" dirty="0"/>
              <a:t>transferred</a:t>
            </a:r>
            <a:r>
              <a:rPr lang="en-GB" dirty="0"/>
              <a:t> from one device to another.</a:t>
            </a:r>
          </a:p>
          <a:p>
            <a:endParaRPr lang="en-GB" dirty="0"/>
          </a:p>
          <a:p>
            <a:r>
              <a:rPr lang="en-GB" dirty="0"/>
              <a:t>There are two main ways to do this: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Using </a:t>
            </a:r>
            <a:r>
              <a:rPr lang="en-GB" b="1" dirty="0"/>
              <a:t>cables</a:t>
            </a:r>
            <a:r>
              <a:rPr lang="en-GB" dirty="0"/>
              <a:t> to connect the two devices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Using a </a:t>
            </a:r>
            <a:r>
              <a:rPr lang="en-GB" b="1" dirty="0"/>
              <a:t>wireless</a:t>
            </a:r>
            <a:r>
              <a:rPr lang="en-GB" dirty="0"/>
              <a:t>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16110-F0D7-6155-49EC-EE8DE9803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43328" y="4042277"/>
            <a:ext cx="4657344" cy="262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7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3783B-77CB-DA35-AEB4-6F37CAE0C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E2B8-F7FA-14E5-22EA-469BF9579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Audio Cables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A2D95-5304-8C6C-910D-11B7B2F8FCD0}"/>
              </a:ext>
            </a:extLst>
          </p:cNvPr>
          <p:cNvSpPr txBox="1"/>
          <p:nvPr/>
        </p:nvSpPr>
        <p:spPr>
          <a:xfrm>
            <a:off x="1357632" y="1843950"/>
            <a:ext cx="64287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are many cables which can carry </a:t>
            </a:r>
            <a:r>
              <a:rPr lang="en-GB" b="1" dirty="0"/>
              <a:t>audio data </a:t>
            </a:r>
            <a:r>
              <a:rPr lang="en-GB" dirty="0"/>
              <a:t>between once device and another: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High-Definition Multimedia Interface (HDMI)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Display Port (DP)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Digital Visual Interface (DVI)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Auxiliary cable (3.5mm or ¼ inch)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USB Type-C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Coaxial cable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Digital optical cable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Some of these are </a:t>
            </a:r>
            <a:r>
              <a:rPr lang="en-GB" b="1" dirty="0"/>
              <a:t>just for carrying audio data</a:t>
            </a:r>
            <a:r>
              <a:rPr lang="en-GB" dirty="0"/>
              <a:t>, while some of  them carry both </a:t>
            </a:r>
            <a:r>
              <a:rPr lang="en-GB" b="1" dirty="0"/>
              <a:t>video and audio</a:t>
            </a:r>
            <a:r>
              <a:rPr lang="en-GB" dirty="0"/>
              <a:t> at the same time.</a:t>
            </a:r>
          </a:p>
        </p:txBody>
      </p:sp>
      <p:pic>
        <p:nvPicPr>
          <p:cNvPr id="6" name="Picture 5" descr="A close-up of a pair of audio cables&#10;&#10;AI-generated content may be incorrect.">
            <a:extLst>
              <a:ext uri="{FF2B5EF4-FFF2-40B4-BE49-F238E27FC236}">
                <a16:creationId xmlns:a16="http://schemas.microsoft.com/office/drawing/2014/main" id="{2D6E8C31-7C73-B381-404B-20F28C734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8186" y="5517212"/>
            <a:ext cx="2013699" cy="1340788"/>
          </a:xfrm>
          <a:prstGeom prst="rect">
            <a:avLst/>
          </a:prstGeom>
        </p:spPr>
      </p:pic>
      <p:pic>
        <p:nvPicPr>
          <p:cNvPr id="8" name="Picture 7" descr="A close-up of a black and gold audio cable&#10;&#10;AI-generated content may be incorrect.">
            <a:extLst>
              <a:ext uri="{FF2B5EF4-FFF2-40B4-BE49-F238E27FC236}">
                <a16:creationId xmlns:a16="http://schemas.microsoft.com/office/drawing/2014/main" id="{173C08B9-9CAE-A332-8986-AAEDF3C38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455458" y="3045269"/>
            <a:ext cx="2086620" cy="1391080"/>
          </a:xfrm>
          <a:prstGeom prst="rect">
            <a:avLst/>
          </a:prstGeom>
        </p:spPr>
      </p:pic>
      <p:pic>
        <p:nvPicPr>
          <p:cNvPr id="10" name="Picture 9" descr="Close-up of a black cable&#10;&#10;AI-generated content may be incorrect.">
            <a:extLst>
              <a:ext uri="{FF2B5EF4-FFF2-40B4-BE49-F238E27FC236}">
                <a16:creationId xmlns:a16="http://schemas.microsoft.com/office/drawing/2014/main" id="{B3DEB647-8BFE-10BB-EE70-BE4130D2C0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963408" y="359139"/>
            <a:ext cx="1645920" cy="12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2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B69D-98C8-6304-FD91-9CA928FB1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022B5-6B5E-9C26-86C3-5E6F1F6F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Wireless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A93485-827D-B4BD-590D-1451A02D2A8D}"/>
              </a:ext>
            </a:extLst>
          </p:cNvPr>
          <p:cNvSpPr txBox="1"/>
          <p:nvPr/>
        </p:nvSpPr>
        <p:spPr>
          <a:xfrm>
            <a:off x="1357632" y="1843950"/>
            <a:ext cx="64287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recent times, it can be more convenient to transfer data </a:t>
            </a:r>
            <a:r>
              <a:rPr lang="en-GB" b="1" dirty="0"/>
              <a:t>wirelessly</a:t>
            </a:r>
            <a:r>
              <a:rPr lang="en-GB" dirty="0"/>
              <a:t>, using a few different methods:</a:t>
            </a:r>
          </a:p>
          <a:p>
            <a:endParaRPr lang="en-GB" dirty="0"/>
          </a:p>
          <a:p>
            <a:r>
              <a:rPr lang="en-GB" dirty="0"/>
              <a:t>Bluetooth: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Transfer</a:t>
            </a:r>
            <a:r>
              <a:rPr lang="en-GB" dirty="0"/>
              <a:t> audio across a short distance between 2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E.g. listening to a podcast on Bluetooth headphones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Wi-Fi: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Stream</a:t>
            </a:r>
            <a:r>
              <a:rPr lang="en-GB" dirty="0"/>
              <a:t> audio from the Internet to your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E.g. streaming music from Spotify or Apple Music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Cloud Storage: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Store</a:t>
            </a:r>
            <a:r>
              <a:rPr lang="en-GB" dirty="0"/>
              <a:t> audio files on a cloud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e.g. using OneDrive, Dropbox or Google Drive</a:t>
            </a:r>
          </a:p>
        </p:txBody>
      </p:sp>
      <p:pic>
        <p:nvPicPr>
          <p:cNvPr id="5" name="Picture 4" descr="A cloud shaped logo with different logos&#10;&#10;AI-generated content may be incorrect.">
            <a:extLst>
              <a:ext uri="{FF2B5EF4-FFF2-40B4-BE49-F238E27FC236}">
                <a16:creationId xmlns:a16="http://schemas.microsoft.com/office/drawing/2014/main" id="{18544421-4AA2-F96E-7601-6567F6BBC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74523" y="4681668"/>
            <a:ext cx="2408301" cy="1493520"/>
          </a:xfrm>
          <a:prstGeom prst="rect">
            <a:avLst/>
          </a:prstGeom>
        </p:spPr>
      </p:pic>
      <p:pic>
        <p:nvPicPr>
          <p:cNvPr id="11" name="Picture 1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E899E38-E228-5985-3A55-452AD1C3ED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39459" y="6257377"/>
            <a:ext cx="2000822" cy="49089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D45FF-522D-B2E3-D3E4-494C3281A7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219932" y="265493"/>
            <a:ext cx="1406860" cy="140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3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B665-3001-26CE-0449-F9F65F6E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3D80-D014-0DFE-71EC-9F250966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14FCB-0E8E-627C-1EC9-9B9CD1F94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FCE7E-301D-85A1-600A-15CA1E97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audio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different methods of transferring audio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608E32-591E-D6FE-AA50-94EF5DB28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78A8F7-77DC-CF57-B025-ABF8E5A0D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how audio can be transferred from one device to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Identify the differences between audio transfer methods</a:t>
            </a:r>
          </a:p>
        </p:txBody>
      </p:sp>
    </p:spTree>
    <p:extLst>
      <p:ext uri="{BB962C8B-B14F-4D97-AF65-F5344CB8AC3E}">
        <p14:creationId xmlns:p14="http://schemas.microsoft.com/office/powerpoint/2010/main" val="3713695331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2261</TotalTime>
  <Words>336</Words>
  <Application>Microsoft Office PowerPoint</Application>
  <PresentationFormat>On-screen Show (4:3)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Monoline</vt:lpstr>
      <vt:lpstr>Learning intentions and success criteria</vt:lpstr>
      <vt:lpstr>Audio Transfer</vt:lpstr>
      <vt:lpstr>Recap: Digital Sound</vt:lpstr>
      <vt:lpstr>Audio Transfer</vt:lpstr>
      <vt:lpstr>Audio Cables</vt:lpstr>
      <vt:lpstr>Wireless Methods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Mr Wang</cp:lastModifiedBy>
  <cp:revision>175</cp:revision>
  <cp:lastPrinted>2025-08-18T09:52:00Z</cp:lastPrinted>
  <dcterms:created xsi:type="dcterms:W3CDTF">2025-02-10T23:03:02Z</dcterms:created>
  <dcterms:modified xsi:type="dcterms:W3CDTF">2025-10-27T10:53:45Z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