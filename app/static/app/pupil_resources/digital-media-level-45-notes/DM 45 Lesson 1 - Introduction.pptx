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9"/>
  </p:notesMasterIdLst>
  <p:handoutMasterIdLst>
    <p:handoutMasterId r:id="rId20"/>
  </p:handoutMasterIdLst>
  <p:sldIdLst>
    <p:sldId id="358" r:id="rId5"/>
    <p:sldId id="296" r:id="rId6"/>
    <p:sldId id="256" r:id="rId7"/>
    <p:sldId id="330" r:id="rId8"/>
    <p:sldId id="261" r:id="rId9"/>
    <p:sldId id="360" r:id="rId10"/>
    <p:sldId id="354" r:id="rId11"/>
    <p:sldId id="362" r:id="rId12"/>
    <p:sldId id="363" r:id="rId13"/>
    <p:sldId id="364" r:id="rId14"/>
    <p:sldId id="365" r:id="rId15"/>
    <p:sldId id="366" r:id="rId16"/>
    <p:sldId id="367" r:id="rId17"/>
    <p:sldId id="361" r:id="rId18"/>
  </p:sldIdLst>
  <p:sldSz cx="9144000" cy="6858000" type="screen4x3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5EBE"/>
    <a:srgbClr val="990055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1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842" y="150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14/08/2025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14/08/2025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3366-FA68-AD0E-B6BF-16615D57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535A19-DF8F-282B-3A60-8C84C58C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Starter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70197-473D-2B53-4477-3655C7E56C0F}"/>
              </a:ext>
            </a:extLst>
          </p:cNvPr>
          <p:cNvSpPr txBox="1"/>
          <p:nvPr/>
        </p:nvSpPr>
        <p:spPr>
          <a:xfrm>
            <a:off x="1303153" y="1594190"/>
            <a:ext cx="6537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Login to a computer</a:t>
            </a:r>
            <a:r>
              <a:rPr lang="en-GB" sz="2000" dirty="0"/>
              <a:t> (might take a while)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Sign into </a:t>
            </a:r>
            <a:r>
              <a:rPr lang="en-GB" sz="2000" b="1" dirty="0"/>
              <a:t>Glow</a:t>
            </a:r>
            <a:r>
              <a:rPr lang="en-GB" sz="2000" dirty="0"/>
              <a:t> then open </a:t>
            </a:r>
            <a:r>
              <a:rPr lang="en-GB" sz="2000" b="1" dirty="0"/>
              <a:t>Teams</a:t>
            </a:r>
          </a:p>
        </p:txBody>
      </p:sp>
      <p:pic>
        <p:nvPicPr>
          <p:cNvPr id="1026" name="Picture 2" descr="Microsoft Teams Logo transparent PNG ...">
            <a:extLst>
              <a:ext uri="{FF2B5EF4-FFF2-40B4-BE49-F238E27FC236}">
                <a16:creationId xmlns:a16="http://schemas.microsoft.com/office/drawing/2014/main" id="{9248CC9A-062D-EBE7-FF06-4A1ECC3BB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7055" y="2609853"/>
            <a:ext cx="2069890" cy="206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57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Mr Wang and his lab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NPA Digital Media(Level 5)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Follow Mr Wang’s rules and make him very happy </a:t>
            </a:r>
            <a:r>
              <a:rPr lang="en-GB" sz="2000" dirty="0">
                <a:sym typeface="Wingdings" panose="05000000000000000000" pitchFamily="2" charset="2"/>
              </a:rPr>
              <a:t></a:t>
            </a:r>
            <a:endParaRPr lang="en-GB" sz="2000" dirty="0"/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Discuss my </a:t>
            </a:r>
            <a:r>
              <a:rPr lang="en-GB" sz="2000"/>
              <a:t>interests in digital media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Welcome to Digital Media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NPA Digital Media</a:t>
            </a:r>
          </a:p>
        </p:txBody>
      </p:sp>
      <p:pic>
        <p:nvPicPr>
          <p:cNvPr id="7" name="Graphic 6" descr="Web design with solid fill">
            <a:extLst>
              <a:ext uri="{FF2B5EF4-FFF2-40B4-BE49-F238E27FC236}">
                <a16:creationId xmlns:a16="http://schemas.microsoft.com/office/drawing/2014/main" id="{32C66687-B496-6DC4-AEE1-44E1E8DE1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5678" y="2751094"/>
            <a:ext cx="1653898" cy="165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C796A-1674-481D-83F5-261EC7EF4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D97B-EE34-D05F-7EDD-76ECDF72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Lab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B60AC4-9058-49A3-067A-B619C52680F4}"/>
              </a:ext>
            </a:extLst>
          </p:cNvPr>
          <p:cNvSpPr txBox="1"/>
          <p:nvPr/>
        </p:nvSpPr>
        <p:spPr>
          <a:xfrm>
            <a:off x="1303153" y="1867399"/>
            <a:ext cx="34540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OPENS Policy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No food </a:t>
            </a:r>
            <a:r>
              <a:rPr lang="en-GB" sz="2000" dirty="0"/>
              <a:t>in the lab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You can have water at central desks </a:t>
            </a:r>
            <a:r>
              <a:rPr lang="en-GB" sz="2000" b="1" dirty="0"/>
              <a:t>but not at PCs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Sit at your </a:t>
            </a:r>
            <a:r>
              <a:rPr lang="en-GB" sz="2000" b="1" dirty="0"/>
              <a:t>designated seats</a:t>
            </a:r>
            <a:r>
              <a:rPr lang="en-GB" sz="2000" dirty="0"/>
              <a:t> (seating plan)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Questions very welcome!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96F5C5-1ADA-E35F-CFD0-31145C830C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60"/>
          <a:stretch>
            <a:fillRect/>
          </a:stretch>
        </p:blipFill>
        <p:spPr>
          <a:xfrm>
            <a:off x="5173416" y="1867399"/>
            <a:ext cx="2667431" cy="378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7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4EFBE-CD0C-AD4C-390A-A6B330F9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A01B2-5B30-BA99-4EBA-EF5DE7E3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89DEE-4923-4FBA-E4C5-C8B6E608559E}"/>
              </a:ext>
            </a:extLst>
          </p:cNvPr>
          <p:cNvSpPr txBox="1"/>
          <p:nvPr/>
        </p:nvSpPr>
        <p:spPr>
          <a:xfrm>
            <a:off x="1303153" y="1594190"/>
            <a:ext cx="65376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My name is Mr Wang!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 have done professional photo and video work in the past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6A8F20-7272-C521-0EAA-DC03ED923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78" y="3429001"/>
            <a:ext cx="3451955" cy="26008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411DC3-4B19-9D46-FF48-A83A5E100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560" y="3417754"/>
            <a:ext cx="3552761" cy="261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C8A4-9CCF-1DC9-AE85-34387C57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7BCCAA8-3E16-5C71-6E49-5C9153C3C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Getting to know you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6CA991-9D98-078C-6BE9-2E8A55CAEEFC}"/>
              </a:ext>
            </a:extLst>
          </p:cNvPr>
          <p:cNvSpPr txBox="1"/>
          <p:nvPr/>
        </p:nvSpPr>
        <p:spPr>
          <a:xfrm>
            <a:off x="1303153" y="1594190"/>
            <a:ext cx="65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Check to see if you are in the class </a:t>
            </a:r>
            <a:r>
              <a:rPr lang="en-GB" sz="2000" b="1" dirty="0"/>
              <a:t>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8D8BD1-893D-7CC2-FCB5-6A456F3BE4AF}"/>
              </a:ext>
            </a:extLst>
          </p:cNvPr>
          <p:cNvSpPr txBox="1"/>
          <p:nvPr/>
        </p:nvSpPr>
        <p:spPr>
          <a:xfrm>
            <a:off x="1303153" y="4016490"/>
            <a:ext cx="65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Then, complete the </a:t>
            </a:r>
            <a:r>
              <a:rPr lang="en-GB" sz="2000" b="1" dirty="0"/>
              <a:t>Introduction Quiz</a:t>
            </a:r>
            <a:r>
              <a:rPr lang="en-GB" sz="2000" dirty="0"/>
              <a:t> assignment</a:t>
            </a:r>
            <a:endParaRPr lang="en-GB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D9996-E831-0B69-E17D-223CDFEFF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475" y="2166934"/>
            <a:ext cx="3465049" cy="15459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CCC36E-BDC1-9504-D10A-029ED538D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475" y="4623381"/>
            <a:ext cx="3465049" cy="152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62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CC5D-FB69-0D1A-72C9-EE29B8449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1A33-1B59-2E3A-4958-BC3633AD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Moving to Level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6496E1-8140-7675-4181-2F298FBDA3FE}"/>
              </a:ext>
            </a:extLst>
          </p:cNvPr>
          <p:cNvSpPr txBox="1"/>
          <p:nvPr/>
        </p:nvSpPr>
        <p:spPr>
          <a:xfrm>
            <a:off x="1357632" y="1843950"/>
            <a:ext cx="64287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Just like Level 4 Digital Media, you will continue developing skills in handling:</a:t>
            </a:r>
          </a:p>
          <a:p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Audio</a:t>
            </a:r>
            <a:r>
              <a:rPr lang="en-GB" sz="2000" dirty="0"/>
              <a:t> - Audacity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Still images </a:t>
            </a:r>
            <a:r>
              <a:rPr lang="en-GB" sz="2000" dirty="0"/>
              <a:t>- </a:t>
            </a:r>
            <a:r>
              <a:rPr lang="en-GB" sz="2000" dirty="0" err="1"/>
              <a:t>PhotoPlus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Moving images </a:t>
            </a:r>
            <a:r>
              <a:rPr lang="en-GB" sz="2000" dirty="0"/>
              <a:t>(video) - iMovie</a:t>
            </a:r>
          </a:p>
        </p:txBody>
      </p:sp>
    </p:spTree>
    <p:extLst>
      <p:ext uri="{BB962C8B-B14F-4D97-AF65-F5344CB8AC3E}">
        <p14:creationId xmlns:p14="http://schemas.microsoft.com/office/powerpoint/2010/main" val="408095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CE29-28B8-D3C3-ED09-B00F99E8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3A3D5-49C0-40B1-1B72-C025EDA18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Level 5 Assessment Brief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650C2-BCF3-E1E1-9033-A38027F666F5}"/>
              </a:ext>
            </a:extLst>
          </p:cNvPr>
          <p:cNvSpPr txBox="1"/>
          <p:nvPr/>
        </p:nvSpPr>
        <p:spPr>
          <a:xfrm>
            <a:off x="1357632" y="1843950"/>
            <a:ext cx="64287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theme is a </a:t>
            </a:r>
            <a:r>
              <a:rPr lang="en-GB" b="1" dirty="0"/>
              <a:t>day in the life of a pupil</a:t>
            </a:r>
            <a:r>
              <a:rPr lang="en-GB" dirty="0"/>
              <a:t>, You are to acquire at least: </a:t>
            </a:r>
          </a:p>
          <a:p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10 photographs, one of which should contain a person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8 audio clips 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6 moving images </a:t>
            </a:r>
          </a:p>
          <a:p>
            <a:endParaRPr lang="en-GB" dirty="0"/>
          </a:p>
          <a:p>
            <a:r>
              <a:rPr lang="en-GB" dirty="0"/>
              <a:t>The media elements should cover a range of stills, audio and moving images to show what a typical day in your life is like, for example, traffic, playing games, walking or what you do at home.</a:t>
            </a:r>
          </a:p>
          <a:p>
            <a:endParaRPr lang="en-GB" dirty="0"/>
          </a:p>
          <a:p>
            <a:r>
              <a:rPr lang="en-GB" dirty="0"/>
              <a:t>This is to be presented either as a </a:t>
            </a:r>
            <a:r>
              <a:rPr lang="en-GB" b="1" dirty="0"/>
              <a:t>presentation</a:t>
            </a:r>
            <a:r>
              <a:rPr lang="en-GB" dirty="0"/>
              <a:t>,</a:t>
            </a:r>
            <a:r>
              <a:rPr lang="en-GB" b="1" dirty="0"/>
              <a:t> blog</a:t>
            </a:r>
            <a:r>
              <a:rPr lang="en-GB" dirty="0"/>
              <a:t>,</a:t>
            </a:r>
            <a:r>
              <a:rPr lang="en-GB" b="1" dirty="0"/>
              <a:t> website </a:t>
            </a:r>
            <a:r>
              <a:rPr lang="en-GB" dirty="0"/>
              <a:t>or a </a:t>
            </a:r>
            <a:r>
              <a:rPr lang="en-GB" b="1" dirty="0"/>
              <a:t>movie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645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ECD5-5F39-31F2-B7F7-3FA79F6F5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1941-B3D0-5CAC-028B-DE3C38F08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Level 5 Assessment Brief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A97D4-E581-C28C-C560-EC3911526233}"/>
              </a:ext>
            </a:extLst>
          </p:cNvPr>
          <p:cNvSpPr txBox="1"/>
          <p:nvPr/>
        </p:nvSpPr>
        <p:spPr>
          <a:xfrm>
            <a:off x="1357632" y="1843950"/>
            <a:ext cx="64287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project will involve </a:t>
            </a:r>
            <a:r>
              <a:rPr lang="en-GB" b="1" dirty="0"/>
              <a:t>four tasks</a:t>
            </a:r>
            <a:r>
              <a:rPr lang="en-GB" dirty="0"/>
              <a:t>:</a:t>
            </a:r>
          </a:p>
          <a:p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Planning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Acquisition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Editing and production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Evaluation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r>
              <a:rPr lang="en-GB" dirty="0"/>
              <a:t>Throughout the project you will need to maintain a </a:t>
            </a:r>
            <a:r>
              <a:rPr lang="en-GB" b="1" dirty="0"/>
              <a:t>logbook</a:t>
            </a:r>
            <a:r>
              <a:rPr lang="en-GB" dirty="0"/>
              <a:t> of your progress.</a:t>
            </a:r>
          </a:p>
        </p:txBody>
      </p:sp>
    </p:spTree>
    <p:extLst>
      <p:ext uri="{BB962C8B-B14F-4D97-AF65-F5344CB8AC3E}">
        <p14:creationId xmlns:p14="http://schemas.microsoft.com/office/powerpoint/2010/main" val="301837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9364-550B-9F4D-FF51-CFFAAB3C0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D2F8-C7C2-6809-145F-522E3F79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Task 1: 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019F23-D8C5-8FE1-C028-FF307D7FA73D}"/>
              </a:ext>
            </a:extLst>
          </p:cNvPr>
          <p:cNvSpPr txBox="1"/>
          <p:nvPr/>
        </p:nvSpPr>
        <p:spPr>
          <a:xfrm>
            <a:off x="1357632" y="1843950"/>
            <a:ext cx="64287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must supply the following plans for approval before acquiring any of the media elements. </a:t>
            </a:r>
          </a:p>
          <a:p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Identify still images, sounds and moving images to suit the brief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Script/Storyboard/Shot-list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Production Schedule with breakdown of timescales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Describe hardware and software required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Identify camera functions used to acquire still images</a:t>
            </a:r>
          </a:p>
          <a:p>
            <a:pPr lvl="0" fontAlgn="base"/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Copyright status for each media element along with remedial action (where required)</a:t>
            </a:r>
          </a:p>
        </p:txBody>
      </p:sp>
    </p:spTree>
    <p:extLst>
      <p:ext uri="{BB962C8B-B14F-4D97-AF65-F5344CB8AC3E}">
        <p14:creationId xmlns:p14="http://schemas.microsoft.com/office/powerpoint/2010/main" val="392250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8E3E-3658-6D0C-2CA9-A1C8F1406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056E-3BA5-DABB-BD90-E5DEBB81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Task 2: Acquisition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AF6EA-9D68-AF92-9847-8D9E98295887}"/>
              </a:ext>
            </a:extLst>
          </p:cNvPr>
          <p:cNvSpPr txBox="1"/>
          <p:nvPr/>
        </p:nvSpPr>
        <p:spPr>
          <a:xfrm>
            <a:off x="1357632" y="1843950"/>
            <a:ext cx="64287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Task 2 consists of the actual acquisition of media elements as defined in your plan in task 1. You must acquire at least: </a:t>
            </a:r>
          </a:p>
          <a:p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10 digital still images and editing of at least six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8 audio clips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6 moving images</a:t>
            </a:r>
          </a:p>
          <a:p>
            <a:endParaRPr lang="en-GB" dirty="0"/>
          </a:p>
          <a:p>
            <a:r>
              <a:rPr lang="en-GB" dirty="0"/>
              <a:t>During and after acquisition you must: </a:t>
            </a:r>
          </a:p>
          <a:p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Acquire all required media elements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Ensure all media elements, whether these are going to be used or not, are clearly labelled in appropriate file formats with a note of where they are stored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Keep a record of any copyright implications</a:t>
            </a:r>
          </a:p>
        </p:txBody>
      </p:sp>
    </p:spTree>
    <p:extLst>
      <p:ext uri="{BB962C8B-B14F-4D97-AF65-F5344CB8AC3E}">
        <p14:creationId xmlns:p14="http://schemas.microsoft.com/office/powerpoint/2010/main" val="352916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CD24-493A-5898-3659-0F04AD6AE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9F1B-E343-F46A-DA8D-02B6E9417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Task 3: Editing and Production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7219F8-503A-14E4-B1F0-7D43D1F41334}"/>
              </a:ext>
            </a:extLst>
          </p:cNvPr>
          <p:cNvSpPr txBox="1"/>
          <p:nvPr/>
        </p:nvSpPr>
        <p:spPr>
          <a:xfrm>
            <a:off x="1357632" y="1843950"/>
            <a:ext cx="64287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Task 3 involves producing a media product using the portfolio of all media elements, ensuring you are adhering to the timescales in your production schedule:</a:t>
            </a:r>
          </a:p>
          <a:p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Edit all required media elements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Description of editing techniques used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Create a digital media product with all the media elements</a:t>
            </a:r>
          </a:p>
          <a:p>
            <a:pPr lvl="0" fontAlgn="base"/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Save the media product in an appropriate compressed file format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Present the digital media product to an intended audience </a:t>
            </a:r>
          </a:p>
        </p:txBody>
      </p:sp>
    </p:spTree>
    <p:extLst>
      <p:ext uri="{BB962C8B-B14F-4D97-AF65-F5344CB8AC3E}">
        <p14:creationId xmlns:p14="http://schemas.microsoft.com/office/powerpoint/2010/main" val="374488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A083-242C-6C36-B1AE-AD5EE563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F4A4-C3C9-44C4-6707-E91518782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Task 4: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193E2-AF8F-7CCC-0147-DFE892BFD51E}"/>
              </a:ext>
            </a:extLst>
          </p:cNvPr>
          <p:cNvSpPr txBox="1"/>
          <p:nvPr/>
        </p:nvSpPr>
        <p:spPr>
          <a:xfrm>
            <a:off x="1357632" y="1843950"/>
            <a:ext cx="64287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Task 4 involves you evaluating the final digital media product and your performance:</a:t>
            </a:r>
          </a:p>
          <a:p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Description of what still image editing techniques were used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Evaluate the appropriateness of your chosen editing techniques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Evaluate your finished product against the requirements of the brief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Explain any solutions used to resolve issues in the production of the product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Identify any steps to improve further still image work produced</a:t>
            </a:r>
          </a:p>
        </p:txBody>
      </p:sp>
    </p:spTree>
    <p:extLst>
      <p:ext uri="{BB962C8B-B14F-4D97-AF65-F5344CB8AC3E}">
        <p14:creationId xmlns:p14="http://schemas.microsoft.com/office/powerpoint/2010/main" val="13638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DCD6D-5F23-8C72-6BAF-C471A0F6E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7673C-31CA-4F8D-F575-8C01CCCBF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38535-FDDB-57B3-1F81-591163B27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CD6FA-660D-9993-112F-668D57B02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Mr Wang and his lab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NPA Computer Games Development (Level 5)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48715C-7C0C-81DC-2584-0C238E8170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A48AEE-E832-5C79-6F7C-0A705AAB0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Follow Mr Wang’s rules and make him very happy </a:t>
            </a:r>
            <a:r>
              <a:rPr lang="en-GB" sz="2000" dirty="0">
                <a:sym typeface="Wingdings" panose="05000000000000000000" pitchFamily="2" charset="2"/>
              </a:rPr>
              <a:t>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Discuss my interest in game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08017437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1702</TotalTime>
  <Words>651</Words>
  <Application>Microsoft Office PowerPoint</Application>
  <PresentationFormat>On-screen Show (4:3)</PresentationFormat>
  <Paragraphs>122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Tenorite</vt:lpstr>
      <vt:lpstr>Wingdings</vt:lpstr>
      <vt:lpstr>Monoline</vt:lpstr>
      <vt:lpstr>Starter Task</vt:lpstr>
      <vt:lpstr>Learning intentions and success criteria</vt:lpstr>
      <vt:lpstr>Welcome to Digital Media</vt:lpstr>
      <vt:lpstr>Lab Rules</vt:lpstr>
      <vt:lpstr>My Introduction</vt:lpstr>
      <vt:lpstr>Getting to know you</vt:lpstr>
      <vt:lpstr>Moving to Level 5</vt:lpstr>
      <vt:lpstr>Level 5 Assessment Brief</vt:lpstr>
      <vt:lpstr>Level 5 Assessment Brief</vt:lpstr>
      <vt:lpstr>Task 1: Planning</vt:lpstr>
      <vt:lpstr>Task 2: Acquisition</vt:lpstr>
      <vt:lpstr>Task 3: Editing and Production</vt:lpstr>
      <vt:lpstr>Task 4: Evaluation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Timothy Wang (student)</cp:lastModifiedBy>
  <cp:revision>109</cp:revision>
  <dcterms:created xsi:type="dcterms:W3CDTF">2025-02-10T23:03:02Z</dcterms:created>
  <dcterms:modified xsi:type="dcterms:W3CDTF">2025-08-14T00:02:42Z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