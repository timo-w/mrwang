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4"/>
  </p:notesMasterIdLst>
  <p:handoutMasterIdLst>
    <p:handoutMasterId r:id="rId15"/>
  </p:handoutMasterIdLst>
  <p:sldIdLst>
    <p:sldId id="296" r:id="rId5"/>
    <p:sldId id="256" r:id="rId6"/>
    <p:sldId id="415" r:id="rId7"/>
    <p:sldId id="428" r:id="rId8"/>
    <p:sldId id="429" r:id="rId9"/>
    <p:sldId id="430" r:id="rId10"/>
    <p:sldId id="431" r:id="rId11"/>
    <p:sldId id="432" r:id="rId12"/>
    <p:sldId id="427" r:id="rId13"/>
  </p:sldIdLst>
  <p:sldSz cx="9144000" cy="6858000" type="screen4x3"/>
  <p:notesSz cx="6805613" cy="9939338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55"/>
    <a:srgbClr val="375EBE"/>
    <a:srgbClr val="BE494D"/>
    <a:srgbClr val="E9E6DF"/>
    <a:srgbClr val="FFD14E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1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956" y="104"/>
      </p:cViewPr>
      <p:guideLst>
        <p:guide orient="horz" pos="3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09/10/2025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031" y="4434840"/>
            <a:ext cx="3706328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031" y="5586890"/>
            <a:ext cx="3706328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1"/>
            <a:ext cx="7116234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116612" y="0"/>
            <a:ext cx="50273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25" y="1020446"/>
            <a:ext cx="2378869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2924176"/>
            <a:ext cx="2378869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0125" y="6356351"/>
            <a:ext cx="7388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414" y="6356350"/>
            <a:ext cx="186213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2229" y="6356351"/>
            <a:ext cx="74066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413" y="0"/>
            <a:ext cx="7558587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509419"/>
            <a:ext cx="3061607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9" y="148113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781" y="2557463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363378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28750" y="4710114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152" y="159447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9522" y="267332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82703" y="3755394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31460" y="4824430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65137" y="502393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19938" y="3948451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80090" y="2872686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9698" y="179608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1459" y="6356351"/>
            <a:ext cx="1356534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8156" y="6356351"/>
            <a:ext cx="40719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4248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4753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4857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4425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4809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4473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4857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16291" y="1"/>
            <a:ext cx="2627709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90708" y="0"/>
            <a:ext cx="1853293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570" y="4156406"/>
            <a:ext cx="235458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153063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186006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2630432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295985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373022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05965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40080" y="4830025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39761" y="5159449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3522" y="-1"/>
            <a:ext cx="3672551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5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3660774"/>
            <a:ext cx="3833813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6822282" y="1497012"/>
            <a:ext cx="23217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5214937" y="-25401"/>
            <a:ext cx="2843213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8348" y="6356351"/>
            <a:ext cx="130730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3512" y="2571236"/>
            <a:ext cx="3134678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4407694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1862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1657350" y="0"/>
            <a:ext cx="18288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2329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329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85749" y="2776936"/>
            <a:ext cx="2172503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85749" y="3834607"/>
            <a:ext cx="2172503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28688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678782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49816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49816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856" y="2358007"/>
            <a:ext cx="18288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469" y="2531837"/>
            <a:ext cx="1643063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06" y="2421056"/>
            <a:ext cx="1743075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47892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06636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665381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274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7274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4696" y="4824189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94696" y="5280764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53658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953658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0275" y="892178"/>
            <a:ext cx="6316266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00275" y="2776936"/>
            <a:ext cx="294322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834607"/>
            <a:ext cx="294322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557630" y="2776936"/>
            <a:ext cx="295772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834607"/>
            <a:ext cx="295772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19339" y="0"/>
            <a:ext cx="3276023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4081416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62" y="1361938"/>
            <a:ext cx="5074444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2286002"/>
            <a:ext cx="4570703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93594" y="2284624"/>
            <a:ext cx="2360499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93594" y="2779714"/>
            <a:ext cx="2361010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9143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5799" y="3354712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44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654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63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72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382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91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201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10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19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29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38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74814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5800" y="4292468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7436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06820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5896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4973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4049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3126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2202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1279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0355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9432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85089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7585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" y="4034785"/>
            <a:ext cx="774954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28650" y="2139084"/>
            <a:ext cx="7886700" cy="3695338"/>
          </a:xfrm>
        </p:spPr>
        <p:txBody>
          <a:bodyPr rtlCol="0"/>
          <a:lstStyle/>
          <a:p>
            <a:pPr rtl="0"/>
            <a:r>
              <a:rPr lang="en-GB" noProof="0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9431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528638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53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83669" y="5084525"/>
            <a:ext cx="164746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15386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776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80706" y="5099207"/>
            <a:ext cx="1608787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77685" y="5478797"/>
            <a:ext cx="1391962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8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648704" y="5099207"/>
            <a:ext cx="159973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45683" y="5478797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6059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63614" y="5084525"/>
            <a:ext cx="1599738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60593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5500687" y="0"/>
            <a:ext cx="3643313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5362" y="1"/>
            <a:ext cx="528638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07882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5126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42590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9703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86947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04411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770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54945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63472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5261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69855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75824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07882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125126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42590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69703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886947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04411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770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754945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672409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5261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69855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475824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4"/>
            <a:ext cx="154305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6750" y="5180889"/>
            <a:ext cx="85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928688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2843213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585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50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85854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71999" y="3788814"/>
            <a:ext cx="1756654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71999" y="4464811"/>
            <a:ext cx="1756654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71999" y="5120723"/>
            <a:ext cx="1756654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89328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23957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23957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23957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945241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767305" y="3788458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767305" y="4464455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767305" y="5120367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76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7656" y="3682546"/>
            <a:ext cx="3833813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1"/>
            <a:ext cx="3571875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1978819" y="1"/>
            <a:ext cx="1593057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1615737"/>
            <a:ext cx="3134678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3238104"/>
            <a:ext cx="3134678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382704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0401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791" y="6356351"/>
            <a:ext cx="19961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4572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21C1-B79D-AD03-4EAE-D2542FF3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CA64-873A-D0FF-B9BC-047C4A17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9065B-2239-5666-C525-8AC7E30D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F8EBB-712D-FA69-3F85-6C3C4D91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audio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What different audio devices are used for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2F969-28CF-3476-B018-2C72791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9522-523D-64B6-2A66-6AD09301A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different types of audio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Identify key features of audio devices</a:t>
            </a:r>
          </a:p>
        </p:txBody>
      </p:sp>
    </p:spTree>
    <p:extLst>
      <p:ext uri="{BB962C8B-B14F-4D97-AF65-F5344CB8AC3E}">
        <p14:creationId xmlns:p14="http://schemas.microsoft.com/office/powerpoint/2010/main" val="1017054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7698-A108-A789-FF04-5399523ED8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Audio Hardware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8D7CA-3C16-0295-286D-6294A3D7B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NPA Digital Media (Level 5)</a:t>
            </a:r>
          </a:p>
        </p:txBody>
      </p:sp>
      <p:pic>
        <p:nvPicPr>
          <p:cNvPr id="8" name="Graphic 7" descr="Video camera with solid fill">
            <a:extLst>
              <a:ext uri="{FF2B5EF4-FFF2-40B4-BE49-F238E27FC236}">
                <a16:creationId xmlns:a16="http://schemas.microsoft.com/office/drawing/2014/main" id="{D4E46534-1CEF-8407-F9A3-76D1BFEF8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3160" y="2845798"/>
            <a:ext cx="1574118" cy="157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6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030E4-E907-FF53-E6D0-184163177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A1BF-0933-4C27-69B0-8944C0962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What is Sound?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AEFAF9-D8BA-615A-FA65-D7F7EAAAEEC0}"/>
              </a:ext>
            </a:extLst>
          </p:cNvPr>
          <p:cNvSpPr txBox="1"/>
          <p:nvPr/>
        </p:nvSpPr>
        <p:spPr>
          <a:xfrm>
            <a:off x="1357632" y="1843950"/>
            <a:ext cx="64287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Sound is a form of </a:t>
            </a:r>
            <a:r>
              <a:rPr lang="en-GB" b="1" dirty="0"/>
              <a:t>energy</a:t>
            </a:r>
            <a:r>
              <a:rPr lang="en-GB" dirty="0"/>
              <a:t> created by </a:t>
            </a:r>
            <a:r>
              <a:rPr lang="en-GB" b="1" dirty="0"/>
              <a:t>travelling vibrations</a:t>
            </a:r>
            <a:r>
              <a:rPr lang="en-GB" dirty="0"/>
              <a:t>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Your ears convert these vibrations into signals that your brain perceives as </a:t>
            </a:r>
            <a:r>
              <a:rPr lang="en-GB" b="1" dirty="0"/>
              <a:t>sound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When travelling through </a:t>
            </a:r>
            <a:r>
              <a:rPr lang="en-GB" b="1" dirty="0"/>
              <a:t>air</a:t>
            </a:r>
            <a:r>
              <a:rPr lang="en-GB" dirty="0"/>
              <a:t>, the vibrations </a:t>
            </a:r>
            <a:r>
              <a:rPr lang="en-GB" b="1" dirty="0"/>
              <a:t>push and pull </a:t>
            </a:r>
            <a:r>
              <a:rPr lang="en-GB" dirty="0"/>
              <a:t>the air molecules (like a slinky)</a:t>
            </a:r>
          </a:p>
        </p:txBody>
      </p:sp>
      <p:pic>
        <p:nvPicPr>
          <p:cNvPr id="1026" name="Picture 2" descr="What is Sound? | Soundproofing Company">
            <a:extLst>
              <a:ext uri="{FF2B5EF4-FFF2-40B4-BE49-F238E27FC236}">
                <a16:creationId xmlns:a16="http://schemas.microsoft.com/office/drawing/2014/main" id="{0F26A46D-8D41-D072-6415-747A1A229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564" y="4005743"/>
            <a:ext cx="5164871" cy="2459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204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5EEC3-AAF4-1B66-57FA-FA324593E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CA4EA-C2E4-F2E6-0F16-982A9025B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Digital Sound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74F5B3-A27C-B24F-C9B1-EF8EFD6F45B4}"/>
              </a:ext>
            </a:extLst>
          </p:cNvPr>
          <p:cNvSpPr txBox="1"/>
          <p:nvPr/>
        </p:nvSpPr>
        <p:spPr>
          <a:xfrm>
            <a:off x="1357632" y="1843950"/>
            <a:ext cx="64287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Using technology, we can </a:t>
            </a:r>
            <a:r>
              <a:rPr lang="en-GB" b="1" dirty="0"/>
              <a:t>capture sound </a:t>
            </a:r>
            <a:r>
              <a:rPr lang="en-GB" dirty="0"/>
              <a:t>and store it as </a:t>
            </a:r>
            <a:r>
              <a:rPr lang="en-GB" b="1" dirty="0"/>
              <a:t>computer data</a:t>
            </a:r>
            <a:r>
              <a:rPr lang="en-GB" dirty="0"/>
              <a:t>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analog wave can be captured by a </a:t>
            </a:r>
            <a:r>
              <a:rPr lang="en-GB" b="1" dirty="0"/>
              <a:t>microphone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wave is </a:t>
            </a:r>
            <a:r>
              <a:rPr lang="en-GB" b="1" dirty="0"/>
              <a:t>sampled </a:t>
            </a:r>
            <a:r>
              <a:rPr lang="en-GB" dirty="0"/>
              <a:t>– the wave is measured at regular intervals</a:t>
            </a:r>
          </a:p>
        </p:txBody>
      </p:sp>
      <p:pic>
        <p:nvPicPr>
          <p:cNvPr id="5" name="Picture 8" descr="Vector scientific or educational scheme or diagram of the analog signal and  digital signal isolated on white. Continuous time-varying signal and  discrete signal used to carry data. Physics, technology Stock Vector |">
            <a:extLst>
              <a:ext uri="{FF2B5EF4-FFF2-40B4-BE49-F238E27FC236}">
                <a16:creationId xmlns:a16="http://schemas.microsoft.com/office/drawing/2014/main" id="{1F4892BA-0E7B-22E6-1203-CF8252140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75" y="4049359"/>
            <a:ext cx="7277450" cy="2808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50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072A7-D03A-A667-1C92-79EE2E0F5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A92E8-2CD6-2240-0418-65C7C240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Digital Sound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41580D-756E-1091-FD36-62B033FACB8B}"/>
              </a:ext>
            </a:extLst>
          </p:cNvPr>
          <p:cNvSpPr txBox="1"/>
          <p:nvPr/>
        </p:nvSpPr>
        <p:spPr>
          <a:xfrm>
            <a:off x="1357632" y="1843950"/>
            <a:ext cx="64287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measurements of the </a:t>
            </a:r>
            <a:r>
              <a:rPr lang="en-GB" b="1" dirty="0"/>
              <a:t>sound wave</a:t>
            </a:r>
            <a:r>
              <a:rPr lang="en-GB" dirty="0"/>
              <a:t> are converted to </a:t>
            </a:r>
            <a:r>
              <a:rPr lang="en-GB" b="1" dirty="0"/>
              <a:t>binary values</a:t>
            </a:r>
            <a:r>
              <a:rPr lang="en-GB" dirty="0"/>
              <a:t>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Like a </a:t>
            </a:r>
            <a:r>
              <a:rPr lang="en-GB" b="1" dirty="0"/>
              <a:t>staircase</a:t>
            </a:r>
            <a:r>
              <a:rPr lang="en-GB" dirty="0"/>
              <a:t> – you can </a:t>
            </a:r>
            <a:r>
              <a:rPr lang="en-GB" b="1" dirty="0"/>
              <a:t>step up </a:t>
            </a:r>
            <a:r>
              <a:rPr lang="en-GB" dirty="0"/>
              <a:t>or </a:t>
            </a:r>
            <a:r>
              <a:rPr lang="en-GB" b="1" dirty="0"/>
              <a:t>step down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 </a:t>
            </a:r>
            <a:r>
              <a:rPr lang="en-GB" b="1" dirty="0"/>
              <a:t>audio file</a:t>
            </a:r>
            <a:r>
              <a:rPr lang="en-GB" dirty="0"/>
              <a:t> is just a </a:t>
            </a:r>
            <a:r>
              <a:rPr lang="en-GB" b="1" dirty="0"/>
              <a:t>list of these steps </a:t>
            </a:r>
            <a:r>
              <a:rPr lang="en-GB" dirty="0"/>
              <a:t>– to reproduce the wave approximately</a:t>
            </a:r>
          </a:p>
        </p:txBody>
      </p:sp>
      <p:pic>
        <p:nvPicPr>
          <p:cNvPr id="3080" name="Picture 8" descr="Vector scientific or educational scheme or diagram of the analog signal and  digital signal isolated on white. Continuous time-varying signal and  discrete signal used to carry data. Physics, technology Stock Vector |">
            <a:extLst>
              <a:ext uri="{FF2B5EF4-FFF2-40B4-BE49-F238E27FC236}">
                <a16:creationId xmlns:a16="http://schemas.microsoft.com/office/drawing/2014/main" id="{3C2FB933-1020-5324-647E-FBB016553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75" y="4049359"/>
            <a:ext cx="7277450" cy="2808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98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A6563-C6E8-1AAF-F8D0-42507DF4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1582D-98D1-B470-6F36-C874B5F81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How Microphones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5AEB8-7DF8-7852-BE4C-942F1E90BD12}"/>
              </a:ext>
            </a:extLst>
          </p:cNvPr>
          <p:cNvSpPr txBox="1"/>
          <p:nvPr/>
        </p:nvSpPr>
        <p:spPr>
          <a:xfrm>
            <a:off x="1357632" y="1890090"/>
            <a:ext cx="64287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Sound is created when something </a:t>
            </a:r>
            <a:r>
              <a:rPr lang="en-GB" b="1" dirty="0"/>
              <a:t>vibrates</a:t>
            </a:r>
            <a:r>
              <a:rPr lang="en-GB" dirty="0"/>
              <a:t>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These vibrations travel through the air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micro phone contains a </a:t>
            </a:r>
            <a:r>
              <a:rPr lang="en-GB" b="1" dirty="0"/>
              <a:t>magnet</a:t>
            </a:r>
            <a:r>
              <a:rPr lang="en-GB" dirty="0"/>
              <a:t> which captures these vibrations which can be converted to a </a:t>
            </a:r>
            <a:r>
              <a:rPr lang="en-GB" b="1" dirty="0"/>
              <a:t>digital signal</a:t>
            </a:r>
            <a:endParaRPr lang="en-GB" dirty="0"/>
          </a:p>
        </p:txBody>
      </p:sp>
      <p:pic>
        <p:nvPicPr>
          <p:cNvPr id="4100" name="Picture 4" descr="How Dynamic Microphones Create Audio Signal">
            <a:extLst>
              <a:ext uri="{FF2B5EF4-FFF2-40B4-BE49-F238E27FC236}">
                <a16:creationId xmlns:a16="http://schemas.microsoft.com/office/drawing/2014/main" id="{5C105225-4ABA-9159-11DA-D8A3A7866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246" y="3608263"/>
            <a:ext cx="5251508" cy="3023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15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F6A1D-0D21-1EE5-FF58-5C3939C93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096A5-FB9A-FDAC-4666-8BC7B4F51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How Speakers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F8144C-C99A-8635-A89C-07918067BE8B}"/>
              </a:ext>
            </a:extLst>
          </p:cNvPr>
          <p:cNvSpPr txBox="1"/>
          <p:nvPr/>
        </p:nvSpPr>
        <p:spPr>
          <a:xfrm>
            <a:off x="1357632" y="1890090"/>
            <a:ext cx="64287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speaker takes a </a:t>
            </a:r>
            <a:r>
              <a:rPr lang="en-GB" b="1" dirty="0"/>
              <a:t>digital signal</a:t>
            </a:r>
            <a:r>
              <a:rPr lang="en-GB" dirty="0"/>
              <a:t> and converts it to </a:t>
            </a:r>
            <a:r>
              <a:rPr lang="en-GB" b="1" dirty="0"/>
              <a:t>vibrations</a:t>
            </a:r>
            <a:r>
              <a:rPr lang="en-GB" dirty="0"/>
              <a:t>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Digital audio data is received – the </a:t>
            </a:r>
            <a:r>
              <a:rPr lang="en-GB" b="1" dirty="0"/>
              <a:t>wave data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is converted to </a:t>
            </a:r>
            <a:r>
              <a:rPr lang="en-GB" b="1" dirty="0"/>
              <a:t>physical movements </a:t>
            </a:r>
            <a:r>
              <a:rPr lang="en-GB" dirty="0"/>
              <a:t>in the speaker (pushing and pulling)</a:t>
            </a:r>
          </a:p>
        </p:txBody>
      </p:sp>
      <p:pic>
        <p:nvPicPr>
          <p:cNvPr id="5122" name="Picture 2" descr="Background - The Physics of Speakers">
            <a:extLst>
              <a:ext uri="{FF2B5EF4-FFF2-40B4-BE49-F238E27FC236}">
                <a16:creationId xmlns:a16="http://schemas.microsoft.com/office/drawing/2014/main" id="{7E983971-D417-927B-F700-25F8916B6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690" y="4012035"/>
            <a:ext cx="3794620" cy="284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693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82C33-6951-64BA-05FD-3B1CF654B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B939B-82BB-73CE-58A5-0C4B1719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Other Audio hardware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C16C44-E3E4-22F3-DC56-5E0A6F172B0E}"/>
              </a:ext>
            </a:extLst>
          </p:cNvPr>
          <p:cNvSpPr txBox="1"/>
          <p:nvPr/>
        </p:nvSpPr>
        <p:spPr>
          <a:xfrm>
            <a:off x="1357632" y="1890090"/>
            <a:ext cx="64287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Other audio devices include: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Headphones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Audio cables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Mixing desks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Soundproofing foam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Synthesizers</a:t>
            </a:r>
          </a:p>
        </p:txBody>
      </p:sp>
      <p:pic>
        <p:nvPicPr>
          <p:cNvPr id="6146" name="Picture 2" descr="Types Of Audio Equipment and Their Benefits - InfiniGEEK">
            <a:extLst>
              <a:ext uri="{FF2B5EF4-FFF2-40B4-BE49-F238E27FC236}">
                <a16:creationId xmlns:a16="http://schemas.microsoft.com/office/drawing/2014/main" id="{ECB40800-B5EF-BF47-C024-74F46E51D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678" y="2391428"/>
            <a:ext cx="3501489" cy="2339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210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F9C89-572F-4CAA-E3CC-99682C1B1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4EFC-9A78-1DF5-808A-784D6FB9E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FC0D1-633B-25A7-0DFB-607D7D179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75233-4D08-A9B1-A036-B4287C4BC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audio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What different audio devices are used for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AF5958-9DC0-A4C2-4A8B-BB5B12B69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C180CA-0EF6-CAB5-F4E2-CAE83AA46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different types of audio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Identify key features of audio devices</a:t>
            </a:r>
          </a:p>
        </p:txBody>
      </p:sp>
    </p:spTree>
    <p:extLst>
      <p:ext uri="{BB962C8B-B14F-4D97-AF65-F5344CB8AC3E}">
        <p14:creationId xmlns:p14="http://schemas.microsoft.com/office/powerpoint/2010/main" val="3525327817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1E84A1C-2814-43A7-9448-348326113A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BA3906-9696-4247-AC0D-DD5C26B2A70A}">
  <ds:schemaRefs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purl.org/dc/terms/"/>
    <ds:schemaRef ds:uri="230e9df3-be65-4c73-a93b-d1236ebd677e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2231</TotalTime>
  <Words>289</Words>
  <Application>Microsoft Office PowerPoint</Application>
  <PresentationFormat>On-screen Show (4:3)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Tenorite</vt:lpstr>
      <vt:lpstr>Monoline</vt:lpstr>
      <vt:lpstr>Learning intentions and success criteria</vt:lpstr>
      <vt:lpstr>Audio Hardware</vt:lpstr>
      <vt:lpstr>What is Sound?</vt:lpstr>
      <vt:lpstr>Digital Sound</vt:lpstr>
      <vt:lpstr>Digital Sound</vt:lpstr>
      <vt:lpstr>How Microphones work</vt:lpstr>
      <vt:lpstr>How Speakers work</vt:lpstr>
      <vt:lpstr>Other Audio hardware</vt:lpstr>
      <vt:lpstr>Learning intentions and success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Wang (student)</dc:creator>
  <cp:lastModifiedBy>TWang (Bellahouston)</cp:lastModifiedBy>
  <cp:revision>174</cp:revision>
  <cp:lastPrinted>2025-08-18T09:52:00Z</cp:lastPrinted>
  <dcterms:created xsi:type="dcterms:W3CDTF">2025-02-10T23:03:02Z</dcterms:created>
  <dcterms:modified xsi:type="dcterms:W3CDTF">2025-10-09T08:34:26Z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