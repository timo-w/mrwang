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5"/>
  </p:notesMasterIdLst>
  <p:handoutMasterIdLst>
    <p:handoutMasterId r:id="rId26"/>
  </p:handoutMasterIdLst>
  <p:sldIdLst>
    <p:sldId id="296" r:id="rId5"/>
    <p:sldId id="446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86" y="-210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28/10/2025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E20D-2254-6FA9-86FC-D9E6AD6F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AE409-7DF4-56B1-8941-6A77679B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8CB7B-6D60-5AB0-1700-365D0E663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EE258-1A29-38E3-11B3-447409547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951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8045-C69C-F736-EF8A-95154BEFA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79A1A-BB7A-1D6D-CAF6-FCD9FB145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3B965-D743-1FDB-271E-0DDAC7D57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6358-0ACD-90A5-8797-A979142CA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30168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E44D-5976-B40D-A092-6A9150A0D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4EB4A-7B87-FAEB-973C-454170E60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B46EA-E3A5-10A4-3867-CAC4FF6F0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DD558-E3BA-F198-9A05-1E4084F37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89985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5C9A-865F-5D11-434A-BBE09B49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CFB97-5C8C-4192-798B-BAE62FE1F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61884-C3B6-2AE6-734C-008A5D3A8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5904D-CD5C-DF12-1AEA-287C9C29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16537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728C-02A2-7070-7ACC-1313048F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3A70F-DFF0-FAD8-C089-F40B67E31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8FECA-3A1A-709C-6B18-F7016785D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A34FF-7BD5-20AA-B8F7-191A471A2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27031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992E-AB31-EA7C-441F-44B01F67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4869E-F5D7-02CC-0126-663C0A7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54CEC-1AD1-9101-AEC0-D547084B4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5FC7-A663-7555-98AB-25955748D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54219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B195-1330-C099-15AD-91492E81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45CB8-031C-2745-7EDF-99FD529AD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A6FFE-0772-725B-50BD-B359BA0FD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28323-0260-6C4E-EC73-3A1FBC874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95275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EC4F-1CEC-9588-66D2-26176BA2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85AEE-7860-F67E-DACF-4FDB95900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F1F25-4E71-B83E-D1D2-498E3EDDB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0E694-8ACB-298E-234E-D00031347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6752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3991-9F09-74CE-79F1-6A221137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7FD03-DF19-D20F-5AF1-1CE5E47D4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1021E-328F-F15F-9453-E27A2B233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5C332-4150-30A3-78EA-CC39675EC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5482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5C52-D845-8DA0-5AEC-C0DA60D8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4AF0E-7122-1613-CAD7-EDAB44229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D7112-9598-B7FA-15C3-64CA035A3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29EFC-6A61-D416-4EF3-2460F407F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01737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3E24-549A-0C47-8842-46F86A26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E04F7-2433-460D-1A35-DAF3D6A50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C752E-872B-3B22-38A0-86376C79A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CEF17-558D-F160-7185-042252834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3492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4B11-D28C-9256-2426-BB6BD72C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3FCDC-1CA1-0549-D4AA-AA211C38E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F19F5-AFD2-930B-90FE-A6CB9F3C2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1A4AB-2C97-9B13-916E-AA8C1B36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77243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FE69-775A-7AD1-0C68-E4246A2C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2EE6E-BCD5-D5FF-C9BC-585D0126A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00027-D42C-8F66-283A-7D7FB523A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FD3B-21D6-26C2-9967-C21CDE7E2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467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F002-E297-DD7C-D144-1F8FDCB6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14BDC-118F-D803-C4B5-1B5CB7854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65801-792E-FF71-26D7-773F18544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336E5-C33A-667B-B87C-BD79E7E13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75231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C76F1-2E4A-AD34-081C-7BA6C9F0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359B0-027B-383B-09EE-133F3BBC7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44DB7-8545-D7E6-A47F-81F598215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25229-33A4-70A0-30BD-4B73CE1B0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691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57C5-0FF3-FE62-0DC7-74B5E6AB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13274-7E73-9104-C643-07A36885E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106B8-D9B6-E2D9-E555-EC49E5B94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372F-6E5F-3762-D8C4-AC66494A1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1797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4F37-40E0-A993-FB68-A4F8A6F5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1BC8D-C0A4-87D3-BC74-00E44A6AD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FADAC-CBF2-A071-85EB-295130D95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6C2EE-8620-FDF6-578E-9F256F082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11908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F9BF-4077-47BF-1FCF-51717D41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DF8-9311-4DAA-7EDB-80EA9D92E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2BFA1-E578-24A7-3B2D-C4D3F7E99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260E1-5559-6FA9-DE80-41F3CDFB0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236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mockingjay1701.deviantart.com/art/Pixel-art-landscape-525082296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jpg"/><Relationship Id="rId4" Type="http://schemas.openxmlformats.org/officeDocument/2006/relationships/hyperlink" Target="https://www.albertopiccini.it/tag/pixel-art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en.wikipedia.org/wiki/File:Bitmap_VS_SVG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data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convert binary numbers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how different types of data are represented and stored in a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Convert between binary and decimal numbers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Data Representation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– Computer Systems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278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FEC8-8446-D54E-192C-440DFA5C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F0CC-CBBC-981F-66D7-DE3EDAD0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Types of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D89DF-110B-D302-81C6-FE6CFFD74A09}"/>
              </a:ext>
            </a:extLst>
          </p:cNvPr>
          <p:cNvSpPr txBox="1"/>
          <p:nvPr/>
        </p:nvSpPr>
        <p:spPr>
          <a:xfrm>
            <a:off x="1357631" y="1843950"/>
            <a:ext cx="65405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can store and represent lots of different kinds of data. You will learn how computers store the following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Numbers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Floating point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Text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ASCII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Graphics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Vector graphics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Bitmapped graphics</a:t>
            </a:r>
          </a:p>
        </p:txBody>
      </p:sp>
    </p:spTree>
    <p:extLst>
      <p:ext uri="{BB962C8B-B14F-4D97-AF65-F5344CB8AC3E}">
        <p14:creationId xmlns:p14="http://schemas.microsoft.com/office/powerpoint/2010/main" val="149941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BBA1-645D-C43C-E7AA-AD0D7B1D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489D-76D1-4532-5DF1-303E5065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How Humans Count (Decimal)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BD175-0FD3-01EA-D1F2-6944E09D9173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represent numbers in base-10: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digit is a power of 10 (units, tens, hundreds, etc.)</a:t>
            </a:r>
          </a:p>
        </p:txBody>
      </p:sp>
      <p:graphicFrame>
        <p:nvGraphicFramePr>
          <p:cNvPr id="4" name="Group 76">
            <a:extLst>
              <a:ext uri="{FF2B5EF4-FFF2-40B4-BE49-F238E27FC236}">
                <a16:creationId xmlns:a16="http://schemas.microsoft.com/office/drawing/2014/main" id="{AE45468F-3BA1-5AB7-8692-37E39B8393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732244"/>
              </p:ext>
            </p:extLst>
          </p:nvPr>
        </p:nvGraphicFramePr>
        <p:xfrm>
          <a:off x="457200" y="3407360"/>
          <a:ext cx="8229600" cy="1062038"/>
        </p:xfrm>
        <a:graphic>
          <a:graphicData uri="http://schemas.openxmlformats.org/drawingml/2006/table">
            <a:tbl>
              <a:tblPr/>
              <a:tblGrid>
                <a:gridCol w="2425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8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Thousands (10</a:t>
                      </a:r>
                      <a:r>
                        <a:rPr kumimoji="1" lang="en-GB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r>
                        <a:rPr kumimoji="1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Hundreds (10</a:t>
                      </a:r>
                      <a:r>
                        <a:rPr kumimoji="1" lang="en-GB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1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Tens (10</a:t>
                      </a:r>
                      <a:r>
                        <a:rPr kumimoji="1" lang="en-GB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1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Units (10</a:t>
                      </a:r>
                      <a:r>
                        <a:rPr kumimoji="1" lang="en-GB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1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4B2C0F0-46F6-D9F9-0E3C-6A0B4C513057}"/>
              </a:ext>
            </a:extLst>
          </p:cNvPr>
          <p:cNvSpPr txBox="1">
            <a:spLocks/>
          </p:cNvSpPr>
          <p:nvPr/>
        </p:nvSpPr>
        <p:spPr>
          <a:xfrm>
            <a:off x="352053" y="4923261"/>
            <a:ext cx="9198000" cy="10620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8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74B4F1-16AE-63B4-F11B-6F2F09DD3B60}"/>
              </a:ext>
            </a:extLst>
          </p:cNvPr>
          <p:cNvSpPr txBox="1">
            <a:spLocks/>
          </p:cNvSpPr>
          <p:nvPr/>
        </p:nvSpPr>
        <p:spPr>
          <a:xfrm>
            <a:off x="1650501" y="5096336"/>
            <a:ext cx="4315098" cy="17941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Calculating this number: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3 x 10</a:t>
            </a:r>
            <a:r>
              <a:rPr lang="en-GB" baseline="30000" dirty="0"/>
              <a:t>3 </a:t>
            </a:r>
            <a:r>
              <a:rPr lang="en-GB" dirty="0"/>
              <a:t>= 3000</a:t>
            </a:r>
          </a:p>
          <a:p>
            <a:pPr marL="0" indent="0">
              <a:buNone/>
            </a:pPr>
            <a:r>
              <a:rPr lang="en-GB" dirty="0"/>
              <a:t>2 x 10</a:t>
            </a:r>
            <a:r>
              <a:rPr lang="en-GB" baseline="30000" dirty="0"/>
              <a:t>2 </a:t>
            </a:r>
            <a:r>
              <a:rPr lang="en-GB" dirty="0"/>
              <a:t>= 200</a:t>
            </a:r>
          </a:p>
          <a:p>
            <a:pPr marL="0" indent="0">
              <a:buNone/>
            </a:pPr>
            <a:r>
              <a:rPr lang="en-GB" dirty="0"/>
              <a:t>8 x 10</a:t>
            </a:r>
            <a:r>
              <a:rPr lang="en-GB" baseline="30000" dirty="0"/>
              <a:t>1 </a:t>
            </a:r>
            <a:r>
              <a:rPr lang="en-GB" dirty="0"/>
              <a:t>= 80</a:t>
            </a:r>
          </a:p>
          <a:p>
            <a:pPr marL="0" indent="0">
              <a:buNone/>
            </a:pPr>
            <a:r>
              <a:rPr lang="en-GB" dirty="0"/>
              <a:t>6 x 10</a:t>
            </a:r>
            <a:r>
              <a:rPr lang="en-GB" baseline="30000" dirty="0"/>
              <a:t>0 </a:t>
            </a:r>
            <a:r>
              <a:rPr lang="en-GB" dirty="0"/>
              <a:t>= 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130459E-D305-DB92-29C1-2E5BA884178C}"/>
              </a:ext>
            </a:extLst>
          </p:cNvPr>
          <p:cNvSpPr txBox="1">
            <a:spLocks/>
          </p:cNvSpPr>
          <p:nvPr/>
        </p:nvSpPr>
        <p:spPr>
          <a:xfrm>
            <a:off x="4499286" y="5795961"/>
            <a:ext cx="4315098" cy="10620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3000 + 200 + 80 + 6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= 3286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EC9A4-9630-AC55-F849-B8421ED9ED3A}"/>
              </a:ext>
            </a:extLst>
          </p:cNvPr>
          <p:cNvSpPr txBox="1"/>
          <p:nvPr/>
        </p:nvSpPr>
        <p:spPr>
          <a:xfrm>
            <a:off x="801869" y="4502543"/>
            <a:ext cx="374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10</a:t>
            </a:r>
            <a:r>
              <a:rPr lang="en-GB" sz="2400" b="1" baseline="30000" dirty="0">
                <a:solidFill>
                  <a:srgbClr val="FF0000"/>
                </a:solidFill>
                <a:latin typeface="+mj-lt"/>
              </a:rPr>
              <a:t>3</a:t>
            </a:r>
            <a:r>
              <a:rPr lang="en-GB" sz="2400" b="1" dirty="0">
                <a:solidFill>
                  <a:srgbClr val="FF0000"/>
                </a:solidFill>
                <a:latin typeface="+mj-lt"/>
              </a:rPr>
              <a:t> means 10 x 10 x 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F89123-AD72-CCEB-C7CC-CD5F07D97198}"/>
              </a:ext>
            </a:extLst>
          </p:cNvPr>
          <p:cNvCxnSpPr>
            <a:cxnSpLocks/>
          </p:cNvCxnSpPr>
          <p:nvPr/>
        </p:nvCxnSpPr>
        <p:spPr>
          <a:xfrm flipH="1" flipV="1">
            <a:off x="2595378" y="3780808"/>
            <a:ext cx="77118" cy="7424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42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80D5C-F61B-7ABE-D6DC-615932FF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8328-5304-26B1-5AA7-2809119C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How computers 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4F7BA-DC1E-836C-605D-E1638D85069E}"/>
              </a:ext>
            </a:extLst>
          </p:cNvPr>
          <p:cNvSpPr txBox="1"/>
          <p:nvPr/>
        </p:nvSpPr>
        <p:spPr>
          <a:xfrm>
            <a:off x="1357631" y="1843950"/>
            <a:ext cx="654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Computers count in base-2 instead of base-10: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0s and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digit is powers of 2 (twos, fours, eights, sixteens, etc.)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6935D6F-4EB2-7D6A-7D67-39C171A44847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11" name="Group 76">
            <a:extLst>
              <a:ext uri="{FF2B5EF4-FFF2-40B4-BE49-F238E27FC236}">
                <a16:creationId xmlns:a16="http://schemas.microsoft.com/office/drawing/2014/main" id="{74F7D2C4-AC4F-BC1C-AB48-AFA6A725B5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612873"/>
              </p:ext>
            </p:extLst>
          </p:nvPr>
        </p:nvGraphicFramePr>
        <p:xfrm>
          <a:off x="271971" y="3429000"/>
          <a:ext cx="8341678" cy="874252"/>
        </p:xfrm>
        <a:graphic>
          <a:graphicData uri="http://schemas.openxmlformats.org/drawingml/2006/table">
            <a:tbl>
              <a:tblPr/>
              <a:tblGrid>
                <a:gridCol w="1198977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  <a:gridCol w="1065178">
                  <a:extLst>
                    <a:ext uri="{9D8B030D-6E8A-4147-A177-3AD203B41FA5}">
                      <a16:colId xmlns:a16="http://schemas.microsoft.com/office/drawing/2014/main" val="2641421818"/>
                    </a:ext>
                  </a:extLst>
                </a:gridCol>
                <a:gridCol w="1106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246">
                  <a:extLst>
                    <a:ext uri="{9D8B030D-6E8A-4147-A177-3AD203B41FA5}">
                      <a16:colId xmlns:a16="http://schemas.microsoft.com/office/drawing/2014/main" val="424714060"/>
                    </a:ext>
                  </a:extLst>
                </a:gridCol>
                <a:gridCol w="944647">
                  <a:extLst>
                    <a:ext uri="{9D8B030D-6E8A-4147-A177-3AD203B41FA5}">
                      <a16:colId xmlns:a16="http://schemas.microsoft.com/office/drawing/2014/main" val="2885600108"/>
                    </a:ext>
                  </a:extLst>
                </a:gridCol>
                <a:gridCol w="98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(2</a:t>
                      </a:r>
                      <a:r>
                        <a:rPr kumimoji="1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9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A88E85-E92D-AD7A-E95D-B84E4C7E2714}"/>
              </a:ext>
            </a:extLst>
          </p:cNvPr>
          <p:cNvSpPr/>
          <p:nvPr/>
        </p:nvSpPr>
        <p:spPr>
          <a:xfrm>
            <a:off x="282987" y="3406966"/>
            <a:ext cx="672653" cy="53751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62C7DAA-6A8F-A239-396D-D49E262DE4A6}"/>
              </a:ext>
            </a:extLst>
          </p:cNvPr>
          <p:cNvSpPr txBox="1">
            <a:spLocks/>
          </p:cNvSpPr>
          <p:nvPr/>
        </p:nvSpPr>
        <p:spPr>
          <a:xfrm>
            <a:off x="166824" y="5010174"/>
            <a:ext cx="9198000" cy="1355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To convert a binary number to denary:</a:t>
            </a:r>
          </a:p>
          <a:p>
            <a:r>
              <a:rPr lang="en-GB" dirty="0"/>
              <a:t>Add up all the columns with a </a:t>
            </a:r>
            <a:r>
              <a:rPr lang="en-GB" b="1" dirty="0"/>
              <a:t>1 </a:t>
            </a:r>
            <a:r>
              <a:rPr lang="en-GB" dirty="0"/>
              <a:t>underneath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998F6-50EC-063E-3924-99D5143F959D}"/>
              </a:ext>
            </a:extLst>
          </p:cNvPr>
          <p:cNvSpPr txBox="1"/>
          <p:nvPr/>
        </p:nvSpPr>
        <p:spPr>
          <a:xfrm>
            <a:off x="203641" y="5723877"/>
            <a:ext cx="264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Answer =  128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967B73-9B7B-DB53-F8B2-E611D362DB5C}"/>
              </a:ext>
            </a:extLst>
          </p:cNvPr>
          <p:cNvSpPr/>
          <p:nvPr/>
        </p:nvSpPr>
        <p:spPr>
          <a:xfrm>
            <a:off x="2436164" y="3406966"/>
            <a:ext cx="672653" cy="53751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CA3FF4-222B-EB83-7962-82B6A1551C2D}"/>
              </a:ext>
            </a:extLst>
          </p:cNvPr>
          <p:cNvSpPr/>
          <p:nvPr/>
        </p:nvSpPr>
        <p:spPr>
          <a:xfrm>
            <a:off x="5720552" y="3406966"/>
            <a:ext cx="672653" cy="53751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192F4C-1FED-DF39-067F-FBDC53BEDB02}"/>
              </a:ext>
            </a:extLst>
          </p:cNvPr>
          <p:cNvSpPr/>
          <p:nvPr/>
        </p:nvSpPr>
        <p:spPr>
          <a:xfrm>
            <a:off x="7572704" y="3377748"/>
            <a:ext cx="672653" cy="53751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9211DA-5865-F776-D18B-1A896C69274C}"/>
              </a:ext>
            </a:extLst>
          </p:cNvPr>
          <p:cNvSpPr txBox="1"/>
          <p:nvPr/>
        </p:nvSpPr>
        <p:spPr>
          <a:xfrm>
            <a:off x="2409329" y="5723876"/>
            <a:ext cx="981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+  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DFC3D3-F656-6BDD-26CC-8E973F1A27C6}"/>
              </a:ext>
            </a:extLst>
          </p:cNvPr>
          <p:cNvSpPr txBox="1"/>
          <p:nvPr/>
        </p:nvSpPr>
        <p:spPr>
          <a:xfrm>
            <a:off x="3256447" y="5723876"/>
            <a:ext cx="76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+ 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97A840-0507-29A1-34B7-A35A0B607DB9}"/>
              </a:ext>
            </a:extLst>
          </p:cNvPr>
          <p:cNvSpPr txBox="1"/>
          <p:nvPr/>
        </p:nvSpPr>
        <p:spPr>
          <a:xfrm>
            <a:off x="3980086" y="5723876"/>
            <a:ext cx="76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+ 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A2A5D6-DB37-3659-673D-95741FD34E54}"/>
              </a:ext>
            </a:extLst>
          </p:cNvPr>
          <p:cNvSpPr txBox="1"/>
          <p:nvPr/>
        </p:nvSpPr>
        <p:spPr>
          <a:xfrm>
            <a:off x="1388175" y="6231574"/>
            <a:ext cx="115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=  165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B1103-5669-6801-BAEE-3512614AB064}"/>
              </a:ext>
            </a:extLst>
          </p:cNvPr>
          <p:cNvSpPr txBox="1"/>
          <p:nvPr/>
        </p:nvSpPr>
        <p:spPr>
          <a:xfrm>
            <a:off x="5172257" y="5940285"/>
            <a:ext cx="3804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+mj-lt"/>
              </a:rPr>
              <a:t>10100101  =  165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3D1047-88E9-24D2-3BA4-F204FA41424E}"/>
              </a:ext>
            </a:extLst>
          </p:cNvPr>
          <p:cNvSpPr txBox="1"/>
          <p:nvPr/>
        </p:nvSpPr>
        <p:spPr>
          <a:xfrm>
            <a:off x="2730349" y="4418376"/>
            <a:ext cx="374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sz="2400" b="1" baseline="30000" dirty="0">
                <a:solidFill>
                  <a:srgbClr val="FF0000"/>
                </a:solidFill>
                <a:latin typeface="+mj-lt"/>
              </a:rPr>
              <a:t>4</a:t>
            </a:r>
            <a:r>
              <a:rPr lang="en-GB" sz="2400" b="1" dirty="0">
                <a:solidFill>
                  <a:srgbClr val="FF0000"/>
                </a:solidFill>
                <a:latin typeface="+mj-lt"/>
              </a:rPr>
              <a:t> means 2 x 2 x 2 x 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B9A5E6-888A-743F-22D1-A33C7CA1D1FC}"/>
              </a:ext>
            </a:extLst>
          </p:cNvPr>
          <p:cNvCxnSpPr>
            <a:cxnSpLocks/>
          </p:cNvCxnSpPr>
          <p:nvPr/>
        </p:nvCxnSpPr>
        <p:spPr>
          <a:xfrm flipH="1" flipV="1">
            <a:off x="4402671" y="3696641"/>
            <a:ext cx="77118" cy="7424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5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build="p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3375-02B8-3680-AD48-03FA045A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2F3E-E5CC-AB86-136C-872CBDD2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From Decimal to Binary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3DF7F-2EA9-B332-2EF6-1CFAA41BC9B6}"/>
              </a:ext>
            </a:extLst>
          </p:cNvPr>
          <p:cNvSpPr txBox="1"/>
          <p:nvPr/>
        </p:nvSpPr>
        <p:spPr>
          <a:xfrm>
            <a:off x="1357631" y="1843950"/>
            <a:ext cx="6540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 how do we go from a decimal number to a binary number?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</a:t>
            </a:r>
            <a:r>
              <a:rPr lang="en-GB" b="1" dirty="0"/>
              <a:t>Convert 99 in 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First, set up your columns and a remainder box: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A52695A-EA1E-D018-FD7D-C2A5CFC2313E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4" name="Group 76">
            <a:extLst>
              <a:ext uri="{FF2B5EF4-FFF2-40B4-BE49-F238E27FC236}">
                <a16:creationId xmlns:a16="http://schemas.microsoft.com/office/drawing/2014/main" id="{2F22D657-1CFD-99F4-C7EB-864BE00615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332875"/>
              </p:ext>
            </p:extLst>
          </p:nvPr>
        </p:nvGraphicFramePr>
        <p:xfrm>
          <a:off x="308547" y="5101830"/>
          <a:ext cx="8561135" cy="1062038"/>
        </p:xfrm>
        <a:graphic>
          <a:graphicData uri="http://schemas.openxmlformats.org/drawingml/2006/table">
            <a:tbl>
              <a:tblPr/>
              <a:tblGrid>
                <a:gridCol w="1230520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  <a:gridCol w="1093201">
                  <a:extLst>
                    <a:ext uri="{9D8B030D-6E8A-4147-A177-3AD203B41FA5}">
                      <a16:colId xmlns:a16="http://schemas.microsoft.com/office/drawing/2014/main" val="2641421818"/>
                    </a:ext>
                  </a:extLst>
                </a:gridCol>
                <a:gridCol w="113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823">
                  <a:extLst>
                    <a:ext uri="{9D8B030D-6E8A-4147-A177-3AD203B41FA5}">
                      <a16:colId xmlns:a16="http://schemas.microsoft.com/office/drawing/2014/main" val="424714060"/>
                    </a:ext>
                  </a:extLst>
                </a:gridCol>
                <a:gridCol w="969500">
                  <a:extLst>
                    <a:ext uri="{9D8B030D-6E8A-4147-A177-3AD203B41FA5}">
                      <a16:colId xmlns:a16="http://schemas.microsoft.com/office/drawing/2014/main" val="2885600108"/>
                    </a:ext>
                  </a:extLst>
                </a:gridCol>
                <a:gridCol w="1011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76">
            <a:extLst>
              <a:ext uri="{FF2B5EF4-FFF2-40B4-BE49-F238E27FC236}">
                <a16:creationId xmlns:a16="http://schemas.microsoft.com/office/drawing/2014/main" id="{BC3EF5D6-8446-F1ED-2CC6-F6065F3823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257640"/>
              </p:ext>
            </p:extLst>
          </p:nvPr>
        </p:nvGraphicFramePr>
        <p:xfrm>
          <a:off x="308547" y="3803515"/>
          <a:ext cx="1618884" cy="1078820"/>
        </p:xfrm>
        <a:graphic>
          <a:graphicData uri="http://schemas.openxmlformats.org/drawingml/2006/table">
            <a:tbl>
              <a:tblPr/>
              <a:tblGrid>
                <a:gridCol w="1618884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</a:tblGrid>
              <a:tr h="556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Remainder: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99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26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B82A-C02C-0B0B-9EDA-C07E2D0C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BC48-06CD-93D4-3AAC-A4557B2A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From Decimal to Binary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1CFF2-E285-024C-FC45-C6105E67561B}"/>
              </a:ext>
            </a:extLst>
          </p:cNvPr>
          <p:cNvSpPr txBox="1"/>
          <p:nvPr/>
        </p:nvSpPr>
        <p:spPr>
          <a:xfrm>
            <a:off x="1357631" y="1843950"/>
            <a:ext cx="6540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First, find the </a:t>
            </a:r>
            <a:r>
              <a:rPr lang="en-GB" b="1" dirty="0"/>
              <a:t>largest number</a:t>
            </a:r>
            <a:r>
              <a:rPr lang="en-GB" dirty="0"/>
              <a:t> which is </a:t>
            </a:r>
            <a:r>
              <a:rPr lang="en-GB" b="1" dirty="0"/>
              <a:t>smaller than the remainder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64 is the largest number smaller than 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Write a 1 underneath and subtract 64 from the remainder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E54D6AE-512C-A484-714A-9BCC291FF7DB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4" name="Group 76">
            <a:extLst>
              <a:ext uri="{FF2B5EF4-FFF2-40B4-BE49-F238E27FC236}">
                <a16:creationId xmlns:a16="http://schemas.microsoft.com/office/drawing/2014/main" id="{37AFDDB1-7F3E-ABDB-57E2-564D64258857}"/>
              </a:ext>
            </a:extLst>
          </p:cNvPr>
          <p:cNvGraphicFramePr>
            <a:graphicFrameLocks/>
          </p:cNvGraphicFramePr>
          <p:nvPr/>
        </p:nvGraphicFramePr>
        <p:xfrm>
          <a:off x="308547" y="5101830"/>
          <a:ext cx="8561135" cy="1062038"/>
        </p:xfrm>
        <a:graphic>
          <a:graphicData uri="http://schemas.openxmlformats.org/drawingml/2006/table">
            <a:tbl>
              <a:tblPr/>
              <a:tblGrid>
                <a:gridCol w="1230520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  <a:gridCol w="1093201">
                  <a:extLst>
                    <a:ext uri="{9D8B030D-6E8A-4147-A177-3AD203B41FA5}">
                      <a16:colId xmlns:a16="http://schemas.microsoft.com/office/drawing/2014/main" val="2641421818"/>
                    </a:ext>
                  </a:extLst>
                </a:gridCol>
                <a:gridCol w="113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823">
                  <a:extLst>
                    <a:ext uri="{9D8B030D-6E8A-4147-A177-3AD203B41FA5}">
                      <a16:colId xmlns:a16="http://schemas.microsoft.com/office/drawing/2014/main" val="424714060"/>
                    </a:ext>
                  </a:extLst>
                </a:gridCol>
                <a:gridCol w="969500">
                  <a:extLst>
                    <a:ext uri="{9D8B030D-6E8A-4147-A177-3AD203B41FA5}">
                      <a16:colId xmlns:a16="http://schemas.microsoft.com/office/drawing/2014/main" val="2885600108"/>
                    </a:ext>
                  </a:extLst>
                </a:gridCol>
                <a:gridCol w="1011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76">
            <a:extLst>
              <a:ext uri="{FF2B5EF4-FFF2-40B4-BE49-F238E27FC236}">
                <a16:creationId xmlns:a16="http://schemas.microsoft.com/office/drawing/2014/main" id="{A8BB16CA-8561-8E53-52E2-C86B887DB3B3}"/>
              </a:ext>
            </a:extLst>
          </p:cNvPr>
          <p:cNvGraphicFramePr>
            <a:graphicFrameLocks/>
          </p:cNvGraphicFramePr>
          <p:nvPr/>
        </p:nvGraphicFramePr>
        <p:xfrm>
          <a:off x="308547" y="3803515"/>
          <a:ext cx="1618884" cy="1078820"/>
        </p:xfrm>
        <a:graphic>
          <a:graphicData uri="http://schemas.openxmlformats.org/drawingml/2006/table">
            <a:tbl>
              <a:tblPr/>
              <a:tblGrid>
                <a:gridCol w="1618884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</a:tblGrid>
              <a:tr h="556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Remainder: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99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6EBBF0-5237-2C53-4C8E-FB200FC8CA6A}"/>
              </a:ext>
            </a:extLst>
          </p:cNvPr>
          <p:cNvSpPr/>
          <p:nvPr/>
        </p:nvSpPr>
        <p:spPr>
          <a:xfrm>
            <a:off x="1653289" y="5101830"/>
            <a:ext cx="890614" cy="47850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27185-0FDB-D26B-38BF-ABF8741D4729}"/>
              </a:ext>
            </a:extLst>
          </p:cNvPr>
          <p:cNvSpPr txBox="1"/>
          <p:nvPr/>
        </p:nvSpPr>
        <p:spPr>
          <a:xfrm>
            <a:off x="1886324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C690-C94B-6361-9A16-C416A3579C8E}"/>
              </a:ext>
            </a:extLst>
          </p:cNvPr>
          <p:cNvSpPr txBox="1"/>
          <p:nvPr/>
        </p:nvSpPr>
        <p:spPr>
          <a:xfrm>
            <a:off x="2098596" y="4342925"/>
            <a:ext cx="3479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99 – 64 = 35</a:t>
            </a:r>
          </a:p>
        </p:txBody>
      </p:sp>
    </p:spTree>
    <p:extLst>
      <p:ext uri="{BB962C8B-B14F-4D97-AF65-F5344CB8AC3E}">
        <p14:creationId xmlns:p14="http://schemas.microsoft.com/office/powerpoint/2010/main" val="39509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3DE1-270D-0E70-E5F7-4838D3F1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1DA6-AA9B-8199-7A64-252BCA2D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From Decimal to Binary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8C3B5-AD1A-17EB-E176-6D86B2C7A3F7}"/>
              </a:ext>
            </a:extLst>
          </p:cNvPr>
          <p:cNvSpPr txBox="1"/>
          <p:nvPr/>
        </p:nvSpPr>
        <p:spPr>
          <a:xfrm>
            <a:off x="1357631" y="1843950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Then find the </a:t>
            </a:r>
            <a:r>
              <a:rPr lang="en-GB" b="1" dirty="0"/>
              <a:t>largest number </a:t>
            </a:r>
            <a:r>
              <a:rPr lang="en-GB" dirty="0"/>
              <a:t>which is smaller than the </a:t>
            </a:r>
            <a:r>
              <a:rPr lang="en-GB" b="1" dirty="0"/>
              <a:t>new remainder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new remainder is 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largest column is 32 – fill in a 1 and subtract from the remainder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85157F9-D919-6C5A-7207-698EDAD536EE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4" name="Group 76">
            <a:extLst>
              <a:ext uri="{FF2B5EF4-FFF2-40B4-BE49-F238E27FC236}">
                <a16:creationId xmlns:a16="http://schemas.microsoft.com/office/drawing/2014/main" id="{0AD5EC4B-B746-404A-F7DD-F67F6F778E20}"/>
              </a:ext>
            </a:extLst>
          </p:cNvPr>
          <p:cNvGraphicFramePr>
            <a:graphicFrameLocks/>
          </p:cNvGraphicFramePr>
          <p:nvPr/>
        </p:nvGraphicFramePr>
        <p:xfrm>
          <a:off x="308547" y="5101830"/>
          <a:ext cx="8561135" cy="1062038"/>
        </p:xfrm>
        <a:graphic>
          <a:graphicData uri="http://schemas.openxmlformats.org/drawingml/2006/table">
            <a:tbl>
              <a:tblPr/>
              <a:tblGrid>
                <a:gridCol w="1230520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  <a:gridCol w="1093201">
                  <a:extLst>
                    <a:ext uri="{9D8B030D-6E8A-4147-A177-3AD203B41FA5}">
                      <a16:colId xmlns:a16="http://schemas.microsoft.com/office/drawing/2014/main" val="2641421818"/>
                    </a:ext>
                  </a:extLst>
                </a:gridCol>
                <a:gridCol w="113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823">
                  <a:extLst>
                    <a:ext uri="{9D8B030D-6E8A-4147-A177-3AD203B41FA5}">
                      <a16:colId xmlns:a16="http://schemas.microsoft.com/office/drawing/2014/main" val="424714060"/>
                    </a:ext>
                  </a:extLst>
                </a:gridCol>
                <a:gridCol w="969500">
                  <a:extLst>
                    <a:ext uri="{9D8B030D-6E8A-4147-A177-3AD203B41FA5}">
                      <a16:colId xmlns:a16="http://schemas.microsoft.com/office/drawing/2014/main" val="2885600108"/>
                    </a:ext>
                  </a:extLst>
                </a:gridCol>
                <a:gridCol w="1011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76">
            <a:extLst>
              <a:ext uri="{FF2B5EF4-FFF2-40B4-BE49-F238E27FC236}">
                <a16:creationId xmlns:a16="http://schemas.microsoft.com/office/drawing/2014/main" id="{B99E1BC5-FBE8-1B68-2DCD-75D124826A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9410637"/>
              </p:ext>
            </p:extLst>
          </p:nvPr>
        </p:nvGraphicFramePr>
        <p:xfrm>
          <a:off x="308547" y="3803515"/>
          <a:ext cx="1618884" cy="1078820"/>
        </p:xfrm>
        <a:graphic>
          <a:graphicData uri="http://schemas.openxmlformats.org/drawingml/2006/table">
            <a:tbl>
              <a:tblPr/>
              <a:tblGrid>
                <a:gridCol w="1618884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</a:tblGrid>
              <a:tr h="556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Remainder: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50805F-FA67-93E3-27E6-855ED3A93DE4}"/>
              </a:ext>
            </a:extLst>
          </p:cNvPr>
          <p:cNvSpPr txBox="1"/>
          <p:nvPr/>
        </p:nvSpPr>
        <p:spPr>
          <a:xfrm>
            <a:off x="1886324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B5DA6E-7549-B38F-2A32-F7FA2525D9B4}"/>
              </a:ext>
            </a:extLst>
          </p:cNvPr>
          <p:cNvSpPr/>
          <p:nvPr/>
        </p:nvSpPr>
        <p:spPr>
          <a:xfrm>
            <a:off x="2759713" y="5101830"/>
            <a:ext cx="890614" cy="47850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16D23-8D16-8B11-F8FD-B973B238546A}"/>
              </a:ext>
            </a:extLst>
          </p:cNvPr>
          <p:cNvSpPr txBox="1"/>
          <p:nvPr/>
        </p:nvSpPr>
        <p:spPr>
          <a:xfrm>
            <a:off x="2992748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BA250-827B-734E-DC24-9536FE5E8029}"/>
              </a:ext>
            </a:extLst>
          </p:cNvPr>
          <p:cNvSpPr txBox="1"/>
          <p:nvPr/>
        </p:nvSpPr>
        <p:spPr>
          <a:xfrm>
            <a:off x="2098596" y="4342925"/>
            <a:ext cx="3479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35 – 32 = 3</a:t>
            </a:r>
          </a:p>
        </p:txBody>
      </p:sp>
    </p:spTree>
    <p:extLst>
      <p:ext uri="{BB962C8B-B14F-4D97-AF65-F5344CB8AC3E}">
        <p14:creationId xmlns:p14="http://schemas.microsoft.com/office/powerpoint/2010/main" val="375492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33E4-E2CD-20D9-D1CC-53CF98F2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3BB1-9D33-610D-DE5E-C83B03B7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From Decimal to Binary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11BD8-FE9F-AF28-FFB1-FEDB47581FFB}"/>
              </a:ext>
            </a:extLst>
          </p:cNvPr>
          <p:cNvSpPr txBox="1"/>
          <p:nvPr/>
        </p:nvSpPr>
        <p:spPr>
          <a:xfrm>
            <a:off x="1357631" y="1843950"/>
            <a:ext cx="654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Keep going until your remainder is zero: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Then fill in the empty columns with 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will have your final binary number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838B5E0-A7DD-8FCB-5B87-57CBB005CB6D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4" name="Group 76">
            <a:extLst>
              <a:ext uri="{FF2B5EF4-FFF2-40B4-BE49-F238E27FC236}">
                <a16:creationId xmlns:a16="http://schemas.microsoft.com/office/drawing/2014/main" id="{889AFB62-7285-2141-F766-546FDA0C6136}"/>
              </a:ext>
            </a:extLst>
          </p:cNvPr>
          <p:cNvGraphicFramePr>
            <a:graphicFrameLocks/>
          </p:cNvGraphicFramePr>
          <p:nvPr/>
        </p:nvGraphicFramePr>
        <p:xfrm>
          <a:off x="308547" y="5101830"/>
          <a:ext cx="8561135" cy="1062038"/>
        </p:xfrm>
        <a:graphic>
          <a:graphicData uri="http://schemas.openxmlformats.org/drawingml/2006/table">
            <a:tbl>
              <a:tblPr/>
              <a:tblGrid>
                <a:gridCol w="1230520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  <a:gridCol w="1093201">
                  <a:extLst>
                    <a:ext uri="{9D8B030D-6E8A-4147-A177-3AD203B41FA5}">
                      <a16:colId xmlns:a16="http://schemas.microsoft.com/office/drawing/2014/main" val="2641421818"/>
                    </a:ext>
                  </a:extLst>
                </a:gridCol>
                <a:gridCol w="113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823">
                  <a:extLst>
                    <a:ext uri="{9D8B030D-6E8A-4147-A177-3AD203B41FA5}">
                      <a16:colId xmlns:a16="http://schemas.microsoft.com/office/drawing/2014/main" val="424714060"/>
                    </a:ext>
                  </a:extLst>
                </a:gridCol>
                <a:gridCol w="969500">
                  <a:extLst>
                    <a:ext uri="{9D8B030D-6E8A-4147-A177-3AD203B41FA5}">
                      <a16:colId xmlns:a16="http://schemas.microsoft.com/office/drawing/2014/main" val="2885600108"/>
                    </a:ext>
                  </a:extLst>
                </a:gridCol>
                <a:gridCol w="1011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76">
            <a:extLst>
              <a:ext uri="{FF2B5EF4-FFF2-40B4-BE49-F238E27FC236}">
                <a16:creationId xmlns:a16="http://schemas.microsoft.com/office/drawing/2014/main" id="{4A1C2DD9-7208-D0B3-E5D8-913B75F1A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854130"/>
              </p:ext>
            </p:extLst>
          </p:nvPr>
        </p:nvGraphicFramePr>
        <p:xfrm>
          <a:off x="308547" y="3803515"/>
          <a:ext cx="1618884" cy="1078820"/>
        </p:xfrm>
        <a:graphic>
          <a:graphicData uri="http://schemas.openxmlformats.org/drawingml/2006/table">
            <a:tbl>
              <a:tblPr/>
              <a:tblGrid>
                <a:gridCol w="1618884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</a:tblGrid>
              <a:tr h="556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Remainder: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46AA90-26BA-2EBE-2382-512EA0746748}"/>
              </a:ext>
            </a:extLst>
          </p:cNvPr>
          <p:cNvSpPr txBox="1"/>
          <p:nvPr/>
        </p:nvSpPr>
        <p:spPr>
          <a:xfrm>
            <a:off x="1886324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D10735-9C36-7BC1-4136-F4814C7081D3}"/>
              </a:ext>
            </a:extLst>
          </p:cNvPr>
          <p:cNvSpPr txBox="1"/>
          <p:nvPr/>
        </p:nvSpPr>
        <p:spPr>
          <a:xfrm>
            <a:off x="2992748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EA7B2-C257-2652-53D7-789A7F412F74}"/>
              </a:ext>
            </a:extLst>
          </p:cNvPr>
          <p:cNvSpPr txBox="1"/>
          <p:nvPr/>
        </p:nvSpPr>
        <p:spPr>
          <a:xfrm>
            <a:off x="2098596" y="4342925"/>
            <a:ext cx="3479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3 – 2 – 1 = 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39A975-84A2-6BB4-EB88-3C333E04B9CD}"/>
              </a:ext>
            </a:extLst>
          </p:cNvPr>
          <p:cNvSpPr/>
          <p:nvPr/>
        </p:nvSpPr>
        <p:spPr>
          <a:xfrm>
            <a:off x="6926328" y="5101830"/>
            <a:ext cx="1943353" cy="47850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F5F23-7161-A5C1-D46B-9BEAA7B6EF5E}"/>
              </a:ext>
            </a:extLst>
          </p:cNvPr>
          <p:cNvSpPr txBox="1"/>
          <p:nvPr/>
        </p:nvSpPr>
        <p:spPr>
          <a:xfrm>
            <a:off x="7159364" y="5663240"/>
            <a:ext cx="64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881293-52B3-E038-9EA5-90FB73F61111}"/>
              </a:ext>
            </a:extLst>
          </p:cNvPr>
          <p:cNvSpPr txBox="1"/>
          <p:nvPr/>
        </p:nvSpPr>
        <p:spPr>
          <a:xfrm>
            <a:off x="8194119" y="5663239"/>
            <a:ext cx="64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244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 animBg="1"/>
      <p:bldP spid="8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B708-9A17-FA9F-E7D8-A54A8A9F1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581B-BA03-3379-4905-C81DB2B5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From Decimal to Binary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46DB4-DFFF-6592-5425-27A3A5407097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Result: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99 in decimal is </a:t>
            </a:r>
            <a:r>
              <a:rPr lang="en-GB" b="1" dirty="0"/>
              <a:t>01100011</a:t>
            </a:r>
            <a:r>
              <a:rPr lang="en-GB" dirty="0"/>
              <a:t> in binary</a:t>
            </a:r>
            <a:endParaRPr lang="en-GB" b="1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F68F1E3-5E72-7ADA-791D-345B267808AE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4" name="Group 76">
            <a:extLst>
              <a:ext uri="{FF2B5EF4-FFF2-40B4-BE49-F238E27FC236}">
                <a16:creationId xmlns:a16="http://schemas.microsoft.com/office/drawing/2014/main" id="{917753CB-201F-EFD2-4EC4-8B7A8B44C567}"/>
              </a:ext>
            </a:extLst>
          </p:cNvPr>
          <p:cNvGraphicFramePr>
            <a:graphicFrameLocks/>
          </p:cNvGraphicFramePr>
          <p:nvPr/>
        </p:nvGraphicFramePr>
        <p:xfrm>
          <a:off x="308547" y="5101830"/>
          <a:ext cx="8561135" cy="1062038"/>
        </p:xfrm>
        <a:graphic>
          <a:graphicData uri="http://schemas.openxmlformats.org/drawingml/2006/table">
            <a:tbl>
              <a:tblPr/>
              <a:tblGrid>
                <a:gridCol w="1230520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  <a:gridCol w="1093201">
                  <a:extLst>
                    <a:ext uri="{9D8B030D-6E8A-4147-A177-3AD203B41FA5}">
                      <a16:colId xmlns:a16="http://schemas.microsoft.com/office/drawing/2014/main" val="2641421818"/>
                    </a:ext>
                  </a:extLst>
                </a:gridCol>
                <a:gridCol w="113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823">
                  <a:extLst>
                    <a:ext uri="{9D8B030D-6E8A-4147-A177-3AD203B41FA5}">
                      <a16:colId xmlns:a16="http://schemas.microsoft.com/office/drawing/2014/main" val="424714060"/>
                    </a:ext>
                  </a:extLst>
                </a:gridCol>
                <a:gridCol w="969500">
                  <a:extLst>
                    <a:ext uri="{9D8B030D-6E8A-4147-A177-3AD203B41FA5}">
                      <a16:colId xmlns:a16="http://schemas.microsoft.com/office/drawing/2014/main" val="2885600108"/>
                    </a:ext>
                  </a:extLst>
                </a:gridCol>
                <a:gridCol w="1011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618" marR="90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76">
            <a:extLst>
              <a:ext uri="{FF2B5EF4-FFF2-40B4-BE49-F238E27FC236}">
                <a16:creationId xmlns:a16="http://schemas.microsoft.com/office/drawing/2014/main" id="{FDB05605-388D-3447-275D-AB17B281E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469274"/>
              </p:ext>
            </p:extLst>
          </p:nvPr>
        </p:nvGraphicFramePr>
        <p:xfrm>
          <a:off x="308547" y="3803515"/>
          <a:ext cx="1618884" cy="1078820"/>
        </p:xfrm>
        <a:graphic>
          <a:graphicData uri="http://schemas.openxmlformats.org/drawingml/2006/table">
            <a:tbl>
              <a:tblPr/>
              <a:tblGrid>
                <a:gridCol w="1618884">
                  <a:extLst>
                    <a:ext uri="{9D8B030D-6E8A-4147-A177-3AD203B41FA5}">
                      <a16:colId xmlns:a16="http://schemas.microsoft.com/office/drawing/2014/main" val="2040927129"/>
                    </a:ext>
                  </a:extLst>
                </a:gridCol>
              </a:tblGrid>
              <a:tr h="556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Remainder: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0618" marR="90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482F96-8516-3173-05F4-9E4EDFDBE8A1}"/>
              </a:ext>
            </a:extLst>
          </p:cNvPr>
          <p:cNvSpPr txBox="1"/>
          <p:nvPr/>
        </p:nvSpPr>
        <p:spPr>
          <a:xfrm>
            <a:off x="1886324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0E52C-DCEA-9511-4210-04CFBA50A2B8}"/>
              </a:ext>
            </a:extLst>
          </p:cNvPr>
          <p:cNvSpPr txBox="1"/>
          <p:nvPr/>
        </p:nvSpPr>
        <p:spPr>
          <a:xfrm>
            <a:off x="2992748" y="5663240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467D1-A78B-7A32-A403-7790CA2299F8}"/>
              </a:ext>
            </a:extLst>
          </p:cNvPr>
          <p:cNvSpPr txBox="1"/>
          <p:nvPr/>
        </p:nvSpPr>
        <p:spPr>
          <a:xfrm>
            <a:off x="7159364" y="5663240"/>
            <a:ext cx="64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225F1-8275-BF68-9EB0-AD4EA9D208D5}"/>
              </a:ext>
            </a:extLst>
          </p:cNvPr>
          <p:cNvSpPr txBox="1"/>
          <p:nvPr/>
        </p:nvSpPr>
        <p:spPr>
          <a:xfrm>
            <a:off x="8194119" y="5663239"/>
            <a:ext cx="64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F12DC-5B6C-49C9-BFB0-3CDFB2155A04}"/>
              </a:ext>
            </a:extLst>
          </p:cNvPr>
          <p:cNvSpPr txBox="1"/>
          <p:nvPr/>
        </p:nvSpPr>
        <p:spPr>
          <a:xfrm>
            <a:off x="779900" y="5632849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B5408-EBB7-2DEA-D6B0-5C39D20A5E1E}"/>
              </a:ext>
            </a:extLst>
          </p:cNvPr>
          <p:cNvSpPr txBox="1"/>
          <p:nvPr/>
        </p:nvSpPr>
        <p:spPr>
          <a:xfrm>
            <a:off x="4154036" y="5663238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D654-244E-A302-FFA0-3B107551A610}"/>
              </a:ext>
            </a:extLst>
          </p:cNvPr>
          <p:cNvSpPr txBox="1"/>
          <p:nvPr/>
        </p:nvSpPr>
        <p:spPr>
          <a:xfrm>
            <a:off x="5203613" y="5663237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AFE949-392A-E99A-B57D-51C001988B27}"/>
              </a:ext>
            </a:extLst>
          </p:cNvPr>
          <p:cNvSpPr txBox="1"/>
          <p:nvPr/>
        </p:nvSpPr>
        <p:spPr>
          <a:xfrm>
            <a:off x="6181488" y="5663993"/>
            <a:ext cx="29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8019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3C19-1F85-DA89-1E26-DB18B1C4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D770-68D1-FEE3-EABD-A0080B1F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Real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E8A04-DEBF-2E7B-65D7-166F932D1AC9}"/>
              </a:ext>
            </a:extLst>
          </p:cNvPr>
          <p:cNvSpPr txBox="1"/>
          <p:nvPr/>
        </p:nvSpPr>
        <p:spPr>
          <a:xfrm>
            <a:off x="1357631" y="1843950"/>
            <a:ext cx="654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don’t just deal with </a:t>
            </a:r>
            <a:r>
              <a:rPr lang="en-GB" b="1" dirty="0"/>
              <a:t>whole numbers </a:t>
            </a:r>
            <a:r>
              <a:rPr lang="en-GB" dirty="0"/>
              <a:t>(Integers):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Real</a:t>
            </a:r>
            <a:r>
              <a:rPr lang="en-GB" dirty="0"/>
              <a:t> numbers have decimal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are they represented inside a computer?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 computer cannot store numbers like this using the normal binary method: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They are stored using a method called </a:t>
            </a:r>
            <a:r>
              <a:rPr lang="en-GB" b="1" dirty="0">
                <a:ea typeface="+mn-lt"/>
                <a:cs typeface="+mn-lt"/>
              </a:rPr>
              <a:t>F</a:t>
            </a:r>
            <a:r>
              <a:rPr lang="en-GB" b="1" dirty="0"/>
              <a:t>loating Point Representation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E0C2F39-76AE-CD3D-6683-1C36CDCA4E2C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02B7D0-FBE4-3081-7415-4ECB7839104C}"/>
              </a:ext>
            </a:extLst>
          </p:cNvPr>
          <p:cNvSpPr txBox="1"/>
          <p:nvPr/>
        </p:nvSpPr>
        <p:spPr>
          <a:xfrm>
            <a:off x="1689354" y="3444390"/>
            <a:ext cx="576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8745" indent="0" algn="ctr">
              <a:buNone/>
            </a:pPr>
            <a:r>
              <a:rPr lang="en-GB" b="1" dirty="0">
                <a:solidFill>
                  <a:schemeClr val="accent2"/>
                </a:solidFill>
              </a:rPr>
              <a:t>3.1415</a:t>
            </a:r>
            <a:r>
              <a:rPr lang="en-GB" b="1" dirty="0"/>
              <a:t>          </a:t>
            </a:r>
            <a:r>
              <a:rPr lang="en-GB" b="1" dirty="0">
                <a:solidFill>
                  <a:schemeClr val="accent5"/>
                </a:solidFill>
              </a:rPr>
              <a:t>18.38 </a:t>
            </a:r>
            <a:r>
              <a:rPr lang="en-GB" b="1" dirty="0"/>
              <a:t>          </a:t>
            </a:r>
            <a:r>
              <a:rPr lang="en-GB" b="1" dirty="0">
                <a:solidFill>
                  <a:schemeClr val="accent6"/>
                </a:solidFill>
              </a:rPr>
              <a:t>0.0002569 </a:t>
            </a:r>
          </a:p>
        </p:txBody>
      </p:sp>
    </p:spTree>
    <p:extLst>
      <p:ext uri="{BB962C8B-B14F-4D97-AF65-F5344CB8AC3E}">
        <p14:creationId xmlns:p14="http://schemas.microsoft.com/office/powerpoint/2010/main" val="330856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B5B1-8357-ADED-CC7F-D2CD6272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F909-D16F-4AA9-D2A4-D9892D1A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Floating Point Representation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A6790-1046-64F2-D0F5-F91E97F3D93C}"/>
              </a:ext>
            </a:extLst>
          </p:cNvPr>
          <p:cNvSpPr txBox="1"/>
          <p:nvPr/>
        </p:nvSpPr>
        <p:spPr>
          <a:xfrm>
            <a:off x="1357631" y="1843950"/>
            <a:ext cx="65405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Floating point representation involves using </a:t>
            </a:r>
            <a:r>
              <a:rPr lang="en-GB" b="1" dirty="0"/>
              <a:t>two parts</a:t>
            </a:r>
            <a:r>
              <a:rPr lang="en-GB" dirty="0"/>
              <a:t> to store a number, the </a:t>
            </a:r>
            <a:r>
              <a:rPr lang="en-GB" b="1" dirty="0"/>
              <a:t>mantissa</a:t>
            </a:r>
            <a:r>
              <a:rPr lang="en-GB" dirty="0"/>
              <a:t> and the </a:t>
            </a:r>
            <a:r>
              <a:rPr lang="en-GB" b="1" dirty="0"/>
              <a:t>exponent</a:t>
            </a:r>
            <a:r>
              <a:rPr lang="en-GB" dirty="0"/>
              <a:t>:</a:t>
            </a:r>
          </a:p>
          <a:p>
            <a:r>
              <a:rPr lang="en-GB" dirty="0"/>
              <a:t>                                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mantissa</a:t>
            </a:r>
            <a:r>
              <a:rPr lang="en-GB" dirty="0"/>
              <a:t> is used to store the </a:t>
            </a:r>
            <a:r>
              <a:rPr lang="en-GB" b="1" dirty="0"/>
              <a:t>accuracy/precision </a:t>
            </a:r>
            <a:r>
              <a:rPr lang="en-GB" dirty="0"/>
              <a:t>of a number. 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exponent</a:t>
            </a:r>
            <a:r>
              <a:rPr lang="en-GB" dirty="0"/>
              <a:t> is used to store the </a:t>
            </a:r>
            <a:r>
              <a:rPr lang="en-GB" b="1" dirty="0"/>
              <a:t>range</a:t>
            </a:r>
            <a:r>
              <a:rPr lang="en-GB" dirty="0"/>
              <a:t> of a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By using this, you can represent any </a:t>
            </a:r>
            <a:r>
              <a:rPr lang="en-GB" b="1" dirty="0"/>
              <a:t>positive real number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b="1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FACC07A-9567-9B1F-51A5-BECF657D07E7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1026" name="Picture 2" descr="mantissa: 0.34567. Exponent: 10 to the power of 2">
            <a:extLst>
              <a:ext uri="{FF2B5EF4-FFF2-40B4-BE49-F238E27FC236}">
                <a16:creationId xmlns:a16="http://schemas.microsoft.com/office/drawing/2014/main" id="{FDC9FF90-2439-63DA-7EAA-12C25E087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506" y="4079122"/>
            <a:ext cx="3873464" cy="96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84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0D6D-5CDD-DC83-20B2-1CD2B333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7186-B7BF-0370-D0FB-A4FAD6B4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Representing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8E79B-E04D-CD86-A231-D1F73192DB63}"/>
              </a:ext>
            </a:extLst>
          </p:cNvPr>
          <p:cNvSpPr txBox="1"/>
          <p:nvPr/>
        </p:nvSpPr>
        <p:spPr>
          <a:xfrm>
            <a:off x="1357631" y="1843950"/>
            <a:ext cx="65405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b="1" dirty="0"/>
              <a:t>ASCII</a:t>
            </a:r>
            <a:r>
              <a:rPr lang="en-GB" dirty="0"/>
              <a:t> stands for American Standard Code for Information Interchange: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ASCII code allows computers to understand how to represent text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In ASCII, each character is represented by a binary value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 letter ‘A’ is represented by </a:t>
            </a:r>
            <a:r>
              <a:rPr lang="en-GB" b="1" dirty="0"/>
              <a:t>65</a:t>
            </a:r>
            <a:r>
              <a:rPr lang="en-GB" dirty="0"/>
              <a:t> = 0100 0001 in binary</a:t>
            </a:r>
          </a:p>
          <a:p>
            <a:endParaRPr lang="en-GB" b="1" dirty="0"/>
          </a:p>
          <a:p>
            <a:r>
              <a:rPr lang="en-GB" b="1" dirty="0"/>
              <a:t>Extended ASCII</a:t>
            </a:r>
            <a:r>
              <a:rPr lang="en-GB" dirty="0"/>
              <a:t> uses 8-bits to represent characters: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i.e. each character has its own 8-digit binary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are </a:t>
            </a:r>
            <a:r>
              <a:rPr lang="en-GB" b="1" dirty="0"/>
              <a:t>256</a:t>
            </a:r>
            <a:r>
              <a:rPr lang="en-GB" dirty="0"/>
              <a:t> characters in extended ASCII’s </a:t>
            </a:r>
            <a:r>
              <a:rPr lang="en-GB" b="1" dirty="0"/>
              <a:t>character set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73824EE-72C6-6308-32F8-0036F3C33496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58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C6C1-B7D7-FE3A-62CB-D00869DE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9B52-EC01-7C5A-2A46-2F8CF9A4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Representing Graphics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10FAB-8CBE-A30A-F14D-ED1C1F5C0BB7}"/>
              </a:ext>
            </a:extLst>
          </p:cNvPr>
          <p:cNvSpPr txBox="1"/>
          <p:nvPr/>
        </p:nvSpPr>
        <p:spPr>
          <a:xfrm>
            <a:off x="1357631" y="1843950"/>
            <a:ext cx="6540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dirty="0"/>
              <a:t>Graphics are things like </a:t>
            </a:r>
            <a:r>
              <a:rPr lang="en-GB" b="1" dirty="0"/>
              <a:t>images and diagrams </a:t>
            </a:r>
            <a:r>
              <a:rPr lang="en-GB" dirty="0"/>
              <a:t>you might store on your computer. There are </a:t>
            </a:r>
            <a:r>
              <a:rPr lang="en-GB" b="1" dirty="0"/>
              <a:t>two ways </a:t>
            </a:r>
            <a:r>
              <a:rPr lang="en-GB" dirty="0"/>
              <a:t>to represent graphics: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Bitmapped graphics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Vector graphics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4B74F8E-9CF2-50AF-1E2E-A912627D4475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5" name="Picture 4" descr="A pixel art of trees and mountains&#10;&#10;AI-generated content may be incorrect.">
            <a:extLst>
              <a:ext uri="{FF2B5EF4-FFF2-40B4-BE49-F238E27FC236}">
                <a16:creationId xmlns:a16="http://schemas.microsoft.com/office/drawing/2014/main" id="{0CF654CE-A63F-3E37-3CA8-4D10F0FD0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648242" y="3774186"/>
            <a:ext cx="3959352" cy="22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2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442B-F339-12EE-9344-76D3390D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87D0-9C7F-B0A8-B287-3A2DD53E6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Bitmapped Graphics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3EBC3-664C-EE09-3DAC-FF44DB8A7C03}"/>
              </a:ext>
            </a:extLst>
          </p:cNvPr>
          <p:cNvSpPr txBox="1"/>
          <p:nvPr/>
        </p:nvSpPr>
        <p:spPr>
          <a:xfrm>
            <a:off x="1357631" y="1843950"/>
            <a:ext cx="6540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dirty="0"/>
              <a:t>A bitmap graphic is one that stores an image using a </a:t>
            </a:r>
            <a:r>
              <a:rPr lang="en-GB" b="1" dirty="0"/>
              <a:t>grid of pixels</a:t>
            </a:r>
            <a:r>
              <a:rPr lang="en-GB" dirty="0"/>
              <a:t>. Each pixel will be stored as a binary number: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 number of pixels in an image is referred to as the </a:t>
            </a:r>
            <a:r>
              <a:rPr lang="en-GB" b="1" dirty="0"/>
              <a:t>Resolution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They can be </a:t>
            </a:r>
            <a:r>
              <a:rPr lang="en-GB" b="1" dirty="0"/>
              <a:t>very detailed in quality </a:t>
            </a:r>
            <a:r>
              <a:rPr lang="en-GB" dirty="0"/>
              <a:t>so are good for storing </a:t>
            </a:r>
            <a:r>
              <a:rPr lang="en-GB" b="1" dirty="0"/>
              <a:t>photographs</a:t>
            </a:r>
            <a:r>
              <a:rPr lang="en-GB" dirty="0"/>
              <a:t> and allow detailed editing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However, they can have </a:t>
            </a:r>
            <a:r>
              <a:rPr lang="en-GB" b="1" dirty="0"/>
              <a:t>large file sizes </a:t>
            </a:r>
            <a:r>
              <a:rPr lang="en-GB" dirty="0"/>
              <a:t>as each pixel's data must be stored. 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CD2C2EC-B6CD-8ECF-A338-0A02F44F440C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6" name="Picture 5" descr="A purple flower on a green stem&#10;&#10;AI-generated content may be incorrect.">
            <a:extLst>
              <a:ext uri="{FF2B5EF4-FFF2-40B4-BE49-F238E27FC236}">
                <a16:creationId xmlns:a16="http://schemas.microsoft.com/office/drawing/2014/main" id="{B4B1C601-356C-4A94-CF7F-6888AB1C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980057" y="4514487"/>
            <a:ext cx="2079879" cy="2231143"/>
          </a:xfrm>
          <a:prstGeom prst="rect">
            <a:avLst/>
          </a:prstGeom>
        </p:spPr>
      </p:pic>
      <p:pic>
        <p:nvPicPr>
          <p:cNvPr id="9" name="Picture 8" descr="A pixel art of a hedgehog&#10;&#10;AI-generated content may be incorrect.">
            <a:extLst>
              <a:ext uri="{FF2B5EF4-FFF2-40B4-BE49-F238E27FC236}">
                <a16:creationId xmlns:a16="http://schemas.microsoft.com/office/drawing/2014/main" id="{2ECD4705-0EB1-9770-E60C-01E339A780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8889" y="4508344"/>
            <a:ext cx="2291448" cy="223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0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DB19-A8F8-93BE-CA62-06B9E851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2A3B-B6D1-DAC4-6480-C8CD931F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Vector Graphics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58978-8AA8-88E3-151B-DDD3B4ADBB8F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dirty="0"/>
              <a:t>Vector graphics are stored in a different way – </a:t>
            </a:r>
            <a:r>
              <a:rPr lang="en-GB" b="1" dirty="0"/>
              <a:t>no pixels used</a:t>
            </a:r>
            <a:r>
              <a:rPr lang="en-GB" dirty="0"/>
              <a:t>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Vectors images are stored with </a:t>
            </a:r>
            <a:r>
              <a:rPr lang="en-GB" b="1" dirty="0"/>
              <a:t>objects</a:t>
            </a:r>
            <a:r>
              <a:rPr lang="en-GB" dirty="0"/>
              <a:t> and </a:t>
            </a:r>
            <a:r>
              <a:rPr lang="en-GB" b="1" dirty="0"/>
              <a:t>attributes</a:t>
            </a:r>
            <a:r>
              <a:rPr lang="en-GB" dirty="0"/>
              <a:t> using a mathematical formula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They can be layered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They can be resized without loss of quality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They are resolution independent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They tend to have </a:t>
            </a:r>
            <a:r>
              <a:rPr lang="en-GB" b="1" dirty="0"/>
              <a:t>smaller file sizes </a:t>
            </a:r>
            <a:r>
              <a:rPr lang="en-GB" dirty="0"/>
              <a:t>than Bitmaps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5F799F7-FBC5-82BE-00DE-FEA59E260D38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2050" name="Picture 2" descr="Vector Graphics: Guide, Applications ...">
            <a:extLst>
              <a:ext uri="{FF2B5EF4-FFF2-40B4-BE49-F238E27FC236}">
                <a16:creationId xmlns:a16="http://schemas.microsoft.com/office/drawing/2014/main" id="{3583BCDD-A909-B452-6AAC-7467901BE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631" y="468801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do Vector Graphics Work? | CorelDRAW">
            <a:extLst>
              <a:ext uri="{FF2B5EF4-FFF2-40B4-BE49-F238E27FC236}">
                <a16:creationId xmlns:a16="http://schemas.microsoft.com/office/drawing/2014/main" id="{8B005E0A-BB5B-E307-B9E2-D64102BCD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713" y="4423124"/>
            <a:ext cx="2962656" cy="214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64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DB671-80E4-A96D-4E35-69682D60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E077-DE3E-A69A-6616-3E6361EB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Vector Graphics -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D5F09-A552-BE5A-533E-AA1737D4EC9F}"/>
              </a:ext>
            </a:extLst>
          </p:cNvPr>
          <p:cNvSpPr txBox="1"/>
          <p:nvPr/>
        </p:nvSpPr>
        <p:spPr>
          <a:xfrm>
            <a:off x="1357631" y="1843950"/>
            <a:ext cx="35344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dirty="0"/>
              <a:t>Vector graphics are made up of </a:t>
            </a:r>
            <a:r>
              <a:rPr lang="en-GB" b="1" dirty="0"/>
              <a:t>objects</a:t>
            </a:r>
            <a:r>
              <a:rPr lang="en-GB" dirty="0"/>
              <a:t> – these can include: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Rectangle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Ellipse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Line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Polygon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fontAlgn="base"/>
            <a:r>
              <a:rPr lang="en-GB" dirty="0"/>
              <a:t>Using a combination of these objects, a complex graphic can be produced.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8A120F5-CA8C-A581-0BBA-BED18F26FFBA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3074" name="Picture 2" descr="N5 Computing Science common vector graphic objects">
            <a:extLst>
              <a:ext uri="{FF2B5EF4-FFF2-40B4-BE49-F238E27FC236}">
                <a16:creationId xmlns:a16="http://schemas.microsoft.com/office/drawing/2014/main" id="{EB1DD663-2220-5A18-7663-A056278E3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338" y="2206640"/>
            <a:ext cx="3122714" cy="241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44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D768-A7E4-122B-C6ED-03C9EC3B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83EC-07DF-7BF7-7C69-C5FFA838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Vector Graphics - Attributes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791D9-F272-4D29-30AA-29FC3F057B01}"/>
              </a:ext>
            </a:extLst>
          </p:cNvPr>
          <p:cNvSpPr txBox="1"/>
          <p:nvPr/>
        </p:nvSpPr>
        <p:spPr>
          <a:xfrm>
            <a:off x="1357631" y="1843950"/>
            <a:ext cx="3534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dirty="0"/>
              <a:t>The main </a:t>
            </a:r>
            <a:r>
              <a:rPr lang="en-GB" b="1" dirty="0"/>
              <a:t>attributes</a:t>
            </a:r>
            <a:r>
              <a:rPr lang="en-GB" dirty="0"/>
              <a:t> used to create an object as part of a vector graphic are: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co-ordinates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fill colour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line colour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dirty="0"/>
          </a:p>
          <a:p>
            <a:pPr fontAlgn="base"/>
            <a:r>
              <a:rPr lang="en-GB" dirty="0"/>
              <a:t>Every object in a vector graphic is given a position (co-ordinate):</a:t>
            </a:r>
          </a:p>
          <a:p>
            <a:pPr fontAlgn="base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X</a:t>
            </a:r>
            <a:r>
              <a:rPr lang="en-GB" dirty="0"/>
              <a:t> value determines how far to the </a:t>
            </a:r>
            <a:r>
              <a:rPr lang="en-GB" b="1" dirty="0"/>
              <a:t>right</a:t>
            </a:r>
            <a:r>
              <a:rPr lang="en-GB" dirty="0"/>
              <a:t> the object should be placed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Y</a:t>
            </a:r>
            <a:r>
              <a:rPr lang="en-GB" dirty="0"/>
              <a:t> value determines how far from the </a:t>
            </a:r>
            <a:r>
              <a:rPr lang="en-GB" b="1" dirty="0"/>
              <a:t>top</a:t>
            </a:r>
            <a:r>
              <a:rPr lang="en-GB" dirty="0"/>
              <a:t> the object should be placed.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EB82817-2A73-EAD9-7820-B1D8F4A4FC4E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4098" name="Picture 2" descr="N5 Computing Science co-ordinates example">
            <a:extLst>
              <a:ext uri="{FF2B5EF4-FFF2-40B4-BE49-F238E27FC236}">
                <a16:creationId xmlns:a16="http://schemas.microsoft.com/office/drawing/2014/main" id="{4F0C81D4-48CC-A136-B5C4-C3BAC559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191" y="1783644"/>
            <a:ext cx="28956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Vector graphics - Data representation - National 5 Computing Science  Revision - BBC Bitesize">
            <a:extLst>
              <a:ext uri="{FF2B5EF4-FFF2-40B4-BE49-F238E27FC236}">
                <a16:creationId xmlns:a16="http://schemas.microsoft.com/office/drawing/2014/main" id="{16E3E10A-3B23-AA08-9261-4DF7F22D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191" y="4587621"/>
            <a:ext cx="28956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30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2C4A1-E4DE-17C3-9FA1-9E0F762A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CA37-D41C-FD33-F0D9-704E58A9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Vector Graphics - Attributes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E58CC-15FF-F59F-CE8D-B1E0ACB3794D}"/>
              </a:ext>
            </a:extLst>
          </p:cNvPr>
          <p:cNvSpPr txBox="1"/>
          <p:nvPr/>
        </p:nvSpPr>
        <p:spPr>
          <a:xfrm>
            <a:off x="1357631" y="1843950"/>
            <a:ext cx="35344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b="1" dirty="0"/>
              <a:t>Fill colour</a:t>
            </a:r>
          </a:p>
          <a:p>
            <a:pPr fontAlgn="base"/>
            <a:r>
              <a:rPr lang="en-GB" dirty="0"/>
              <a:t>The fill colour attribute is used to define the colour inside an object.</a:t>
            </a:r>
          </a:p>
          <a:p>
            <a:pPr fontAlgn="base"/>
            <a:endParaRPr lang="en-GB" dirty="0"/>
          </a:p>
          <a:p>
            <a:pPr fontAlgn="base"/>
            <a:r>
              <a:rPr lang="en-GB" b="1" dirty="0"/>
              <a:t>Line colour</a:t>
            </a:r>
          </a:p>
          <a:p>
            <a:pPr fontAlgn="base"/>
            <a:r>
              <a:rPr lang="en-GB" dirty="0"/>
              <a:t>Often referred to as stroke colour, the line colour attribute is used to define the colour of the outer line of an object.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C6EA91F-8F24-2BF6-B5AB-7B090F998C79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4098" name="Picture 2" descr="N5 Computing Science co-ordinates example">
            <a:extLst>
              <a:ext uri="{FF2B5EF4-FFF2-40B4-BE49-F238E27FC236}">
                <a16:creationId xmlns:a16="http://schemas.microsoft.com/office/drawing/2014/main" id="{796FE441-66E0-CC2F-8FAE-AC3C54DF2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191" y="1783644"/>
            <a:ext cx="28956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Vector graphics - Data representation - National 5 Computing Science  Revision - BBC Bitesize">
            <a:extLst>
              <a:ext uri="{FF2B5EF4-FFF2-40B4-BE49-F238E27FC236}">
                <a16:creationId xmlns:a16="http://schemas.microsoft.com/office/drawing/2014/main" id="{3C3A8452-BFD8-94AA-3F0D-A6F111367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191" y="4587621"/>
            <a:ext cx="28956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71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799B5-DEFD-D984-750B-5AF836BF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3C29-D26D-0F22-9231-017EBF2D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Common File Formats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15B9D-FC46-BB74-89C3-5B561AF0E832}"/>
              </a:ext>
            </a:extLst>
          </p:cNvPr>
          <p:cNvSpPr txBox="1"/>
          <p:nvPr/>
        </p:nvSpPr>
        <p:spPr>
          <a:xfrm>
            <a:off x="1915415" y="2008375"/>
            <a:ext cx="26565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b="1" dirty="0"/>
              <a:t>Bitmapped Images</a:t>
            </a:r>
          </a:p>
          <a:p>
            <a:pPr fontAlgn="base"/>
            <a:endParaRPr lang="en-GB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JPG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GIF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WEBP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6D3C181-ADDB-8A79-ADC5-36403D6BA577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344F6-9E04-CA1D-03D5-F9423A374710}"/>
              </a:ext>
            </a:extLst>
          </p:cNvPr>
          <p:cNvSpPr txBox="1"/>
          <p:nvPr/>
        </p:nvSpPr>
        <p:spPr>
          <a:xfrm>
            <a:off x="4939031" y="2008375"/>
            <a:ext cx="26565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b="1" dirty="0"/>
              <a:t>Vector Images</a:t>
            </a:r>
          </a:p>
          <a:p>
            <a:pPr fontAlgn="base"/>
            <a:endParaRPr lang="en-GB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SVG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PDF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EPS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AI</a:t>
            </a: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30A804A2-454B-64F5-BDBC-75CA4E90A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77440" y="4046220"/>
            <a:ext cx="438912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3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001174c44652ea014ddcd51994e03726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19f7ac9fbab857f28dddae0242ccdb19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4B4989-6262-48D1-B093-CAA57F4CF563}"/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2909</TotalTime>
  <Words>1059</Words>
  <Application>Microsoft Office PowerPoint</Application>
  <PresentationFormat>On-screen Show (4:3)</PresentationFormat>
  <Paragraphs>298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Tahoma</vt:lpstr>
      <vt:lpstr>Tenorite</vt:lpstr>
      <vt:lpstr>Wingdings</vt:lpstr>
      <vt:lpstr>Monoline</vt:lpstr>
      <vt:lpstr>Learning intentions and success criteria</vt:lpstr>
      <vt:lpstr>Data Representation</vt:lpstr>
      <vt:lpstr>Types of Data</vt:lpstr>
      <vt:lpstr>How Humans Count (Decimal)</vt:lpstr>
      <vt:lpstr>How computers count</vt:lpstr>
      <vt:lpstr>From Decimal to Binary</vt:lpstr>
      <vt:lpstr>From Decimal to Binary</vt:lpstr>
      <vt:lpstr>From Decimal to Binary</vt:lpstr>
      <vt:lpstr>From Decimal to Binary</vt:lpstr>
      <vt:lpstr>From Decimal to Binary</vt:lpstr>
      <vt:lpstr>Real Numbers</vt:lpstr>
      <vt:lpstr>Floating Point Representation</vt:lpstr>
      <vt:lpstr>Representing Text</vt:lpstr>
      <vt:lpstr>Representing Graphics</vt:lpstr>
      <vt:lpstr>Bitmapped Graphics</vt:lpstr>
      <vt:lpstr>Vector Graphics</vt:lpstr>
      <vt:lpstr>Vector Graphics - Objects</vt:lpstr>
      <vt:lpstr>Vector Graphics - Attributes</vt:lpstr>
      <vt:lpstr>Vector Graphics - Attributes</vt:lpstr>
      <vt:lpstr>Common File Formats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241</cp:revision>
  <cp:lastPrinted>2025-08-18T09:52:00Z</cp:lastPrinted>
  <dcterms:created xsi:type="dcterms:W3CDTF">2025-02-10T23:03:02Z</dcterms:created>
  <dcterms:modified xsi:type="dcterms:W3CDTF">2025-10-28T13:48:16Z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