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4"/>
  </p:notesMasterIdLst>
  <p:handoutMasterIdLst>
    <p:handoutMasterId r:id="rId25"/>
  </p:handoutMasterIdLst>
  <p:sldIdLst>
    <p:sldId id="296" r:id="rId5"/>
    <p:sldId id="446" r:id="rId6"/>
    <p:sldId id="488" r:id="rId7"/>
    <p:sldId id="489" r:id="rId8"/>
    <p:sldId id="491" r:id="rId9"/>
    <p:sldId id="492" r:id="rId10"/>
    <p:sldId id="490" r:id="rId11"/>
    <p:sldId id="493" r:id="rId12"/>
    <p:sldId id="495" r:id="rId13"/>
    <p:sldId id="494" r:id="rId14"/>
    <p:sldId id="496" r:id="rId15"/>
    <p:sldId id="497" r:id="rId16"/>
    <p:sldId id="498" r:id="rId17"/>
    <p:sldId id="499" r:id="rId18"/>
    <p:sldId id="500" r:id="rId19"/>
    <p:sldId id="501" r:id="rId20"/>
    <p:sldId id="502" r:id="rId21"/>
    <p:sldId id="503" r:id="rId22"/>
    <p:sldId id="504" r:id="rId23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55"/>
    <a:srgbClr val="375EBE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86" y="-378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04/11/2025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C4C26-548F-8C5A-E1C1-375D4F4FE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4DFEA-AE9E-8790-B301-1E5E22EC9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F8AF4-EB88-DA7D-7AFE-F0C2E0C1B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91BB1-EF58-D502-4ABA-839B9A971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67230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4289F-426D-B55F-CD6B-3B420B8F4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D6BA6-F3AD-D4A1-3A44-2C02DA351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001CA-9911-DFED-D0AA-7A6B614E5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9C065-08E0-AB21-6E76-3526AF98E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67950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F580-404E-B883-2754-900D940AB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19FC5-6A5C-98EE-BC15-7237A1F9A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A06CD-6165-557B-9F47-95833C044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8DAD1-7BD4-7379-0AA0-1E0598CE5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80102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19BE-743A-D51F-A686-22CFBD53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51E72-D2AF-C731-333D-288FAF9ED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E017C-1204-7A27-10DC-B210D9C15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21CA2-FC46-5F39-E00A-692168CF6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89017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88886-EE23-BF4F-B060-80DCE049B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40A68-E180-55AA-1DD7-0DC36C23E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FD1EF-71C3-9A46-EA16-D3603E2A4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8A0D0-CE35-0652-AE2B-3AA881558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24121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2D55B-0436-B38A-F976-A775DCC40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1C0AA-56CA-C7F9-B8F2-7CB779E7D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BE610-E0A5-C00C-3CA7-BF3D02389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85485-1AAE-ED78-3981-BBF1FF5EB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9375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397D-FFBA-AEBD-CD9D-F1BCFBB36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94DE5-66FA-6E6F-8578-16EDDCD3F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A5D11-B0A7-237A-A578-D9C743018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2E3B5-F144-E1F6-9E76-6C8EFA247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41076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8958-D6EB-4325-F32D-3933B3583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7460C-869E-3FF8-89AA-2DADDF2A1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3590C-3A8F-85CC-885A-8C262F759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3BF5C-9947-8969-AFDE-959B76DE2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64141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85D00-9D25-D837-E865-1F07BBBE4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80C3B-8389-E502-EF5A-55172E884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4D975-F09C-DEF6-C0E3-F90DCAB7D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4CBAA-D7AF-27FD-538E-5C7B36A7D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5469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F657B-03D4-5537-B11D-A458C030C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93D6D-1D93-1B17-8E0C-007724282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87E18-3F81-6759-8D56-1E5E73751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D0E92-3D73-8781-AA6E-FDEC77DC4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911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9371-95A7-0339-73DF-883DC23F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35BC6-AC33-3551-479C-7C02811CB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5993A-8588-BF8F-544D-EDE76E4F3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09E45-FF62-23A0-3F81-18D63A20B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73211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AC2E8-B621-1F4C-965B-9ACFDF70A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3F0F6-1F98-5260-0DDF-70D41D568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0BB7E-3DA6-8CE3-1B66-717A14E4C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F6A04-CE11-FAC2-51B0-2B9442D92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93334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761F-0191-01BC-F579-A6F6008A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94606-B815-1C8E-0ED5-34AE3D140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F2E63-25AA-6C14-8CE9-56B2E3873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A6FA8-76F4-56D7-AF07-6162AB14C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780354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F68F8-B16F-25FF-1CB2-825F5AD1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5BF30F-FBA1-907D-DFC6-95C03C7E1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F355AA-0374-746E-FBB2-980725FE8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961D2-E6C7-934D-4B5E-35E32210C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32077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80D9-5B20-17E6-452F-7C3BC3241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55399-E521-B826-E6F3-7DB1E044A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B2CBA9-D53C-0A2F-3AA4-61A6B2DB5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BC73E-52A5-539B-97EC-E1C14A86D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670247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FEDF-AEC4-D591-ACF9-E0C122F3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0EC76-9A74-C484-48C4-9D49CF2DA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37D14-EE6E-A792-65EC-214271074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7DBD4-77F6-9718-EFEF-31F832D11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508723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9FA46-A9AA-1B0F-DC5B-31C1D196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2EE44-3A9F-C3EA-56DE-39AFB3E81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D5910-5E2A-FB50-7B71-6486BED85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DAA46-54DD-CEFF-EE7D-A78E66BE4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66023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030" y="4434840"/>
            <a:ext cx="3984497" cy="1122202"/>
          </a:xfrm>
        </p:spPr>
        <p:txBody>
          <a:bodyPr/>
          <a:lstStyle/>
          <a:p>
            <a:r>
              <a:rPr lang="en-GB" dirty="0"/>
              <a:t>DDD Revision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N5 – Database Design &amp; Development</a:t>
            </a: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D19658CA-3BC1-9992-EF53-311BDAB64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1434" y="3429000"/>
            <a:ext cx="1233659" cy="123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D4AC3-7854-23D3-0486-8C07F00A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F596-2B45-8F23-A62B-3EB2267E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Database Example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556178B9-3692-9ECE-098C-62CFEC382686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08A975-4365-AB2E-0AB6-A3E9C5A5A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783" y="2008375"/>
            <a:ext cx="5582429" cy="2553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E7E0A5-87E6-7F55-B6BD-EF7BA4603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311" y="5204124"/>
            <a:ext cx="4839375" cy="1228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447630-B52C-669D-579C-AEF1C331D008}"/>
              </a:ext>
            </a:extLst>
          </p:cNvPr>
          <p:cNvSpPr txBox="1"/>
          <p:nvPr/>
        </p:nvSpPr>
        <p:spPr>
          <a:xfrm>
            <a:off x="3643280" y="1639043"/>
            <a:ext cx="185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Customers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CACF44-5E38-5054-A622-C438515BE79F}"/>
              </a:ext>
            </a:extLst>
          </p:cNvPr>
          <p:cNvSpPr txBox="1"/>
          <p:nvPr/>
        </p:nvSpPr>
        <p:spPr>
          <a:xfrm>
            <a:off x="3843945" y="4834792"/>
            <a:ext cx="1456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Flights Table</a:t>
            </a:r>
          </a:p>
        </p:txBody>
      </p:sp>
    </p:spTree>
    <p:extLst>
      <p:ext uri="{BB962C8B-B14F-4D97-AF65-F5344CB8AC3E}">
        <p14:creationId xmlns:p14="http://schemas.microsoft.com/office/powerpoint/2010/main" val="438422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020D2-6D79-3D30-187B-EA947063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EE593-DD0B-8D27-8DAD-47E878FCA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D5E62C-EE96-22F1-DB6B-03BBBB089C80}"/>
              </a:ext>
            </a:extLst>
          </p:cNvPr>
          <p:cNvSpPr txBox="1"/>
          <p:nvPr/>
        </p:nvSpPr>
        <p:spPr>
          <a:xfrm>
            <a:off x="1357631" y="1843950"/>
            <a:ext cx="65405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A database table may include: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A </a:t>
            </a:r>
            <a:r>
              <a:rPr lang="en-GB" b="1" dirty="0"/>
              <a:t>primary key </a:t>
            </a:r>
            <a:r>
              <a:rPr lang="en-GB" dirty="0"/>
              <a:t>– the </a:t>
            </a:r>
            <a:r>
              <a:rPr lang="en-GB" b="1" dirty="0"/>
              <a:t>unique identifier </a:t>
            </a:r>
            <a:r>
              <a:rPr lang="en-GB" dirty="0"/>
              <a:t>for each record: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e.g. Flight 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A </a:t>
            </a:r>
            <a:r>
              <a:rPr lang="en-GB" b="1" dirty="0"/>
              <a:t>foreign key</a:t>
            </a:r>
            <a:r>
              <a:rPr lang="en-GB" dirty="0"/>
              <a:t> – if the table is linked to another table: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e.g. </a:t>
            </a:r>
            <a:r>
              <a:rPr lang="en-GB" i="1" dirty="0"/>
              <a:t>Plane Type </a:t>
            </a:r>
            <a:r>
              <a:rPr lang="en-GB" dirty="0"/>
              <a:t>must be a plane in the plane table so it is a foreign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Attributes (also known as fields):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e.g. </a:t>
            </a:r>
            <a:r>
              <a:rPr lang="en-GB" i="1" dirty="0"/>
              <a:t>Destination, Departure Airport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7DB74650-FC79-251C-7B1A-D2BFB727CEBA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1F88A4-408D-6621-E8D7-6EF985221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312" y="5040850"/>
            <a:ext cx="4839375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67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B04D1-5F0C-A56C-1D4C-7A356887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E819-1406-AE11-E01F-7A1D25D9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986D98-B9C0-35B5-88F6-3085AE568E60}"/>
              </a:ext>
            </a:extLst>
          </p:cNvPr>
          <p:cNvSpPr txBox="1"/>
          <p:nvPr/>
        </p:nvSpPr>
        <p:spPr>
          <a:xfrm>
            <a:off x="1357631" y="1843950"/>
            <a:ext cx="6540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A database table may include: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Data types:</a:t>
            </a:r>
          </a:p>
          <a:p>
            <a:pPr lvl="0"/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type of data </a:t>
            </a:r>
            <a:r>
              <a:rPr lang="en-GB" dirty="0"/>
              <a:t>for each attribute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(e.g. Text, Number, Currency, etc.)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4F03CBD0-55BA-50D1-2B6C-D6C8314A51E3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86952A-9920-EBB3-FFA0-E95759A55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389" y="4068755"/>
            <a:ext cx="3639058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05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6D643-0FC0-F45A-41BE-227A78D99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D086-6C3B-85DE-575B-86C7BB3F4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88CDB-39E2-9AE1-AF4C-07ECF50FD9E6}"/>
              </a:ext>
            </a:extLst>
          </p:cNvPr>
          <p:cNvSpPr txBox="1"/>
          <p:nvPr/>
        </p:nvSpPr>
        <p:spPr>
          <a:xfrm>
            <a:off x="1357631" y="1843950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A database table may include: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Validation:</a:t>
            </a:r>
          </a:p>
          <a:p>
            <a:pPr lvl="0"/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Presence check </a:t>
            </a:r>
            <a:r>
              <a:rPr lang="en-GB" dirty="0"/>
              <a:t>(data is required)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Restricted choice </a:t>
            </a:r>
            <a:r>
              <a:rPr lang="en-GB" dirty="0"/>
              <a:t>(can be one of multiple options)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Field length </a:t>
            </a:r>
            <a:r>
              <a:rPr lang="en-GB" dirty="0"/>
              <a:t>(how many characters you can type)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Range check </a:t>
            </a:r>
            <a:r>
              <a:rPr lang="en-GB" dirty="0"/>
              <a:t>(must be between two values)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B176D301-EFF4-ADBC-B322-AE819DC2AF20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967D05-8E32-82EF-585C-EFA2337A4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648" y="4663231"/>
            <a:ext cx="4640704" cy="162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46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1AFCD-D1BE-5A4B-7BE1-B24D9A3AD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9F1F3-0EAA-D6E1-454C-81B7365B6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Data Dictionaries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99820-9526-50EF-049E-49CE6F2AA60D}"/>
              </a:ext>
            </a:extLst>
          </p:cNvPr>
          <p:cNvSpPr txBox="1"/>
          <p:nvPr/>
        </p:nvSpPr>
        <p:spPr>
          <a:xfrm>
            <a:off x="1357631" y="1843950"/>
            <a:ext cx="65405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Data dictionaries are created during the design phase to define the structure of a database. They include:</a:t>
            </a:r>
          </a:p>
          <a:p>
            <a:pPr lvl="0"/>
            <a:endParaRPr lang="en-GB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Name of each entity (table)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Name of all attributes (fields)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Data type for each attribute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Size of each attribute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Primary or foreign keys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Validation rules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7C8C5C90-37DC-105F-18B2-4072C312340A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8D6A4-7C31-90AE-D64B-2324A98E3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623" y="4555283"/>
            <a:ext cx="6398590" cy="210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40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5C19C-C08C-822B-0B72-68AD8831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C38FE-35F3-A659-49DF-53F77B34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Entity Relationships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F78F98-F20B-C379-2067-13A8F43299E6}"/>
              </a:ext>
            </a:extLst>
          </p:cNvPr>
          <p:cNvSpPr txBox="1"/>
          <p:nvPr/>
        </p:nvSpPr>
        <p:spPr>
          <a:xfrm>
            <a:off x="1357631" y="1843950"/>
            <a:ext cx="65405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Two tables in a database may be related to each other. There are a few types of relationships:</a:t>
            </a:r>
          </a:p>
          <a:p>
            <a:pPr lvl="0"/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One-to-one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One-to-many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Many-to-many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lvl="0"/>
            <a:r>
              <a:rPr lang="en-GB" dirty="0"/>
              <a:t>We will focus on </a:t>
            </a:r>
            <a:r>
              <a:rPr lang="en-GB" b="1" dirty="0"/>
              <a:t>one-to-many</a:t>
            </a:r>
            <a:r>
              <a:rPr lang="en-GB" dirty="0"/>
              <a:t> relationships.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C35B3B2A-A1AC-1B84-1060-A220CFF46619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719E0-4310-A2FC-A8A9-0809BE8D0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310" y="4908942"/>
            <a:ext cx="3153215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4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4D458-81D2-85B3-0718-983C73D5F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3CD75-9D99-1E76-1EBD-40D105557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One-To-Many Relationship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6E689-92D2-8A1C-7744-EB4F87C5784B}"/>
              </a:ext>
            </a:extLst>
          </p:cNvPr>
          <p:cNvSpPr txBox="1"/>
          <p:nvPr/>
        </p:nvSpPr>
        <p:spPr>
          <a:xfrm>
            <a:off x="511756" y="3896222"/>
            <a:ext cx="27297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In the example: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One flight </a:t>
            </a:r>
            <a:r>
              <a:rPr lang="en-GB" dirty="0"/>
              <a:t>may have </a:t>
            </a:r>
            <a:r>
              <a:rPr lang="en-GB" b="1" dirty="0"/>
              <a:t>many customers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This is a </a:t>
            </a:r>
            <a:r>
              <a:rPr lang="en-GB" b="1" dirty="0"/>
              <a:t>one-to-many relationship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2C971E7C-FC47-9BF2-0B55-DFDB425E53A3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E6102-40A3-A400-802B-15E42BE26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493" y="1944367"/>
            <a:ext cx="5582429" cy="2553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BA77A1-0B95-F0FE-9BA7-D04DB9F98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547" y="5144530"/>
            <a:ext cx="4839375" cy="12288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42D956-F61F-040B-7D9B-79C35EA883F7}"/>
              </a:ext>
            </a:extLst>
          </p:cNvPr>
          <p:cNvSpPr txBox="1"/>
          <p:nvPr/>
        </p:nvSpPr>
        <p:spPr>
          <a:xfrm>
            <a:off x="6966489" y="1575035"/>
            <a:ext cx="185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Customers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D3BDE-7A21-93E2-3FA0-4D7395E92C5F}"/>
              </a:ext>
            </a:extLst>
          </p:cNvPr>
          <p:cNvSpPr txBox="1"/>
          <p:nvPr/>
        </p:nvSpPr>
        <p:spPr>
          <a:xfrm>
            <a:off x="7367818" y="4775198"/>
            <a:ext cx="1456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Flights Table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B33DD0-5939-0243-2892-E690D7373F53}"/>
              </a:ext>
            </a:extLst>
          </p:cNvPr>
          <p:cNvCxnSpPr>
            <a:cxnSpLocks/>
          </p:cNvCxnSpPr>
          <p:nvPr/>
        </p:nvCxnSpPr>
        <p:spPr>
          <a:xfrm flipV="1">
            <a:off x="4619994" y="2542032"/>
            <a:ext cx="3275211" cy="3121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1B1B40-6DBD-0F60-F926-8C595E0C7812}"/>
              </a:ext>
            </a:extLst>
          </p:cNvPr>
          <p:cNvCxnSpPr>
            <a:cxnSpLocks/>
          </p:cNvCxnSpPr>
          <p:nvPr/>
        </p:nvCxnSpPr>
        <p:spPr>
          <a:xfrm flipV="1">
            <a:off x="4619994" y="2900598"/>
            <a:ext cx="3275211" cy="27624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B8925C-4150-C768-1675-73E25C8FABFC}"/>
              </a:ext>
            </a:extLst>
          </p:cNvPr>
          <p:cNvCxnSpPr>
            <a:cxnSpLocks/>
          </p:cNvCxnSpPr>
          <p:nvPr/>
        </p:nvCxnSpPr>
        <p:spPr>
          <a:xfrm flipV="1">
            <a:off x="4619994" y="3650686"/>
            <a:ext cx="3275211" cy="2012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21201E2-997D-E6E3-87B9-11F46DE9344D}"/>
              </a:ext>
            </a:extLst>
          </p:cNvPr>
          <p:cNvCxnSpPr>
            <a:cxnSpLocks/>
          </p:cNvCxnSpPr>
          <p:nvPr/>
        </p:nvCxnSpPr>
        <p:spPr>
          <a:xfrm flipV="1">
            <a:off x="4619994" y="4005182"/>
            <a:ext cx="3275211" cy="16578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96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E1BE6-86D3-4F1E-DC47-E1702E318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26086-96F5-AADF-7F9E-E8D696AFD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Entity Relationship Diagrams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88A02-6E90-6C1A-A8FB-A1D995205732}"/>
              </a:ext>
            </a:extLst>
          </p:cNvPr>
          <p:cNvSpPr txBox="1"/>
          <p:nvPr/>
        </p:nvSpPr>
        <p:spPr>
          <a:xfrm>
            <a:off x="1357631" y="1843950"/>
            <a:ext cx="65405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An ER diagram shows the relationship between multiple entities – it </a:t>
            </a:r>
            <a:r>
              <a:rPr lang="en-GB" b="1" dirty="0"/>
              <a:t>must include</a:t>
            </a:r>
            <a:r>
              <a:rPr lang="en-GB" dirty="0"/>
              <a:t>:</a:t>
            </a:r>
          </a:p>
          <a:p>
            <a:pPr lvl="0"/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Each entity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Each attribute for each entity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The cardinality (e.g. one-to-one, many-to-one, etc.)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Description of the relationship (e.g. “is used on”)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62F3E85F-D195-1655-E8E1-A0C61CEB3597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94ECFA-A032-1DF0-DB46-815A45B9E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049" y="4429273"/>
            <a:ext cx="4667901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84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C19A-5A65-620E-139A-D0DF01565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8DCF-1831-0B88-2C0B-3AAEDC2E4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ER Diagram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FEBFB-B7EA-1F72-8EC9-C405452572CD}"/>
              </a:ext>
            </a:extLst>
          </p:cNvPr>
          <p:cNvSpPr txBox="1"/>
          <p:nvPr/>
        </p:nvSpPr>
        <p:spPr>
          <a:xfrm>
            <a:off x="1357631" y="1843950"/>
            <a:ext cx="65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We first draw a box each entity (table):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E16DE55F-4F52-CE5B-1A0D-B768384A420B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118D13-7FC4-B24D-0274-00F456C8514E}"/>
              </a:ext>
            </a:extLst>
          </p:cNvPr>
          <p:cNvSpPr/>
          <p:nvPr/>
        </p:nvSpPr>
        <p:spPr>
          <a:xfrm>
            <a:off x="2176272" y="3941064"/>
            <a:ext cx="1426464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Customers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6F6E26-B42E-35D7-E331-B98442C93119}"/>
              </a:ext>
            </a:extLst>
          </p:cNvPr>
          <p:cNvSpPr/>
          <p:nvPr/>
        </p:nvSpPr>
        <p:spPr>
          <a:xfrm>
            <a:off x="5541266" y="3941064"/>
            <a:ext cx="1426464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Flights</a:t>
            </a:r>
          </a:p>
        </p:txBody>
      </p:sp>
    </p:spTree>
    <p:extLst>
      <p:ext uri="{BB962C8B-B14F-4D97-AF65-F5344CB8AC3E}">
        <p14:creationId xmlns:p14="http://schemas.microsoft.com/office/powerpoint/2010/main" val="4080054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30232-CF36-380B-6D8A-E1DB6F848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45B2C-AC08-3F6D-B5C5-160FB8D86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ER Diagram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62A04-EA70-AB4F-3C1E-27821CC8E97D}"/>
              </a:ext>
            </a:extLst>
          </p:cNvPr>
          <p:cNvSpPr txBox="1"/>
          <p:nvPr/>
        </p:nvSpPr>
        <p:spPr>
          <a:xfrm>
            <a:off x="1357631" y="1843950"/>
            <a:ext cx="6540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Then, we add each entity in a </a:t>
            </a:r>
            <a:r>
              <a:rPr lang="en-GB" b="1" dirty="0"/>
              <a:t>circle</a:t>
            </a:r>
            <a:r>
              <a:rPr lang="en-GB" dirty="0"/>
              <a:t> – adding an </a:t>
            </a:r>
            <a:r>
              <a:rPr lang="en-GB" u="sng" dirty="0"/>
              <a:t>underline</a:t>
            </a:r>
            <a:r>
              <a:rPr lang="en-GB" dirty="0"/>
              <a:t> for the </a:t>
            </a:r>
            <a:r>
              <a:rPr lang="en-GB" b="1" dirty="0"/>
              <a:t>primary keys</a:t>
            </a:r>
            <a:r>
              <a:rPr lang="en-GB" dirty="0"/>
              <a:t> and a </a:t>
            </a:r>
            <a:r>
              <a:rPr lang="en-GB" b="1" dirty="0"/>
              <a:t>star</a:t>
            </a:r>
            <a:r>
              <a:rPr lang="en-GB" dirty="0"/>
              <a:t> next to </a:t>
            </a:r>
            <a:r>
              <a:rPr lang="en-GB" b="1" dirty="0"/>
              <a:t>foreign keys</a:t>
            </a:r>
            <a:r>
              <a:rPr lang="en-GB" dirty="0"/>
              <a:t>: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E0530FF7-7818-BFD9-4A02-C5CB3F637092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23E44A-4894-F9C9-62B2-899BC70F1C8C}"/>
              </a:ext>
            </a:extLst>
          </p:cNvPr>
          <p:cNvSpPr/>
          <p:nvPr/>
        </p:nvSpPr>
        <p:spPr>
          <a:xfrm>
            <a:off x="2176272" y="3913632"/>
            <a:ext cx="1426464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Customers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1EE7A3-BEBF-67FE-28D1-1F89879D4A97}"/>
              </a:ext>
            </a:extLst>
          </p:cNvPr>
          <p:cNvSpPr/>
          <p:nvPr/>
        </p:nvSpPr>
        <p:spPr>
          <a:xfrm>
            <a:off x="5541266" y="3913632"/>
            <a:ext cx="1426464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Flights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93841FC-D5FC-48FE-C49D-AECCF86D6C4B}"/>
              </a:ext>
            </a:extLst>
          </p:cNvPr>
          <p:cNvSpPr/>
          <p:nvPr/>
        </p:nvSpPr>
        <p:spPr>
          <a:xfrm>
            <a:off x="210312" y="3419772"/>
            <a:ext cx="1746504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 err="1">
                <a:solidFill>
                  <a:schemeClr val="tx1"/>
                </a:solidFill>
              </a:rPr>
              <a:t>CustomerID</a:t>
            </a:r>
            <a:endParaRPr lang="en-GB" sz="1400" u="sng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5DE79A-1E1E-B33F-81BF-248FBC453E65}"/>
              </a:ext>
            </a:extLst>
          </p:cNvPr>
          <p:cNvSpPr/>
          <p:nvPr/>
        </p:nvSpPr>
        <p:spPr>
          <a:xfrm>
            <a:off x="1546352" y="2843831"/>
            <a:ext cx="820928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1DCF23-B9B3-AAE8-10B2-3EA039C2C7A0}"/>
              </a:ext>
            </a:extLst>
          </p:cNvPr>
          <p:cNvSpPr/>
          <p:nvPr/>
        </p:nvSpPr>
        <p:spPr>
          <a:xfrm>
            <a:off x="443483" y="4141868"/>
            <a:ext cx="1527048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First Name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B21D1F-EF9D-4C28-5545-969F11E94C8A}"/>
              </a:ext>
            </a:extLst>
          </p:cNvPr>
          <p:cNvSpPr/>
          <p:nvPr/>
        </p:nvSpPr>
        <p:spPr>
          <a:xfrm>
            <a:off x="628650" y="4968115"/>
            <a:ext cx="1296416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Surname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3BEEFAD-55CE-31FD-6256-045F99FD4171}"/>
              </a:ext>
            </a:extLst>
          </p:cNvPr>
          <p:cNvSpPr/>
          <p:nvPr/>
        </p:nvSpPr>
        <p:spPr>
          <a:xfrm>
            <a:off x="1956816" y="5439905"/>
            <a:ext cx="1671319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Flight Date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A286AC-26CD-21D3-EE20-F19C89C8E0E2}"/>
              </a:ext>
            </a:extLst>
          </p:cNvPr>
          <p:cNvSpPr/>
          <p:nvPr/>
        </p:nvSpPr>
        <p:spPr>
          <a:xfrm>
            <a:off x="2672079" y="2944368"/>
            <a:ext cx="1525017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FlightNo</a:t>
            </a:r>
            <a:r>
              <a:rPr lang="en-GB" sz="1400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EF8FDB-6502-D6FC-50A8-7DCC6B010FFB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2889504" y="3310128"/>
            <a:ext cx="545084" cy="6035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13D08A-A85F-6814-D195-452D9E587FB0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2247058" y="3156027"/>
            <a:ext cx="397423" cy="759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A93447-5724-818C-80F9-4AC176310CF4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1701046" y="3731968"/>
            <a:ext cx="486909" cy="188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12361AA-3F52-F6E6-8B1E-E97AAE01C06F}"/>
              </a:ext>
            </a:extLst>
          </p:cNvPr>
          <p:cNvCxnSpPr>
            <a:cxnSpLocks/>
            <a:stCxn id="8" idx="6"/>
            <a:endCxn id="4" idx="1"/>
          </p:cNvCxnSpPr>
          <p:nvPr/>
        </p:nvCxnSpPr>
        <p:spPr>
          <a:xfrm>
            <a:off x="1970531" y="4324748"/>
            <a:ext cx="205741" cy="50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EB3869-49F6-77BC-D5A4-6B1345C35287}"/>
              </a:ext>
            </a:extLst>
          </p:cNvPr>
          <p:cNvCxnSpPr>
            <a:cxnSpLocks/>
            <a:endCxn id="9" idx="6"/>
          </p:cNvCxnSpPr>
          <p:nvPr/>
        </p:nvCxnSpPr>
        <p:spPr>
          <a:xfrm flipH="1">
            <a:off x="1925066" y="4844653"/>
            <a:ext cx="653542" cy="306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77B972B-818A-ADB9-87E9-E800039F55A4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flipH="1">
            <a:off x="2792476" y="4836962"/>
            <a:ext cx="97028" cy="6029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65D2454F-7056-3183-A249-1272605057AC}"/>
              </a:ext>
            </a:extLst>
          </p:cNvPr>
          <p:cNvSpPr/>
          <p:nvPr/>
        </p:nvSpPr>
        <p:spPr>
          <a:xfrm>
            <a:off x="5259187" y="2986633"/>
            <a:ext cx="189992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 err="1">
                <a:solidFill>
                  <a:schemeClr val="tx1"/>
                </a:solidFill>
              </a:rPr>
              <a:t>FlightNo</a:t>
            </a:r>
            <a:endParaRPr lang="en-GB" sz="1400" u="sng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350E11D-8624-175D-0525-FF8BF4423264}"/>
              </a:ext>
            </a:extLst>
          </p:cNvPr>
          <p:cNvSpPr/>
          <p:nvPr/>
        </p:nvSpPr>
        <p:spPr>
          <a:xfrm>
            <a:off x="7196404" y="3480949"/>
            <a:ext cx="153971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Departure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D3BCA62-89EE-BCFE-E01A-BF4C28EB51A5}"/>
              </a:ext>
            </a:extLst>
          </p:cNvPr>
          <p:cNvSpPr/>
          <p:nvPr/>
        </p:nvSpPr>
        <p:spPr>
          <a:xfrm>
            <a:off x="7329156" y="4250372"/>
            <a:ext cx="1649239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Destination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05FC5ED-4CB3-28B5-61E8-C44A01FA54F1}"/>
              </a:ext>
            </a:extLst>
          </p:cNvPr>
          <p:cNvSpPr/>
          <p:nvPr/>
        </p:nvSpPr>
        <p:spPr>
          <a:xfrm>
            <a:off x="7128351" y="5038811"/>
            <a:ext cx="153971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Plane Reg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52AB94C-8948-6A51-DAE6-7E72A4AECF63}"/>
              </a:ext>
            </a:extLst>
          </p:cNvPr>
          <p:cNvSpPr/>
          <p:nvPr/>
        </p:nvSpPr>
        <p:spPr>
          <a:xfrm>
            <a:off x="5285143" y="5448274"/>
            <a:ext cx="145749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Plane Type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93E6B2A-83A1-E2DD-E726-83D12A104A17}"/>
              </a:ext>
            </a:extLst>
          </p:cNvPr>
          <p:cNvCxnSpPr>
            <a:cxnSpLocks/>
            <a:stCxn id="30" idx="4"/>
          </p:cNvCxnSpPr>
          <p:nvPr/>
        </p:nvCxnSpPr>
        <p:spPr>
          <a:xfrm>
            <a:off x="6209147" y="3352393"/>
            <a:ext cx="19395" cy="5612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56C97B3-13A6-9F82-DD3F-33981ABE98E8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6967730" y="3793145"/>
            <a:ext cx="454159" cy="3487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717DA58-7966-2778-8F57-FF44BB691F59}"/>
              </a:ext>
            </a:extLst>
          </p:cNvPr>
          <p:cNvCxnSpPr>
            <a:cxnSpLocks/>
            <a:stCxn id="5" idx="3"/>
            <a:endCxn id="34" idx="2"/>
          </p:cNvCxnSpPr>
          <p:nvPr/>
        </p:nvCxnSpPr>
        <p:spPr>
          <a:xfrm>
            <a:off x="6967730" y="4375297"/>
            <a:ext cx="361426" cy="57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FB4951E-3BD8-9E54-8BA3-6EA317141B61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6967730" y="4836962"/>
            <a:ext cx="386106" cy="2554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3B0832-776B-DDD4-475B-B7D6E81AAF3D}"/>
              </a:ext>
            </a:extLst>
          </p:cNvPr>
          <p:cNvCxnSpPr>
            <a:cxnSpLocks/>
            <a:stCxn id="5" idx="2"/>
            <a:endCxn id="36" idx="0"/>
          </p:cNvCxnSpPr>
          <p:nvPr/>
        </p:nvCxnSpPr>
        <p:spPr>
          <a:xfrm flipH="1">
            <a:off x="6013888" y="4836962"/>
            <a:ext cx="240610" cy="6113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53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30" grpId="0" animBg="1"/>
      <p:bldP spid="31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94CBF-A424-C10E-D713-6FDAE830C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ED8D2-F7A3-19CC-105E-2FE31E7B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ER Diagram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D209D-F8E4-65ED-A137-1223A9034360}"/>
              </a:ext>
            </a:extLst>
          </p:cNvPr>
          <p:cNvSpPr txBox="1"/>
          <p:nvPr/>
        </p:nvSpPr>
        <p:spPr>
          <a:xfrm>
            <a:off x="1357631" y="1843950"/>
            <a:ext cx="6540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Finally, we add the </a:t>
            </a:r>
            <a:r>
              <a:rPr lang="en-GB" b="1" dirty="0"/>
              <a:t>cardinality</a:t>
            </a:r>
            <a:r>
              <a:rPr lang="en-GB" dirty="0"/>
              <a:t> and the description of the relationship (</a:t>
            </a:r>
            <a:r>
              <a:rPr lang="en-GB" b="1" dirty="0"/>
              <a:t>one flight </a:t>
            </a:r>
            <a:r>
              <a:rPr lang="en-GB" dirty="0"/>
              <a:t>can have </a:t>
            </a:r>
            <a:r>
              <a:rPr lang="en-GB" b="1" dirty="0"/>
              <a:t>many customers</a:t>
            </a:r>
            <a:r>
              <a:rPr lang="en-GB" dirty="0"/>
              <a:t>):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A2564930-ECA4-B36B-CB7E-6903C842EA64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15277D-B6A1-D892-5099-86A2C250A337}"/>
              </a:ext>
            </a:extLst>
          </p:cNvPr>
          <p:cNvSpPr/>
          <p:nvPr/>
        </p:nvSpPr>
        <p:spPr>
          <a:xfrm>
            <a:off x="2176272" y="3913632"/>
            <a:ext cx="1426464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Customers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AB182E-6F20-0051-F0E8-93039110598D}"/>
              </a:ext>
            </a:extLst>
          </p:cNvPr>
          <p:cNvSpPr/>
          <p:nvPr/>
        </p:nvSpPr>
        <p:spPr>
          <a:xfrm>
            <a:off x="5541266" y="3913632"/>
            <a:ext cx="1426464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Flights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A79E7A5-41E8-8FE1-961E-7AB0A1631202}"/>
              </a:ext>
            </a:extLst>
          </p:cNvPr>
          <p:cNvSpPr/>
          <p:nvPr/>
        </p:nvSpPr>
        <p:spPr>
          <a:xfrm>
            <a:off x="210312" y="3419772"/>
            <a:ext cx="1746504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 err="1">
                <a:solidFill>
                  <a:schemeClr val="tx1"/>
                </a:solidFill>
              </a:rPr>
              <a:t>CustomerID</a:t>
            </a:r>
            <a:endParaRPr lang="en-GB" sz="1400" u="sng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A2260A-BA74-11EF-9F25-1612B7037A6B}"/>
              </a:ext>
            </a:extLst>
          </p:cNvPr>
          <p:cNvSpPr/>
          <p:nvPr/>
        </p:nvSpPr>
        <p:spPr>
          <a:xfrm>
            <a:off x="1546352" y="2843831"/>
            <a:ext cx="820928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9AF3F8B-7516-FCB9-5621-71AA8F750ECB}"/>
              </a:ext>
            </a:extLst>
          </p:cNvPr>
          <p:cNvSpPr/>
          <p:nvPr/>
        </p:nvSpPr>
        <p:spPr>
          <a:xfrm>
            <a:off x="443483" y="4141868"/>
            <a:ext cx="1527048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First Name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C864DA-EFA9-AADC-35DD-2FE03208E082}"/>
              </a:ext>
            </a:extLst>
          </p:cNvPr>
          <p:cNvSpPr/>
          <p:nvPr/>
        </p:nvSpPr>
        <p:spPr>
          <a:xfrm>
            <a:off x="628650" y="4968115"/>
            <a:ext cx="1296416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Surname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7134C11-E9A9-32DD-64B3-B401E72C4D13}"/>
              </a:ext>
            </a:extLst>
          </p:cNvPr>
          <p:cNvSpPr/>
          <p:nvPr/>
        </p:nvSpPr>
        <p:spPr>
          <a:xfrm>
            <a:off x="1956816" y="5439905"/>
            <a:ext cx="1671319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Flight Date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B1B0BE-A457-1EBF-2FAC-7EC17FF91A8E}"/>
              </a:ext>
            </a:extLst>
          </p:cNvPr>
          <p:cNvSpPr/>
          <p:nvPr/>
        </p:nvSpPr>
        <p:spPr>
          <a:xfrm>
            <a:off x="2672080" y="2944368"/>
            <a:ext cx="189992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FlightNo</a:t>
            </a:r>
            <a:r>
              <a:rPr lang="en-GB" sz="1400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73E61B-54CC-6281-3033-2AEEF1112558}"/>
              </a:ext>
            </a:extLst>
          </p:cNvPr>
          <p:cNvCxnSpPr>
            <a:stCxn id="12" idx="4"/>
            <a:endCxn id="4" idx="0"/>
          </p:cNvCxnSpPr>
          <p:nvPr/>
        </p:nvCxnSpPr>
        <p:spPr>
          <a:xfrm flipH="1">
            <a:off x="2889504" y="3310128"/>
            <a:ext cx="732536" cy="6035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4BC0F6-C41C-8174-B630-4FFD84717A0C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2247058" y="3156027"/>
            <a:ext cx="397423" cy="759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5E6DEB-B4FA-F9C1-D7DA-B3382F2704E7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1701046" y="3731968"/>
            <a:ext cx="486909" cy="188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861E2F9-638D-62EB-DDC9-BB0540555403}"/>
              </a:ext>
            </a:extLst>
          </p:cNvPr>
          <p:cNvCxnSpPr>
            <a:cxnSpLocks/>
            <a:stCxn id="8" idx="6"/>
            <a:endCxn id="4" idx="1"/>
          </p:cNvCxnSpPr>
          <p:nvPr/>
        </p:nvCxnSpPr>
        <p:spPr>
          <a:xfrm>
            <a:off x="1970531" y="4324748"/>
            <a:ext cx="205741" cy="50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5F8818-EE20-8106-3678-1CC7F73BD0F5}"/>
              </a:ext>
            </a:extLst>
          </p:cNvPr>
          <p:cNvCxnSpPr>
            <a:cxnSpLocks/>
            <a:endCxn id="9" idx="6"/>
          </p:cNvCxnSpPr>
          <p:nvPr/>
        </p:nvCxnSpPr>
        <p:spPr>
          <a:xfrm flipH="1">
            <a:off x="1925066" y="4844653"/>
            <a:ext cx="653542" cy="306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45A75A-B86D-8D9E-39D5-C017E72FB6F1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flipH="1">
            <a:off x="2792476" y="4836962"/>
            <a:ext cx="97028" cy="6029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CA48B804-8D03-5C9B-0EC2-BCE2E2A91A36}"/>
              </a:ext>
            </a:extLst>
          </p:cNvPr>
          <p:cNvSpPr/>
          <p:nvPr/>
        </p:nvSpPr>
        <p:spPr>
          <a:xfrm>
            <a:off x="5259187" y="2986633"/>
            <a:ext cx="189992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 err="1">
                <a:solidFill>
                  <a:schemeClr val="tx1"/>
                </a:solidFill>
              </a:rPr>
              <a:t>FlightNo</a:t>
            </a:r>
            <a:endParaRPr lang="en-GB" sz="1400" u="sng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502E6C8-32BF-718A-BC47-A3AD34B2A061}"/>
              </a:ext>
            </a:extLst>
          </p:cNvPr>
          <p:cNvSpPr/>
          <p:nvPr/>
        </p:nvSpPr>
        <p:spPr>
          <a:xfrm>
            <a:off x="7196404" y="3480949"/>
            <a:ext cx="153971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Departure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1EDCABF-BA17-4CAA-D130-AA596B3967BD}"/>
              </a:ext>
            </a:extLst>
          </p:cNvPr>
          <p:cNvSpPr/>
          <p:nvPr/>
        </p:nvSpPr>
        <p:spPr>
          <a:xfrm>
            <a:off x="7329156" y="4250372"/>
            <a:ext cx="1649239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Destination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5C7073D-A7CB-3E3C-7661-9690AEEDBB2B}"/>
              </a:ext>
            </a:extLst>
          </p:cNvPr>
          <p:cNvSpPr/>
          <p:nvPr/>
        </p:nvSpPr>
        <p:spPr>
          <a:xfrm>
            <a:off x="7128351" y="5038811"/>
            <a:ext cx="153971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Plane Reg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8C48990-3763-3551-CADD-F6BDB25A0BBA}"/>
              </a:ext>
            </a:extLst>
          </p:cNvPr>
          <p:cNvSpPr/>
          <p:nvPr/>
        </p:nvSpPr>
        <p:spPr>
          <a:xfrm>
            <a:off x="5285143" y="5448274"/>
            <a:ext cx="145749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Plane Type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1DB8E85-3E49-9101-20C8-4835C1675BE5}"/>
              </a:ext>
            </a:extLst>
          </p:cNvPr>
          <p:cNvCxnSpPr>
            <a:cxnSpLocks/>
            <a:stCxn id="30" idx="4"/>
          </p:cNvCxnSpPr>
          <p:nvPr/>
        </p:nvCxnSpPr>
        <p:spPr>
          <a:xfrm>
            <a:off x="6209147" y="3352393"/>
            <a:ext cx="19395" cy="5612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D3F00B6-8FC8-1DE0-7FDA-C8E4B7E9A4D9}"/>
              </a:ext>
            </a:extLst>
          </p:cNvPr>
          <p:cNvCxnSpPr>
            <a:cxnSpLocks/>
            <a:endCxn id="31" idx="3"/>
          </p:cNvCxnSpPr>
          <p:nvPr/>
        </p:nvCxnSpPr>
        <p:spPr>
          <a:xfrm flipV="1">
            <a:off x="6967730" y="3793145"/>
            <a:ext cx="454159" cy="3487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E505DB7-D622-C19B-448C-F1CE4FB3D144}"/>
              </a:ext>
            </a:extLst>
          </p:cNvPr>
          <p:cNvCxnSpPr>
            <a:cxnSpLocks/>
            <a:stCxn id="5" idx="3"/>
            <a:endCxn id="34" idx="2"/>
          </p:cNvCxnSpPr>
          <p:nvPr/>
        </p:nvCxnSpPr>
        <p:spPr>
          <a:xfrm>
            <a:off x="6967730" y="4375297"/>
            <a:ext cx="361426" cy="57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F7C15ED-388D-DAE8-DF1D-1E7F760AD7EC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6967730" y="4836962"/>
            <a:ext cx="386106" cy="2554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A5D01D1-2529-91D1-F0DB-6E6795176548}"/>
              </a:ext>
            </a:extLst>
          </p:cNvPr>
          <p:cNvCxnSpPr>
            <a:cxnSpLocks/>
            <a:stCxn id="5" idx="2"/>
            <a:endCxn id="36" idx="0"/>
          </p:cNvCxnSpPr>
          <p:nvPr/>
        </p:nvCxnSpPr>
        <p:spPr>
          <a:xfrm flipH="1">
            <a:off x="6013888" y="4836962"/>
            <a:ext cx="240610" cy="6113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23F3A9-5F45-A8FB-2C7C-401A0C4D5BF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602736" y="4375297"/>
            <a:ext cx="193853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0F383B9-AE3B-6108-9BF9-BB2147B7D4CA}"/>
              </a:ext>
            </a:extLst>
          </p:cNvPr>
          <p:cNvCxnSpPr>
            <a:cxnSpLocks/>
          </p:cNvCxnSpPr>
          <p:nvPr/>
        </p:nvCxnSpPr>
        <p:spPr>
          <a:xfrm flipV="1">
            <a:off x="3602735" y="4367606"/>
            <a:ext cx="361427" cy="24852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9B0D39-FEC1-4F37-3DAB-7DDF5E7E410B}"/>
              </a:ext>
            </a:extLst>
          </p:cNvPr>
          <p:cNvCxnSpPr>
            <a:cxnSpLocks/>
          </p:cNvCxnSpPr>
          <p:nvPr/>
        </p:nvCxnSpPr>
        <p:spPr>
          <a:xfrm>
            <a:off x="3602734" y="4187600"/>
            <a:ext cx="361428" cy="16242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7DD439D-E8FD-E61E-BF22-935ED9C8DDE5}"/>
              </a:ext>
            </a:extLst>
          </p:cNvPr>
          <p:cNvSpPr txBox="1"/>
          <p:nvPr/>
        </p:nvSpPr>
        <p:spPr>
          <a:xfrm>
            <a:off x="3857111" y="3961034"/>
            <a:ext cx="1598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Can be booked on</a:t>
            </a:r>
          </a:p>
        </p:txBody>
      </p:sp>
    </p:spTree>
    <p:extLst>
      <p:ext uri="{BB962C8B-B14F-4D97-AF65-F5344CB8AC3E}">
        <p14:creationId xmlns:p14="http://schemas.microsoft.com/office/powerpoint/2010/main" val="346380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66B8-46FE-0520-3BDD-CC8599717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5C576-98A4-7CC9-AC0A-9543C615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Structured Query Language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DBC9F7-D5B1-CE32-0330-23D59B5E4880}"/>
              </a:ext>
            </a:extLst>
          </p:cNvPr>
          <p:cNvSpPr txBox="1"/>
          <p:nvPr/>
        </p:nvSpPr>
        <p:spPr>
          <a:xfrm>
            <a:off x="1357631" y="1843950"/>
            <a:ext cx="65405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SQL queries are used to search, sort, or manipulate a database. There are 4 types you need to know:</a:t>
            </a:r>
          </a:p>
          <a:p>
            <a:pPr lvl="0"/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SELECT</a:t>
            </a:r>
            <a:r>
              <a:rPr lang="en-GB" dirty="0"/>
              <a:t> – View specific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INSERT INTO </a:t>
            </a:r>
            <a:r>
              <a:rPr lang="en-GB" dirty="0"/>
              <a:t>– Add records into an entity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UPDATE</a:t>
            </a:r>
            <a:r>
              <a:rPr lang="en-GB" dirty="0"/>
              <a:t> – Update one or more fields in an entity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DELETE</a:t>
            </a:r>
            <a:r>
              <a:rPr lang="en-GB" dirty="0"/>
              <a:t> – Remove one or more records from an entity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880A0596-DC23-DB9E-EA9C-C64A759A2CD4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73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4CDD6-ABF1-B3CF-7E67-07E6A09F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AE00-4DC8-FFB7-9FD7-A66139F4F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SQL: SELECT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FE249-68F7-F591-B56C-636268390478}"/>
              </a:ext>
            </a:extLst>
          </p:cNvPr>
          <p:cNvSpPr txBox="1"/>
          <p:nvPr/>
        </p:nvSpPr>
        <p:spPr>
          <a:xfrm>
            <a:off x="1357631" y="1843950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Select statements are used to view data from a database – example: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SELECT</a:t>
            </a:r>
            <a:r>
              <a:rPr lang="en-GB" dirty="0"/>
              <a:t> *</a:t>
            </a:r>
          </a:p>
          <a:p>
            <a:pPr lvl="0"/>
            <a:r>
              <a:rPr lang="en-GB" b="1" dirty="0"/>
              <a:t>FROM</a:t>
            </a:r>
            <a:r>
              <a:rPr lang="en-GB" dirty="0"/>
              <a:t> Flights</a:t>
            </a:r>
          </a:p>
          <a:p>
            <a:pPr lvl="0"/>
            <a:r>
              <a:rPr lang="en-GB" b="1" dirty="0"/>
              <a:t>WHERE</a:t>
            </a:r>
            <a:r>
              <a:rPr lang="en-GB" dirty="0"/>
              <a:t> </a:t>
            </a:r>
            <a:r>
              <a:rPr lang="en-GB" dirty="0" err="1"/>
              <a:t>FlightNo</a:t>
            </a:r>
            <a:r>
              <a:rPr lang="en-GB" dirty="0"/>
              <a:t> = “BA1”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This will display all records which match the </a:t>
            </a:r>
            <a:r>
              <a:rPr lang="en-GB" b="1" dirty="0"/>
              <a:t>search criteria</a:t>
            </a:r>
            <a:r>
              <a:rPr lang="en-GB" dirty="0"/>
              <a:t>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BF07A2B2-BB8D-F7BF-C6A0-91E1716D32F1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35182-0A56-0D8A-5BD1-6A3B315B1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311" y="5204124"/>
            <a:ext cx="4839375" cy="12288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34C32A6-75B4-6A8E-8020-C7CAF97C1887}"/>
              </a:ext>
            </a:extLst>
          </p:cNvPr>
          <p:cNvSpPr/>
          <p:nvPr/>
        </p:nvSpPr>
        <p:spPr>
          <a:xfrm>
            <a:off x="2441448" y="5577840"/>
            <a:ext cx="4550238" cy="3657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69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37BC6-DBE9-0993-1894-6095999F1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E68D-4C98-FABC-3751-880920C90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SQL: SELECT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2EEFBC-7044-0F80-DC12-5A10B8351B56}"/>
              </a:ext>
            </a:extLst>
          </p:cNvPr>
          <p:cNvSpPr txBox="1"/>
          <p:nvPr/>
        </p:nvSpPr>
        <p:spPr>
          <a:xfrm>
            <a:off x="1357631" y="1843950"/>
            <a:ext cx="65405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You can add an</a:t>
            </a:r>
            <a:r>
              <a:rPr lang="en-GB" b="1" dirty="0"/>
              <a:t> ORDER BY </a:t>
            </a:r>
            <a:r>
              <a:rPr lang="en-GB" dirty="0"/>
              <a:t>line to specify alphabetical/numerical order – either </a:t>
            </a:r>
            <a:r>
              <a:rPr lang="en-GB" b="1" dirty="0" err="1"/>
              <a:t>ASC</a:t>
            </a:r>
            <a:r>
              <a:rPr lang="en-GB" dirty="0" err="1"/>
              <a:t>encing</a:t>
            </a:r>
            <a:r>
              <a:rPr lang="en-GB" dirty="0"/>
              <a:t> or </a:t>
            </a:r>
            <a:r>
              <a:rPr lang="en-GB" b="1" dirty="0" err="1"/>
              <a:t>DESC</a:t>
            </a:r>
            <a:r>
              <a:rPr lang="en-GB" dirty="0" err="1"/>
              <a:t>ending</a:t>
            </a:r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b="1" dirty="0"/>
              <a:t>SELECT</a:t>
            </a:r>
            <a:r>
              <a:rPr lang="en-GB" dirty="0"/>
              <a:t> *</a:t>
            </a:r>
          </a:p>
          <a:p>
            <a:pPr lvl="0"/>
            <a:r>
              <a:rPr lang="en-GB" b="1" dirty="0"/>
              <a:t>FROM</a:t>
            </a:r>
            <a:r>
              <a:rPr lang="en-GB" dirty="0"/>
              <a:t> Flights</a:t>
            </a:r>
          </a:p>
          <a:p>
            <a:pPr lvl="0"/>
            <a:r>
              <a:rPr lang="en-GB" b="1" dirty="0"/>
              <a:t>ORDER BY </a:t>
            </a:r>
            <a:r>
              <a:rPr lang="en-GB" dirty="0"/>
              <a:t>Destination </a:t>
            </a:r>
            <a:r>
              <a:rPr lang="en-GB" b="1" dirty="0"/>
              <a:t>ASC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This will display all records sorted by the </a:t>
            </a:r>
            <a:r>
              <a:rPr lang="en-GB" b="1" dirty="0"/>
              <a:t>Destination</a:t>
            </a:r>
            <a:r>
              <a:rPr lang="en-GB" dirty="0"/>
              <a:t> field </a:t>
            </a:r>
            <a:r>
              <a:rPr lang="en-GB" b="1" dirty="0"/>
              <a:t>from A to Z</a:t>
            </a:r>
            <a:r>
              <a:rPr lang="en-GB" dirty="0"/>
              <a:t>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B1D3BCA1-002B-B617-0BD2-481C89C29064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501C5C-1966-E35B-92BA-6A4251C4F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311" y="5204124"/>
            <a:ext cx="4839375" cy="1228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48EE16-686F-3B85-2C0F-A03C3DC99D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548" b="43594"/>
          <a:stretch>
            <a:fillRect/>
          </a:stretch>
        </p:blipFill>
        <p:spPr>
          <a:xfrm>
            <a:off x="2152311" y="6036250"/>
            <a:ext cx="4839375" cy="2194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F928A4-047A-85B0-E8C9-3B1C3E04A5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041" b="34957"/>
          <a:stretch>
            <a:fillRect/>
          </a:stretch>
        </p:blipFill>
        <p:spPr>
          <a:xfrm>
            <a:off x="2152311" y="5862809"/>
            <a:ext cx="4839375" cy="147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DA9F37-3783-EB09-409D-880F5773CE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57" b="18631"/>
          <a:stretch>
            <a:fillRect/>
          </a:stretch>
        </p:blipFill>
        <p:spPr>
          <a:xfrm>
            <a:off x="2152312" y="5676752"/>
            <a:ext cx="4839375" cy="1574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4D6AA3-906A-AEE0-CF8B-0E735A7419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776" b="-3694"/>
          <a:stretch>
            <a:fillRect/>
          </a:stretch>
        </p:blipFill>
        <p:spPr>
          <a:xfrm>
            <a:off x="2152311" y="6255707"/>
            <a:ext cx="4839375" cy="1956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F05EBDB-1FE0-8041-B8F0-1E625D5CF37C}"/>
              </a:ext>
            </a:extLst>
          </p:cNvPr>
          <p:cNvSpPr/>
          <p:nvPr/>
        </p:nvSpPr>
        <p:spPr>
          <a:xfrm>
            <a:off x="4288536" y="5422392"/>
            <a:ext cx="914400" cy="10289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06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75FA4-491C-11BA-74E8-43B68D07F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518E-116F-9247-B338-FBDE38ED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SQL: Insert into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50FC2-812B-E21F-1A24-46027F267D33}"/>
              </a:ext>
            </a:extLst>
          </p:cNvPr>
          <p:cNvSpPr txBox="1"/>
          <p:nvPr/>
        </p:nvSpPr>
        <p:spPr>
          <a:xfrm>
            <a:off x="1357631" y="1843950"/>
            <a:ext cx="65405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This statement adds a record into an existing entity: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INSERT INTO </a:t>
            </a:r>
            <a:r>
              <a:rPr lang="en-GB" dirty="0"/>
              <a:t>Flights</a:t>
            </a:r>
          </a:p>
          <a:p>
            <a:pPr lvl="0"/>
            <a:r>
              <a:rPr lang="en-GB" b="1" dirty="0"/>
              <a:t>VALUES</a:t>
            </a:r>
            <a:r>
              <a:rPr lang="en-GB" dirty="0"/>
              <a:t> (KLM1, Edinburgh, Madrid, 2654, Boeing 777)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When inserting values, they must be in the </a:t>
            </a:r>
            <a:r>
              <a:rPr lang="en-GB" b="1" dirty="0"/>
              <a:t>same order</a:t>
            </a:r>
            <a:r>
              <a:rPr lang="en-GB" dirty="0"/>
              <a:t> as the entity.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95FEDDEF-CC95-2731-490E-124456914546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E114B-B8AC-88E1-3099-BE100475F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311" y="4554900"/>
            <a:ext cx="4932786" cy="12288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A27D65-6927-D83F-56AB-E8A62CBDA403}"/>
              </a:ext>
            </a:extLst>
          </p:cNvPr>
          <p:cNvSpPr/>
          <p:nvPr/>
        </p:nvSpPr>
        <p:spPr>
          <a:xfrm>
            <a:off x="2359152" y="5792940"/>
            <a:ext cx="971001" cy="258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22026C-DD4C-6E56-AF8A-B39E2946148A}"/>
              </a:ext>
            </a:extLst>
          </p:cNvPr>
          <p:cNvSpPr txBox="1"/>
          <p:nvPr/>
        </p:nvSpPr>
        <p:spPr>
          <a:xfrm>
            <a:off x="2454066" y="5783796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KLM1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7B531C-823A-88D8-5A4D-7EFF10D93619}"/>
              </a:ext>
            </a:extLst>
          </p:cNvPr>
          <p:cNvSpPr txBox="1"/>
          <p:nvPr/>
        </p:nvSpPr>
        <p:spPr>
          <a:xfrm>
            <a:off x="3330153" y="5774652"/>
            <a:ext cx="848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Edinburgh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F7B000-2556-2836-AB3E-C36757EBF956}"/>
              </a:ext>
            </a:extLst>
          </p:cNvPr>
          <p:cNvSpPr txBox="1"/>
          <p:nvPr/>
        </p:nvSpPr>
        <p:spPr>
          <a:xfrm>
            <a:off x="4242816" y="5774652"/>
            <a:ext cx="6612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Madrid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7CB2D8-AD9E-5470-8BD8-B8EE3A805746}"/>
              </a:ext>
            </a:extLst>
          </p:cNvPr>
          <p:cNvSpPr txBox="1"/>
          <p:nvPr/>
        </p:nvSpPr>
        <p:spPr>
          <a:xfrm>
            <a:off x="5654229" y="5774652"/>
            <a:ext cx="505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2654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847348-8318-E64A-3FC7-3566117EE809}"/>
              </a:ext>
            </a:extLst>
          </p:cNvPr>
          <p:cNvSpPr txBox="1"/>
          <p:nvPr/>
        </p:nvSpPr>
        <p:spPr>
          <a:xfrm>
            <a:off x="6218764" y="5765508"/>
            <a:ext cx="919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Boeing 777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FF1238-F7B6-A0A1-16C1-F0795B20C094}"/>
              </a:ext>
            </a:extLst>
          </p:cNvPr>
          <p:cNvSpPr/>
          <p:nvPr/>
        </p:nvSpPr>
        <p:spPr>
          <a:xfrm>
            <a:off x="3330153" y="5802084"/>
            <a:ext cx="971001" cy="258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CFF427-9370-1562-8B9F-244A3281197F}"/>
              </a:ext>
            </a:extLst>
          </p:cNvPr>
          <p:cNvSpPr/>
          <p:nvPr/>
        </p:nvSpPr>
        <p:spPr>
          <a:xfrm>
            <a:off x="4301154" y="5802084"/>
            <a:ext cx="971001" cy="258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199891-17E1-298E-90FD-95FE42CA24C2}"/>
              </a:ext>
            </a:extLst>
          </p:cNvPr>
          <p:cNvSpPr/>
          <p:nvPr/>
        </p:nvSpPr>
        <p:spPr>
          <a:xfrm>
            <a:off x="5272155" y="5802084"/>
            <a:ext cx="971001" cy="258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92A8D1-83B1-44E0-28AF-C75A36406269}"/>
              </a:ext>
            </a:extLst>
          </p:cNvPr>
          <p:cNvSpPr/>
          <p:nvPr/>
        </p:nvSpPr>
        <p:spPr>
          <a:xfrm>
            <a:off x="6243156" y="5802084"/>
            <a:ext cx="841941" cy="258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87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  <p:bldP spid="11" grpId="0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58D8-988C-B7EE-B666-0F59B92E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0F876-37D5-E00F-AB96-43ED688E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SQL: Update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1E0DE-DE3E-AB74-1573-11B0E6BAE021}"/>
              </a:ext>
            </a:extLst>
          </p:cNvPr>
          <p:cNvSpPr txBox="1"/>
          <p:nvPr/>
        </p:nvSpPr>
        <p:spPr>
          <a:xfrm>
            <a:off x="1357631" y="1843950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This statement changes the data in existing records: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UPDATE</a:t>
            </a:r>
            <a:r>
              <a:rPr lang="en-GB" dirty="0"/>
              <a:t> Flights</a:t>
            </a:r>
          </a:p>
          <a:p>
            <a:pPr lvl="0"/>
            <a:r>
              <a:rPr lang="en-GB" b="1" dirty="0"/>
              <a:t>SET</a:t>
            </a:r>
            <a:r>
              <a:rPr lang="en-GB" dirty="0"/>
              <a:t> Destination = “Paris”</a:t>
            </a:r>
          </a:p>
          <a:p>
            <a:pPr lvl="0"/>
            <a:r>
              <a:rPr lang="en-GB" b="1" dirty="0"/>
              <a:t>WHERE</a:t>
            </a:r>
            <a:r>
              <a:rPr lang="en-GB" dirty="0"/>
              <a:t> Plane Type = “Airbus A380”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If you do not have a </a:t>
            </a:r>
            <a:r>
              <a:rPr lang="en-GB" b="1" dirty="0"/>
              <a:t>WHERE </a:t>
            </a:r>
            <a:r>
              <a:rPr lang="en-GB" dirty="0"/>
              <a:t>clause then </a:t>
            </a:r>
            <a:r>
              <a:rPr lang="en-GB" b="1" dirty="0"/>
              <a:t>all records</a:t>
            </a:r>
            <a:r>
              <a:rPr lang="en-GB" dirty="0"/>
              <a:t> will be updated (e.g. </a:t>
            </a:r>
            <a:r>
              <a:rPr lang="en-GB" b="1" dirty="0"/>
              <a:t>all</a:t>
            </a:r>
            <a:r>
              <a:rPr lang="en-GB" dirty="0"/>
              <a:t> destinations will be Paris).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88A582E9-C851-02ED-E915-936B95B72A80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8087C-261C-05A5-73B4-8F08E3553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311" y="4554900"/>
            <a:ext cx="4932786" cy="12288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B0BD01-D5AE-2ED4-DB09-C8D7A7F06924}"/>
              </a:ext>
            </a:extLst>
          </p:cNvPr>
          <p:cNvSpPr txBox="1"/>
          <p:nvPr/>
        </p:nvSpPr>
        <p:spPr>
          <a:xfrm>
            <a:off x="4335758" y="5169348"/>
            <a:ext cx="80316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rgbClr val="FF0000"/>
                </a:solidFill>
              </a:rPr>
              <a:t>Paris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2B82D-BBD4-5C1B-DE94-09653B36151A}"/>
              </a:ext>
            </a:extLst>
          </p:cNvPr>
          <p:cNvSpPr txBox="1"/>
          <p:nvPr/>
        </p:nvSpPr>
        <p:spPr>
          <a:xfrm>
            <a:off x="4335758" y="5567800"/>
            <a:ext cx="80316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rgbClr val="FF0000"/>
                </a:solidFill>
              </a:rPr>
              <a:t>Paris</a:t>
            </a:r>
          </a:p>
        </p:txBody>
      </p:sp>
    </p:spTree>
    <p:extLst>
      <p:ext uri="{BB962C8B-B14F-4D97-AF65-F5344CB8AC3E}">
        <p14:creationId xmlns:p14="http://schemas.microsoft.com/office/powerpoint/2010/main" val="323508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377F-04C9-E014-4C97-C9564A9B4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ED577-1285-7704-E804-25B7F6A7B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SQL: Delete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5A9D22-2EBA-CDF6-F76C-F96113D1E82E}"/>
              </a:ext>
            </a:extLst>
          </p:cNvPr>
          <p:cNvSpPr txBox="1"/>
          <p:nvPr/>
        </p:nvSpPr>
        <p:spPr>
          <a:xfrm>
            <a:off x="1357631" y="1843950"/>
            <a:ext cx="65405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This statement removes one or more records based on a criteria: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DELETE FROM </a:t>
            </a:r>
            <a:r>
              <a:rPr lang="en-GB" dirty="0"/>
              <a:t>Flights</a:t>
            </a:r>
          </a:p>
          <a:p>
            <a:pPr lvl="0"/>
            <a:r>
              <a:rPr lang="en-GB" b="1" dirty="0"/>
              <a:t>WHERE </a:t>
            </a:r>
            <a:r>
              <a:rPr lang="en-GB" dirty="0"/>
              <a:t>Departure Airport = “Heathrow”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If you do not have a </a:t>
            </a:r>
            <a:r>
              <a:rPr lang="en-GB" b="1" dirty="0"/>
              <a:t>WHERE</a:t>
            </a:r>
            <a:r>
              <a:rPr lang="en-GB" dirty="0"/>
              <a:t> clause the </a:t>
            </a:r>
            <a:r>
              <a:rPr lang="en-GB" b="1" dirty="0"/>
              <a:t>whole table</a:t>
            </a:r>
            <a:r>
              <a:rPr lang="en-GB" dirty="0"/>
              <a:t> will be deleted.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C8CEEDA-8004-BDBC-3BD4-A5092F4EC5A0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AACF2F-8CB0-F885-21FF-99DFB5B8D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311" y="4554900"/>
            <a:ext cx="4932786" cy="12288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87BCE0-A34B-5E5A-B3F2-102A6289D901}"/>
              </a:ext>
            </a:extLst>
          </p:cNvPr>
          <p:cNvSpPr txBox="1"/>
          <p:nvPr/>
        </p:nvSpPr>
        <p:spPr>
          <a:xfrm>
            <a:off x="2351510" y="4967390"/>
            <a:ext cx="4733587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sz="11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38168-8A9F-AB5F-D89E-813FA0906196}"/>
              </a:ext>
            </a:extLst>
          </p:cNvPr>
          <p:cNvSpPr txBox="1"/>
          <p:nvPr/>
        </p:nvSpPr>
        <p:spPr>
          <a:xfrm>
            <a:off x="2351510" y="5355937"/>
            <a:ext cx="4733587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32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3074FC08804A458A8C8F0DC4C1E099" ma:contentTypeVersion="3" ma:contentTypeDescription="Create a new document." ma:contentTypeScope="" ma:versionID="001174c44652ea014ddcd51994e03726">
  <xsd:schema xmlns:xsd="http://www.w3.org/2001/XMLSchema" xmlns:xs="http://www.w3.org/2001/XMLSchema" xmlns:p="http://schemas.microsoft.com/office/2006/metadata/properties" xmlns:ns2="3f9ddf9c-6903-432b-b7b2-793712443b9a" targetNamespace="http://schemas.microsoft.com/office/2006/metadata/properties" ma:root="true" ma:fieldsID="19f7ac9fbab857f28dddae0242ccdb19" ns2:_="">
    <xsd:import namespace="3f9ddf9c-6903-432b-b7b2-793712443b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ddf9c-6903-432b-b7b2-793712443b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  <ds:schemaRef ds:uri="934cf7c4-a8c2-490a-9333-978f88a726af"/>
    <ds:schemaRef ds:uri="48e28243-b2f4-431c-814c-64330afb3e26"/>
  </ds:schemaRefs>
</ds:datastoreItem>
</file>

<file path=customXml/itemProps3.xml><?xml version="1.0" encoding="utf-8"?>
<ds:datastoreItem xmlns:ds="http://schemas.openxmlformats.org/officeDocument/2006/customXml" ds:itemID="{F4C24268-F7A1-40EB-9E82-7A15D4B7E574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3291</TotalTime>
  <Words>755</Words>
  <Application>Microsoft Office PowerPoint</Application>
  <PresentationFormat>On-screen Show (4:3)</PresentationFormat>
  <Paragraphs>193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Tenorite</vt:lpstr>
      <vt:lpstr>Monoline</vt:lpstr>
      <vt:lpstr>Learning intentions and success criteria</vt:lpstr>
      <vt:lpstr>DDD Revision</vt:lpstr>
      <vt:lpstr>Database Example</vt:lpstr>
      <vt:lpstr>Tables</vt:lpstr>
      <vt:lpstr>Tables</vt:lpstr>
      <vt:lpstr>Tables</vt:lpstr>
      <vt:lpstr>Data Dictionaries</vt:lpstr>
      <vt:lpstr>Entity Relationships</vt:lpstr>
      <vt:lpstr>One-To-Many Relationship</vt:lpstr>
      <vt:lpstr>Entity Relationship Diagrams</vt:lpstr>
      <vt:lpstr>ER Diagram Example</vt:lpstr>
      <vt:lpstr>ER Diagram Example</vt:lpstr>
      <vt:lpstr>ER Diagram Example</vt:lpstr>
      <vt:lpstr>Structured Query Language</vt:lpstr>
      <vt:lpstr>SQL: SELECT</vt:lpstr>
      <vt:lpstr>SQL: SELECT</vt:lpstr>
      <vt:lpstr>SQL: Insert into</vt:lpstr>
      <vt:lpstr>SQL: Update</vt:lpstr>
      <vt:lpstr>SQL: Delete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Mr Wang</cp:lastModifiedBy>
  <cp:revision>258</cp:revision>
  <cp:lastPrinted>2025-08-18T09:52:00Z</cp:lastPrinted>
  <dcterms:created xsi:type="dcterms:W3CDTF">2025-02-10T23:03:02Z</dcterms:created>
  <dcterms:modified xsi:type="dcterms:W3CDTF">2025-11-04T15:54:20Z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0x010100CE3074FC08804A458A8C8F0DC4C1E099</vt:lpwstr>
  </property>
</Properties>
</file>