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296" r:id="rId5"/>
    <p:sldId id="446" r:id="rId6"/>
    <p:sldId id="488" r:id="rId7"/>
    <p:sldId id="499" r:id="rId8"/>
    <p:sldId id="500" r:id="rId9"/>
    <p:sldId id="506" r:id="rId10"/>
    <p:sldId id="501" r:id="rId11"/>
    <p:sldId id="502" r:id="rId12"/>
    <p:sldId id="503" r:id="rId13"/>
    <p:sldId id="504" r:id="rId14"/>
    <p:sldId id="505" r:id="rId15"/>
  </p:sldIdLst>
  <p:sldSz cx="9144000" cy="6858000" type="screen4x3"/>
  <p:notesSz cx="6805613" cy="9939338"/>
  <p:defaultTextStyle>
    <a:defPPr rtl="0"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0055"/>
    <a:srgbClr val="375EBE"/>
    <a:srgbClr val="BE494D"/>
    <a:srgbClr val="E9E6DF"/>
    <a:srgbClr val="FFD14E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986" y="96"/>
      </p:cViewPr>
      <p:guideLst>
        <p:guide orient="horz" pos="33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632" y="149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5C065-7973-41A8-A2CC-441A8BA3384C}" type="datetime1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F9A36D-7FAC-478F-9944-F324014F6F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87A586-3225-45EC-B90F-43F9676D14C2}" type="datetime1">
              <a:rPr lang="en-GB" smtClean="0"/>
              <a:pPr/>
              <a:t>06/11/2025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1987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0647"/>
            <a:ext cx="2949099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4B9A9E5-4F7F-4A7D-9DE1-899232329269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3C4C26-548F-8C5A-E1C1-375D4F4FE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64DFEA-AE9E-8790-B301-1E5E22EC9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F8AF4-EB88-DA7D-7AFE-F0C2E0C1BF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591BB1-EF58-D502-4ABA-839B9A971F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3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723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AC2E8-B621-1F4C-965B-9ACFDF70A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33F0F6-1F98-5260-0DDF-70D41D568A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0BB7E-3DA6-8CE3-1B66-717A14E4C7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5F6A04-CE11-FAC2-51B0-2B9442D92A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4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3334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4761F-0191-01BC-F579-A6F6008A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294606-B815-1C8E-0ED5-34AE3D140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DF2E63-25AA-6C14-8CE9-56B2E38733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CA6FA8-76F4-56D7-AF07-6162AB14C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5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780354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48DF-9078-299F-7009-F293FC37E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4D5BFC-69D8-D2D0-20C6-4F4AC0713F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69C8B-C326-AD4B-0439-6475AF9B6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61E98-5D64-7FBA-F7A8-32CCA7BA47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089458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68F8-B16F-25FF-1CB2-825F5AD14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5BF30F-FBA1-907D-DFC6-95C03C7E1F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355AA-0374-746E-FBB2-980725FE8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8961D2-E6C7-934D-4B5E-35E32210C2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7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32077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080D9-5B20-17E6-452F-7C3BC324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55399-E521-B826-E6F3-7DB1E044AC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2CBA9-D53C-0A2F-3AA4-61A6B2DB59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0BC73E-52A5-539B-97EC-E1C14A86D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8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067024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9FEDF-AEC4-D591-ACF9-E0C122F37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10EC76-9A74-C484-48C4-9D49CF2DA1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37D14-EE6E-A792-65EC-214271074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7DBD4-77F6-9718-EFEF-31F832D11C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9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750872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9FA46-A9AA-1B0F-DC5B-31C1D196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C2EE44-3A9F-C3EA-56DE-39AFB3E81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CD5910-5E2A-FB50-7B71-6486BED85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DAA46-54DD-CEFF-EE7D-A78E66BE4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10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660233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15F29-4BC0-BA94-A711-013AA6039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B8CC5-7D61-36FC-15F8-849493C56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6BCF0-BF26-8C77-59D9-1F2678F4C0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FFA95-58E9-438E-C74F-295FB838B6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4B9A9E5-4F7F-4A7D-9DE1-899232329269}" type="slidenum">
              <a:rPr lang="en-GB" noProof="0" smtClean="0"/>
              <a:t>11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668321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2031" y="4434840"/>
            <a:ext cx="3706328" cy="1122202"/>
          </a:xfrm>
        </p:spPr>
        <p:txBody>
          <a:bodyPr rtlCol="0" anchor="b">
            <a:noAutofit/>
          </a:bodyPr>
          <a:lstStyle>
            <a:lvl1pPr algn="l">
              <a:defRPr sz="3600" cap="all" spc="150" baseline="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2031" y="5586890"/>
            <a:ext cx="3706328" cy="396660"/>
          </a:xfrm>
        </p:spPr>
        <p:txBody>
          <a:bodyPr rtlCol="0">
            <a:normAutofit/>
          </a:bodyPr>
          <a:lstStyle>
            <a:lvl1pPr marL="0" indent="0" algn="l">
              <a:lnSpc>
                <a:spcPct val="100000"/>
              </a:lnSpc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1"/>
            <a:ext cx="7116234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116612" y="0"/>
            <a:ext cx="502738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0125" y="1020446"/>
            <a:ext cx="2378869" cy="1325563"/>
          </a:xfrm>
        </p:spPr>
        <p:txBody>
          <a:bodyPr rtlCol="0"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924176"/>
            <a:ext cx="2378869" cy="25193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0125" y="6356351"/>
            <a:ext cx="7388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02414" y="6356350"/>
            <a:ext cx="1862132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52229" y="6356351"/>
            <a:ext cx="74066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5413" y="0"/>
            <a:ext cx="7558587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5509419"/>
            <a:ext cx="3061607" cy="585788"/>
          </a:xfrm>
        </p:spPr>
        <p:txBody>
          <a:bodyPr rtlCol="0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239" y="148113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5781" y="2557463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0600" y="3633788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28750" y="4710114"/>
            <a:ext cx="1606323" cy="514350"/>
          </a:xfrm>
        </p:spPr>
        <p:txBody>
          <a:bodyPr rtlCol="0" anchor="ctr">
            <a:noAutofit/>
          </a:bodyPr>
          <a:lstStyle>
            <a:lvl1pPr marL="0" indent="0" algn="r">
              <a:buNone/>
              <a:defRPr sz="1600" cap="all" spc="150" baseline="0"/>
            </a:lvl1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01152" y="159447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739522" y="2673328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82703" y="3755394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31460" y="4824430"/>
            <a:ext cx="4154321" cy="1010842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/>
            </a:lvl1pPr>
          </a:lstStyle>
          <a:p>
            <a:pPr lvl="0" rtl="0"/>
            <a:r>
              <a:rPr lang="en-GB" noProof="0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265137" y="502393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819938" y="3948451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380090" y="2872686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939698" y="1796083"/>
            <a:ext cx="113490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31459" y="6356351"/>
            <a:ext cx="1356534" cy="365125"/>
          </a:xfrm>
        </p:spPr>
        <p:txBody>
          <a:bodyPr rtlCol="0"/>
          <a:lstStyle>
            <a:lvl1pPr>
              <a:defRPr sz="900"/>
            </a:lvl1pPr>
          </a:lstStyle>
          <a:p>
            <a:pPr algn="l" rtl="0"/>
            <a:r>
              <a:rPr lang="en-GB" noProof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08156" y="6356351"/>
            <a:ext cx="407194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14425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14248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4753" y="2563124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4857" y="3070348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14425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4809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4473" y="4319432"/>
            <a:ext cx="3023959" cy="365125"/>
          </a:xfrm>
        </p:spPr>
        <p:txBody>
          <a:bodyPr rtlCol="0"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4857" y="4826656"/>
            <a:ext cx="3023273" cy="1057308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 rtlCol="0"/>
          <a:lstStyle/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 rtlCol="0"/>
          <a:lstStyle/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516291" y="1"/>
            <a:ext cx="2627709" cy="235295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90708" y="0"/>
            <a:ext cx="1853293" cy="269903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31570" y="4156406"/>
            <a:ext cx="2354580" cy="1325563"/>
          </a:xfrm>
        </p:spPr>
        <p:txBody>
          <a:bodyPr rtlCol="0"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153063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186006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2630432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295985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373022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05965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0080" y="4830025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39761" y="5159449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3522" y="-1"/>
            <a:ext cx="3672551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5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1556" y="3660774"/>
            <a:ext cx="3833813" cy="152558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6822282" y="1497012"/>
            <a:ext cx="232171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5214937" y="-25401"/>
            <a:ext cx="2843213" cy="6902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18348" y="6356351"/>
            <a:ext cx="1307306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43512" y="2571236"/>
            <a:ext cx="3134678" cy="1715531"/>
          </a:xfrm>
        </p:spPr>
        <p:txBody>
          <a:bodyPr rtlCol="0" anchor="ctr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4407694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418623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1657350" y="0"/>
            <a:ext cx="1828800" cy="6858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4439760" y="6356351"/>
            <a:ext cx="71063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5371466" y="6356351"/>
            <a:ext cx="24329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025493" y="6356351"/>
            <a:ext cx="489857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32329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329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485749" y="2776936"/>
            <a:ext cx="2172503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85749" y="3834607"/>
            <a:ext cx="2172503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28688" cy="310515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678782" cy="24765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049816" y="2776936"/>
            <a:ext cx="2161856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049816" y="3834607"/>
            <a:ext cx="2161856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856" y="2358007"/>
            <a:ext cx="18288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0469" y="2531837"/>
            <a:ext cx="1643063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9206" y="2421056"/>
            <a:ext cx="1743075" cy="20574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47892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106636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665381" y="3064615"/>
            <a:ext cx="930728" cy="82391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274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47274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94696" y="4824189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394696" y="5280764"/>
            <a:ext cx="2354609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5953658" y="4824189"/>
            <a:ext cx="2343070" cy="462927"/>
          </a:xfrm>
        </p:spPr>
        <p:txBody>
          <a:bodyPr rtlCol="0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5953658" y="5280764"/>
            <a:ext cx="2343070" cy="462927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00275" y="892178"/>
            <a:ext cx="6316266" cy="1325563"/>
          </a:xfrm>
        </p:spPr>
        <p:txBody>
          <a:bodyPr rtlCol="0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00275" y="2776936"/>
            <a:ext cx="2943225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834607"/>
            <a:ext cx="2943225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5557630" y="2776936"/>
            <a:ext cx="2957720" cy="823912"/>
          </a:xfrm>
        </p:spPr>
        <p:txBody>
          <a:bodyPr rtlCol="0"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834607"/>
            <a:ext cx="2957720" cy="1997867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19339" y="0"/>
            <a:ext cx="3276023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4081416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0127" y="1152772"/>
            <a:ext cx="4073978" cy="846301"/>
          </a:xfrm>
        </p:spPr>
        <p:txBody>
          <a:bodyPr rtlCol="0"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41691" y="2469516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41372" y="2798940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91" y="3569311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372" y="3898736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41691" y="4669108"/>
            <a:ext cx="4074903" cy="365125"/>
          </a:xfrm>
        </p:spPr>
        <p:txBody>
          <a:bodyPr rtlCol="0"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rtl="0"/>
            <a:r>
              <a:rPr lang="en-GB" noProof="0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372" y="4998532"/>
            <a:ext cx="4073978" cy="5579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250D272-9B39-4C2D-B0F5-21010D11E43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1562" y="1361938"/>
            <a:ext cx="5074444" cy="496888"/>
          </a:xfrm>
        </p:spPr>
        <p:txBody>
          <a:bodyPr rtlCol="0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08AF2DB4-A973-4307-B59C-6058A138835C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2286002"/>
            <a:ext cx="4570703" cy="3542143"/>
          </a:xfrm>
        </p:spPr>
        <p:txBody>
          <a:bodyPr rtlCol="0"/>
          <a:lstStyle/>
          <a:p>
            <a:pPr rtl="0"/>
            <a:r>
              <a:rPr lang="en-GB" noProof="0"/>
              <a:t>Click icon to add chart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39C283A-EC40-421C-8A0E-F9A3161C88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93594" y="2284624"/>
            <a:ext cx="2360499" cy="306388"/>
          </a:xfrm>
        </p:spPr>
        <p:txBody>
          <a:bodyPr rtlCol="0">
            <a:noAutofit/>
          </a:bodyPr>
          <a:lstStyle>
            <a:lvl1pPr marL="0" indent="0">
              <a:buNone/>
              <a:defRPr sz="1400" cap="all" spc="15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305CA2B1-D510-4949-A638-C1A064DA41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93594" y="2779714"/>
            <a:ext cx="2361010" cy="3095625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914400" indent="0">
              <a:buNone/>
              <a:defRPr sz="105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3716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1828800" indent="0">
              <a:buNone/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491003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057683"/>
            <a:ext cx="9143999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l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5799" y="3354712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744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0654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63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2472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382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4291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2011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61105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20199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9293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383870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974814" y="3502152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85800" y="4292468"/>
            <a:ext cx="548640" cy="457200"/>
          </a:xfrm>
        </p:spPr>
        <p:txBody>
          <a:bodyPr rtlCol="0" anchor="ctr"/>
          <a:lstStyle>
            <a:lvl1pPr marL="0" indent="0" algn="l">
              <a:buNone/>
              <a:defRPr sz="1400" b="1">
                <a:solidFill>
                  <a:schemeClr val="tx1"/>
                </a:solidFill>
                <a:latin typeface="+mj-lt"/>
              </a:defRPr>
            </a:lvl1pPr>
          </a:lstStyle>
          <a:p>
            <a:pPr lvl="0" rtl="0"/>
            <a:r>
              <a:rPr lang="en-GB" noProof="0"/>
              <a:t>Year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7436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06820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65896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3249732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40497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43126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02202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5612793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03558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79432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385089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975854" y="4425696"/>
            <a:ext cx="480060" cy="201776"/>
          </a:xfrm>
        </p:spPr>
        <p:txBody>
          <a:bodyPr rtlCol="0"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 rtl="0"/>
            <a:r>
              <a:rPr lang="en-GB" noProof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97230" y="4034785"/>
            <a:ext cx="7749540" cy="4571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sz="1800" noProof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7" name="SmartArt Placeholder 6">
            <a:extLst>
              <a:ext uri="{FF2B5EF4-FFF2-40B4-BE49-F238E27FC236}">
                <a16:creationId xmlns:a16="http://schemas.microsoft.com/office/drawing/2014/main" id="{156CA116-0F6E-4EE9-B34F-03BA07161A7A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>
          <a:xfrm>
            <a:off x="628650" y="2139084"/>
            <a:ext cx="7886700" cy="3695338"/>
          </a:xfrm>
        </p:spPr>
        <p:txBody>
          <a:bodyPr rtlCol="0"/>
          <a:lstStyle/>
          <a:p>
            <a:pPr rtl="0"/>
            <a:r>
              <a:rPr lang="en-GB" noProof="0"/>
              <a:t>Click icon to add SmartArt graphic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1943100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528638" cy="102790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153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983669" y="5084525"/>
            <a:ext cx="1647464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115386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877686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780706" y="5099207"/>
            <a:ext cx="1608787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77685" y="5478797"/>
            <a:ext cx="1391962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4568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lvl="1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648704" y="5099207"/>
            <a:ext cx="1599739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745683" y="5478797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560594" y="2886075"/>
            <a:ext cx="1384133" cy="1845511"/>
          </a:xfrm>
          <a:solidFill>
            <a:schemeClr val="bg1">
              <a:lumMod val="95000"/>
            </a:schemeClr>
          </a:solidFill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463614" y="5084525"/>
            <a:ext cx="1599738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560593" y="5464115"/>
            <a:ext cx="1384133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5500687" y="0"/>
            <a:ext cx="3643313" cy="762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615362" y="1"/>
            <a:ext cx="528638" cy="1724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07882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25126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042590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169703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2886947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2804411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3770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54945" y="3669061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4663472" y="3796722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852611" y="2428875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569855" y="3654379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475824" y="3782040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407882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125126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042590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169703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2886947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2804411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03770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2pPr>
          </a:lstStyle>
          <a:p>
            <a:pPr lvl="0" rtl="0"/>
            <a:r>
              <a:rPr lang="en-GB" noProof="0"/>
              <a:t>Click icon to add picture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754945" y="5527897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4672409" y="5655558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6852611" y="4287711"/>
            <a:ext cx="800100" cy="1066800"/>
          </a:xfrm>
          <a:solidFill>
            <a:schemeClr val="tx1"/>
          </a:solidFill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6569855" y="5513215"/>
            <a:ext cx="1371600" cy="343061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6475824" y="5640876"/>
            <a:ext cx="1543050" cy="343061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4"/>
            <a:ext cx="154305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86750" y="5180889"/>
            <a:ext cx="85725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928688" cy="132805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1"/>
            <a:ext cx="2843213" cy="89217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867" y="892178"/>
            <a:ext cx="6316266" cy="1325563"/>
          </a:xfrm>
        </p:spPr>
        <p:txBody>
          <a:bodyPr rtlCol="0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19EE98D-9541-4F21-8952-3026DEF75EC4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06585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650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28650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650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AB843230-A4E3-4E21-AA93-998E28EB901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285854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671999" y="3788814"/>
            <a:ext cx="1756654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71999" y="4464811"/>
            <a:ext cx="1756654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GB" noProof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671999" y="5120723"/>
            <a:ext cx="1756654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3AE0369E-A275-4E5A-AE0F-B1F9A54DEDFC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4893283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23957" y="3788814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723957" y="4464811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723957" y="5120723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CA3A81E-171B-4946-B8BA-B2F406CF0939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945241" y="2118642"/>
            <a:ext cx="1392174" cy="1664208"/>
          </a:xfrm>
        </p:spPr>
        <p:txBody>
          <a:bodyPr rtlCol="0" anchor="t">
            <a:no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 rtl="0"/>
            <a:r>
              <a:rPr lang="en-GB" noProof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767305" y="3788458"/>
            <a:ext cx="1748045" cy="804859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767305" y="4464455"/>
            <a:ext cx="1748045" cy="438505"/>
          </a:xfrm>
        </p:spPr>
        <p:txBody>
          <a:bodyPr lIns="0" rIns="0" rtlCol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767305" y="5120367"/>
            <a:ext cx="1748045" cy="853167"/>
          </a:xfrm>
        </p:spPr>
        <p:txBody>
          <a:bodyPr lIns="0" rIns="0"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/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7656" y="1671639"/>
            <a:ext cx="3833813" cy="1204912"/>
          </a:xfrm>
        </p:spPr>
        <p:txBody>
          <a:bodyPr rtlCol="0"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07656" y="3682546"/>
            <a:ext cx="3833813" cy="1525588"/>
          </a:xfrm>
        </p:spPr>
        <p:txBody>
          <a:bodyPr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1"/>
            <a:ext cx="3571875" cy="16287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1978819" y="1"/>
            <a:ext cx="1593057" cy="518636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5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200400" y="1615737"/>
            <a:ext cx="3134678" cy="1524735"/>
          </a:xfrm>
        </p:spPr>
        <p:txBody>
          <a:bodyPr rtlCol="0" anchor="b">
            <a:noAutofit/>
          </a:bodyPr>
          <a:lstStyle>
            <a:lvl1pPr algn="l">
              <a:defRPr sz="3200" spc="150"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0" y="3238104"/>
            <a:ext cx="3134678" cy="2004161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2382704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00401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59791" y="6356351"/>
            <a:ext cx="199616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84572" y="6356351"/>
            <a:ext cx="1330778" cy="365125"/>
          </a:xfrm>
        </p:spPr>
        <p:txBody>
          <a:bodyPr rtlCol="0"/>
          <a:lstStyle>
            <a:lvl1pPr>
              <a:defRPr sz="900"/>
            </a:lvl1pPr>
          </a:lstStyle>
          <a:p>
            <a:pPr rtl="0"/>
            <a:fld id="{B5CEABB6-07DC-46E8-9B57-56EC44A396E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GB" noProof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79" r:id="rId13"/>
    <p:sldLayoutId id="2147483692" r:id="rId14"/>
    <p:sldLayoutId id="2147483681" r:id="rId15"/>
    <p:sldLayoutId id="2147483674" r:id="rId16"/>
    <p:sldLayoutId id="2147483675" r:id="rId17"/>
    <p:sldLayoutId id="2147483696" r:id="rId18"/>
    <p:sldLayoutId id="2147483677" r:id="rId19"/>
    <p:sldLayoutId id="2147483678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C21C1-B79D-AD03-4EAE-D2542FF3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CA64-873A-D0FF-B9BC-047C4A171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 and success criteria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69065B-2239-5666-C525-8AC7E30D1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00275" y="2221352"/>
            <a:ext cx="2943225" cy="823912"/>
          </a:xfrm>
        </p:spPr>
        <p:txBody>
          <a:bodyPr anchor="ctr"/>
          <a:lstStyle/>
          <a:p>
            <a:r>
              <a:rPr lang="en-GB" sz="2400" dirty="0"/>
              <a:t>I am learning…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0F8EBB-712D-FA69-3F85-6C3C4D9163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00275" y="3279023"/>
            <a:ext cx="2943225" cy="280280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/>
              <a:t>About SQL</a:t>
            </a: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SELECT, INSERT INTO, UPDATE, and DELETE Queries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A2F969-28CF-3476-B018-2C72791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57630" y="2217741"/>
            <a:ext cx="2957720" cy="823912"/>
          </a:xfrm>
        </p:spPr>
        <p:txBody>
          <a:bodyPr anchor="ctr"/>
          <a:lstStyle/>
          <a:p>
            <a:r>
              <a:rPr lang="en-GB" sz="2400" dirty="0"/>
              <a:t>I can…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659522-523D-64B6-2A66-6AD09301A8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57630" y="3279023"/>
            <a:ext cx="2957720" cy="34424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Write SQL queries to search through and modify </a:t>
            </a:r>
            <a:r>
              <a:rPr lang="en-GB" sz="2000"/>
              <a:t>a database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101705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87698-A108-A789-FF04-5399523ED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30" y="4434840"/>
            <a:ext cx="3984497" cy="1122202"/>
          </a:xfrm>
        </p:spPr>
        <p:txBody>
          <a:bodyPr/>
          <a:lstStyle/>
          <a:p>
            <a:r>
              <a:rPr lang="en-GB" dirty="0"/>
              <a:t>DDD Revision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8D7CA-3C16-0295-286D-6294A3D7BD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N5 – Database Design &amp; Development</a:t>
            </a:r>
          </a:p>
        </p:txBody>
      </p:sp>
      <p:pic>
        <p:nvPicPr>
          <p:cNvPr id="5" name="Graphic 4" descr="Programmer male with solid fill">
            <a:extLst>
              <a:ext uri="{FF2B5EF4-FFF2-40B4-BE49-F238E27FC236}">
                <a16:creationId xmlns:a16="http://schemas.microsoft.com/office/drawing/2014/main" id="{D19658CA-3BC1-9992-EF53-311BDAB64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41434" y="3429000"/>
            <a:ext cx="1233659" cy="123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26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D4AC3-7854-23D3-0486-8C07F00A8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F596-2B45-8F23-A62B-3EB2267E3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Database Example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556178B9-3692-9ECE-098C-62CFEC382686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08A975-4365-AB2E-0AB6-A3E9C5A5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83" y="2008375"/>
            <a:ext cx="5582429" cy="25530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E7E0A5-87E6-7F55-B6BD-EF7BA4603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F447630-B52C-669D-579C-AEF1C331D008}"/>
              </a:ext>
            </a:extLst>
          </p:cNvPr>
          <p:cNvSpPr txBox="1"/>
          <p:nvPr/>
        </p:nvSpPr>
        <p:spPr>
          <a:xfrm>
            <a:off x="3643280" y="1639043"/>
            <a:ext cx="18574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Customers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CACF44-5E38-5054-A622-C438515BE79F}"/>
              </a:ext>
            </a:extLst>
          </p:cNvPr>
          <p:cNvSpPr txBox="1"/>
          <p:nvPr/>
        </p:nvSpPr>
        <p:spPr>
          <a:xfrm>
            <a:off x="3843945" y="4834792"/>
            <a:ext cx="1456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Flights Table</a:t>
            </a:r>
          </a:p>
        </p:txBody>
      </p:sp>
    </p:spTree>
    <p:extLst>
      <p:ext uri="{BB962C8B-B14F-4D97-AF65-F5344CB8AC3E}">
        <p14:creationId xmlns:p14="http://schemas.microsoft.com/office/powerpoint/2010/main" val="438422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66B8-46FE-0520-3BDD-CC859971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5C576-98A4-7CC9-AC0A-9543C615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Structured Query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DBC9F7-D5B1-CE32-0330-23D59B5E4880}"/>
              </a:ext>
            </a:extLst>
          </p:cNvPr>
          <p:cNvSpPr txBox="1"/>
          <p:nvPr/>
        </p:nvSpPr>
        <p:spPr>
          <a:xfrm>
            <a:off x="1357631" y="1843950"/>
            <a:ext cx="654057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SQL queries are used to search, sort, or manipulate a database. There are 4 types you need to know:</a:t>
            </a:r>
          </a:p>
          <a:p>
            <a:pPr lvl="0"/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SELECT</a:t>
            </a:r>
            <a:r>
              <a:rPr lang="en-GB" dirty="0"/>
              <a:t> – View specific data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INSERT INTO </a:t>
            </a:r>
            <a:r>
              <a:rPr lang="en-GB" dirty="0"/>
              <a:t>– Add records into an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UPDATE</a:t>
            </a:r>
            <a:r>
              <a:rPr lang="en-GB" dirty="0"/>
              <a:t> – Update one or more fields in an entity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b="1" dirty="0"/>
              <a:t>DELETE</a:t>
            </a:r>
            <a:r>
              <a:rPr lang="en-GB" dirty="0"/>
              <a:t> – Remove one or more records from an entity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80A0596-DC23-DB9E-EA9C-C64A759A2CD4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738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4CDD6-ABF1-B3CF-7E67-07E6A09FC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AE00-4DC8-FFB7-9FD7-A66139F4F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SELECT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FE249-68F7-F591-B56C-636268390478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Select statements are used to view data from a database – example: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SELECT</a:t>
            </a:r>
            <a:r>
              <a:rPr lang="en-GB" dirty="0"/>
              <a:t> *</a:t>
            </a:r>
          </a:p>
          <a:p>
            <a:pPr lvl="0"/>
            <a:r>
              <a:rPr lang="en-GB" b="1" dirty="0"/>
              <a:t>FROM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</a:t>
            </a:r>
            <a:r>
              <a:rPr lang="en-GB" dirty="0" err="1"/>
              <a:t>FlightNo</a:t>
            </a:r>
            <a:r>
              <a:rPr lang="en-GB" dirty="0"/>
              <a:t> = “BA1”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This will display all records which match the </a:t>
            </a:r>
            <a:r>
              <a:rPr lang="en-GB" b="1" dirty="0"/>
              <a:t>search criteria</a:t>
            </a:r>
            <a:r>
              <a:rPr lang="en-GB" dirty="0"/>
              <a:t>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F07A2B2-BB8D-F7BF-C6A0-91E1716D32F1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635182-0A56-0D8A-5BD1-6A3B315B1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34C32A6-75B4-6A8E-8020-C7CAF97C1887}"/>
              </a:ext>
            </a:extLst>
          </p:cNvPr>
          <p:cNvSpPr/>
          <p:nvPr/>
        </p:nvSpPr>
        <p:spPr>
          <a:xfrm>
            <a:off x="2441448" y="5577840"/>
            <a:ext cx="4550238" cy="36576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696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944A-E318-44BD-D636-84FE160CF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38B3-BB88-13FB-DC8D-6162A68A3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Search Criteria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6E048-65AC-D822-81A9-278F2AC73C19}"/>
              </a:ext>
            </a:extLst>
          </p:cNvPr>
          <p:cNvSpPr txBox="1"/>
          <p:nvPr/>
        </p:nvSpPr>
        <p:spPr>
          <a:xfrm>
            <a:off x="1357631" y="1843950"/>
            <a:ext cx="654057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The </a:t>
            </a:r>
            <a:r>
              <a:rPr lang="en-GB" b="1" dirty="0"/>
              <a:t>search criteria</a:t>
            </a:r>
            <a:r>
              <a:rPr lang="en-GB" dirty="0"/>
              <a:t> is like an </a:t>
            </a:r>
            <a:r>
              <a:rPr lang="en-GB" b="1" dirty="0"/>
              <a:t>if-statement</a:t>
            </a:r>
            <a:r>
              <a:rPr lang="en-GB" dirty="0"/>
              <a:t> – you choose which records display and which ones do not: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SELECT </a:t>
            </a:r>
            <a:r>
              <a:rPr lang="en-GB" dirty="0"/>
              <a:t>* </a:t>
            </a:r>
            <a:r>
              <a:rPr lang="en-GB" b="1" dirty="0"/>
              <a:t>FROM </a:t>
            </a:r>
            <a:r>
              <a:rPr lang="en-GB" dirty="0"/>
              <a:t>Flights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Departure Airport = “Heathrow”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All flights which depart from Heathrow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WHERE </a:t>
            </a:r>
            <a:r>
              <a:rPr lang="en-GB" dirty="0"/>
              <a:t>Passengers &gt; 100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All flights with over a hundred passengers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0"/>
            <a:r>
              <a:rPr lang="en-GB" b="1" dirty="0"/>
              <a:t>WHERE</a:t>
            </a:r>
            <a:r>
              <a:rPr lang="en-GB" dirty="0"/>
              <a:t> Plane Reg = “1942” </a:t>
            </a:r>
            <a:r>
              <a:rPr lang="en-GB" b="1" dirty="0"/>
              <a:t>OR</a:t>
            </a:r>
            <a:r>
              <a:rPr lang="en-GB" dirty="0"/>
              <a:t> Plane Reg = “7254”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Flights from either plane 1942 or plane 7254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lvl="0"/>
            <a:r>
              <a:rPr lang="en-GB" b="1" dirty="0"/>
              <a:t>WHERE </a:t>
            </a:r>
            <a:r>
              <a:rPr lang="en-GB" dirty="0"/>
              <a:t>Passengers &gt; 20 </a:t>
            </a:r>
            <a:r>
              <a:rPr lang="en-GB" b="1" dirty="0"/>
              <a:t>AND</a:t>
            </a:r>
            <a:r>
              <a:rPr lang="en-GB" dirty="0"/>
              <a:t> Passengers &lt; 50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GB" dirty="0"/>
              <a:t>Flights with passenger numbers between 20 and 50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D3E9DD1-D523-66BE-364B-4F499AED3185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1654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37BC6-DBE9-0993-1894-6095999F1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EE68D-4C98-FABC-3751-880920C90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SELECT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2EEFBC-7044-0F80-DC12-5A10B8351B56}"/>
              </a:ext>
            </a:extLst>
          </p:cNvPr>
          <p:cNvSpPr txBox="1"/>
          <p:nvPr/>
        </p:nvSpPr>
        <p:spPr>
          <a:xfrm>
            <a:off x="1357631" y="1843950"/>
            <a:ext cx="654057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You can add an</a:t>
            </a:r>
            <a:r>
              <a:rPr lang="en-GB" b="1" dirty="0"/>
              <a:t> ORDER BY </a:t>
            </a:r>
            <a:r>
              <a:rPr lang="en-GB" dirty="0"/>
              <a:t>line to specify alphabetical/numerical order – either </a:t>
            </a:r>
            <a:r>
              <a:rPr lang="en-GB" b="1" dirty="0" err="1"/>
              <a:t>ASC</a:t>
            </a:r>
            <a:r>
              <a:rPr lang="en-GB" dirty="0" err="1"/>
              <a:t>encing</a:t>
            </a:r>
            <a:r>
              <a:rPr lang="en-GB" dirty="0"/>
              <a:t> or </a:t>
            </a:r>
            <a:r>
              <a:rPr lang="en-GB" b="1" dirty="0" err="1"/>
              <a:t>DESC</a:t>
            </a:r>
            <a:r>
              <a:rPr lang="en-GB" dirty="0" err="1"/>
              <a:t>ending</a:t>
            </a:r>
            <a:endParaRPr lang="en-GB" dirty="0"/>
          </a:p>
          <a:p>
            <a:pPr lvl="0"/>
            <a:endParaRPr lang="en-GB" dirty="0"/>
          </a:p>
          <a:p>
            <a:pPr lvl="0"/>
            <a:r>
              <a:rPr lang="en-GB" b="1" dirty="0"/>
              <a:t>SELECT</a:t>
            </a:r>
            <a:r>
              <a:rPr lang="en-GB" dirty="0"/>
              <a:t> *</a:t>
            </a:r>
          </a:p>
          <a:p>
            <a:pPr lvl="0"/>
            <a:r>
              <a:rPr lang="en-GB" b="1" dirty="0"/>
              <a:t>FROM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ORDER BY </a:t>
            </a:r>
            <a:r>
              <a:rPr lang="en-GB" dirty="0"/>
              <a:t>Destination </a:t>
            </a:r>
            <a:r>
              <a:rPr lang="en-GB" b="1" dirty="0"/>
              <a:t>ASC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This will display all records sorted by the </a:t>
            </a:r>
            <a:r>
              <a:rPr lang="en-GB" b="1" dirty="0"/>
              <a:t>Destination</a:t>
            </a:r>
            <a:r>
              <a:rPr lang="en-GB" dirty="0"/>
              <a:t> field </a:t>
            </a:r>
            <a:r>
              <a:rPr lang="en-GB" b="1" dirty="0"/>
              <a:t>from A to Z</a:t>
            </a:r>
            <a:r>
              <a:rPr lang="en-GB" dirty="0"/>
              <a:t>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B1D3BCA1-002B-B617-0BD2-481C89C29064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7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01C5C-1966-E35B-92BA-6A4251C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5204124"/>
            <a:ext cx="4839375" cy="12288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048EE16-686F-3B85-2C0F-A03C3DC99D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548" b="43594"/>
          <a:stretch>
            <a:fillRect/>
          </a:stretch>
        </p:blipFill>
        <p:spPr>
          <a:xfrm>
            <a:off x="2152311" y="6036250"/>
            <a:ext cx="4839375" cy="2194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AF928A4-047A-85B0-E8C9-3B1C3E04A5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41" b="34957"/>
          <a:stretch>
            <a:fillRect/>
          </a:stretch>
        </p:blipFill>
        <p:spPr>
          <a:xfrm>
            <a:off x="2152311" y="5862809"/>
            <a:ext cx="4839375" cy="147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DA9F37-3783-EB09-409D-880F5773CE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557" b="18631"/>
          <a:stretch>
            <a:fillRect/>
          </a:stretch>
        </p:blipFill>
        <p:spPr>
          <a:xfrm>
            <a:off x="2152312" y="5676752"/>
            <a:ext cx="4839375" cy="1574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64D6AA3-906A-AEE0-CF8B-0E735A74194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776" b="-3694"/>
          <a:stretch>
            <a:fillRect/>
          </a:stretch>
        </p:blipFill>
        <p:spPr>
          <a:xfrm>
            <a:off x="2152311" y="6255707"/>
            <a:ext cx="4839375" cy="19560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F05EBDB-1FE0-8041-B8F0-1E625D5CF37C}"/>
              </a:ext>
            </a:extLst>
          </p:cNvPr>
          <p:cNvSpPr/>
          <p:nvPr/>
        </p:nvSpPr>
        <p:spPr>
          <a:xfrm>
            <a:off x="4288536" y="5422392"/>
            <a:ext cx="914400" cy="102891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068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5FA4-491C-11BA-74E8-43B68D07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C518E-116F-9247-B338-FBDE38ED6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Insert into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950FC2-812B-E21F-1A24-46027F267D33}"/>
              </a:ext>
            </a:extLst>
          </p:cNvPr>
          <p:cNvSpPr txBox="1"/>
          <p:nvPr/>
        </p:nvSpPr>
        <p:spPr>
          <a:xfrm>
            <a:off x="1357631" y="1843950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adds a record into an existing entity: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INSERT INTO </a:t>
            </a:r>
            <a:r>
              <a:rPr lang="en-GB" dirty="0"/>
              <a:t>Flights</a:t>
            </a:r>
          </a:p>
          <a:p>
            <a:pPr lvl="0"/>
            <a:r>
              <a:rPr lang="en-GB" b="1" dirty="0"/>
              <a:t>VALUES</a:t>
            </a:r>
            <a:r>
              <a:rPr lang="en-GB" dirty="0"/>
              <a:t> (KLM1, Edinburgh, Madrid, 2654, Boeing 777)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When inserting values, they must be in the </a:t>
            </a:r>
            <a:r>
              <a:rPr lang="en-GB" b="1" dirty="0"/>
              <a:t>same order</a:t>
            </a:r>
            <a:r>
              <a:rPr lang="en-GB" dirty="0"/>
              <a:t> as the entity.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5FEDDEF-CC95-2731-490E-124456914546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E114B-B8AC-88E1-3099-BE100475F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A27D65-6927-D83F-56AB-E8A62CBDA403}"/>
              </a:ext>
            </a:extLst>
          </p:cNvPr>
          <p:cNvSpPr/>
          <p:nvPr/>
        </p:nvSpPr>
        <p:spPr>
          <a:xfrm>
            <a:off x="2359152" y="5792940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22026C-DD4C-6E56-AF8A-B39E2946148A}"/>
              </a:ext>
            </a:extLst>
          </p:cNvPr>
          <p:cNvSpPr txBox="1"/>
          <p:nvPr/>
        </p:nvSpPr>
        <p:spPr>
          <a:xfrm>
            <a:off x="2454066" y="5783796"/>
            <a:ext cx="5645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KLM1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7B531C-823A-88D8-5A4D-7EFF10D93619}"/>
              </a:ext>
            </a:extLst>
          </p:cNvPr>
          <p:cNvSpPr txBox="1"/>
          <p:nvPr/>
        </p:nvSpPr>
        <p:spPr>
          <a:xfrm>
            <a:off x="3330153" y="5774652"/>
            <a:ext cx="8485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Edinburgh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F7B000-2556-2836-AB3E-C36757EBF956}"/>
              </a:ext>
            </a:extLst>
          </p:cNvPr>
          <p:cNvSpPr txBox="1"/>
          <p:nvPr/>
        </p:nvSpPr>
        <p:spPr>
          <a:xfrm>
            <a:off x="4242816" y="5774652"/>
            <a:ext cx="6612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Madrid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7CB2D8-AD9E-5470-8BD8-B8EE3A805746}"/>
              </a:ext>
            </a:extLst>
          </p:cNvPr>
          <p:cNvSpPr txBox="1"/>
          <p:nvPr/>
        </p:nvSpPr>
        <p:spPr>
          <a:xfrm>
            <a:off x="5654229" y="5774652"/>
            <a:ext cx="5052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2654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847348-8318-E64A-3FC7-3566117EE809}"/>
              </a:ext>
            </a:extLst>
          </p:cNvPr>
          <p:cNvSpPr txBox="1"/>
          <p:nvPr/>
        </p:nvSpPr>
        <p:spPr>
          <a:xfrm>
            <a:off x="6218764" y="5765508"/>
            <a:ext cx="919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Boeing 777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FF1238-F7B6-A0A1-16C1-F0795B20C094}"/>
              </a:ext>
            </a:extLst>
          </p:cNvPr>
          <p:cNvSpPr/>
          <p:nvPr/>
        </p:nvSpPr>
        <p:spPr>
          <a:xfrm>
            <a:off x="3330153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CFF427-9370-1562-8B9F-244A3281197F}"/>
              </a:ext>
            </a:extLst>
          </p:cNvPr>
          <p:cNvSpPr/>
          <p:nvPr/>
        </p:nvSpPr>
        <p:spPr>
          <a:xfrm>
            <a:off x="4301154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199891-17E1-298E-90FD-95FE42CA24C2}"/>
              </a:ext>
            </a:extLst>
          </p:cNvPr>
          <p:cNvSpPr/>
          <p:nvPr/>
        </p:nvSpPr>
        <p:spPr>
          <a:xfrm>
            <a:off x="5272155" y="5802084"/>
            <a:ext cx="97100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92A8D1-83B1-44E0-28AF-C75A36406269}"/>
              </a:ext>
            </a:extLst>
          </p:cNvPr>
          <p:cNvSpPr/>
          <p:nvPr/>
        </p:nvSpPr>
        <p:spPr>
          <a:xfrm>
            <a:off x="6243156" y="5802084"/>
            <a:ext cx="841941" cy="2587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7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 animBg="1"/>
      <p:bldP spid="11" grpId="0"/>
      <p:bldP spid="12" grpId="0"/>
      <p:bldP spid="13" grpId="0"/>
      <p:bldP spid="14" grpId="0"/>
      <p:bldP spid="15" grpId="0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C58D8-988C-B7EE-B666-0F59B92E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F876-37D5-E00F-AB96-43ED688E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Update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61E0DE-DE3E-AB74-1573-11B0E6BAE021}"/>
              </a:ext>
            </a:extLst>
          </p:cNvPr>
          <p:cNvSpPr txBox="1"/>
          <p:nvPr/>
        </p:nvSpPr>
        <p:spPr>
          <a:xfrm>
            <a:off x="1357631" y="1843950"/>
            <a:ext cx="65405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changes the data in existing records: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UPDATE</a:t>
            </a:r>
            <a:r>
              <a:rPr lang="en-GB" dirty="0"/>
              <a:t> Flights</a:t>
            </a:r>
          </a:p>
          <a:p>
            <a:pPr lvl="0"/>
            <a:r>
              <a:rPr lang="en-GB" b="1" dirty="0"/>
              <a:t>SET</a:t>
            </a:r>
            <a:r>
              <a:rPr lang="en-GB" dirty="0"/>
              <a:t> Destination = “Paris”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Plane Type = “Airbus A380”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If you do not have a </a:t>
            </a:r>
            <a:r>
              <a:rPr lang="en-GB" b="1" dirty="0"/>
              <a:t>WHERE </a:t>
            </a:r>
            <a:r>
              <a:rPr lang="en-GB" dirty="0"/>
              <a:t>clause then </a:t>
            </a:r>
            <a:r>
              <a:rPr lang="en-GB" b="1" dirty="0"/>
              <a:t>all records</a:t>
            </a:r>
            <a:r>
              <a:rPr lang="en-GB" dirty="0"/>
              <a:t> will be updated (e.g. </a:t>
            </a:r>
            <a:r>
              <a:rPr lang="en-GB" b="1" dirty="0"/>
              <a:t>all</a:t>
            </a:r>
            <a:r>
              <a:rPr lang="en-GB" dirty="0"/>
              <a:t> destinations will be Paris).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88A582E9-C851-02ED-E915-936B95B72A80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8087C-261C-05A5-73B4-8F08E3553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B0BD01-D5AE-2ED4-DB09-C8D7A7F06924}"/>
              </a:ext>
            </a:extLst>
          </p:cNvPr>
          <p:cNvSpPr txBox="1"/>
          <p:nvPr/>
        </p:nvSpPr>
        <p:spPr>
          <a:xfrm>
            <a:off x="4335758" y="5169348"/>
            <a:ext cx="80316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Paris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2B82D-BBD4-5C1B-DE94-09653B36151A}"/>
              </a:ext>
            </a:extLst>
          </p:cNvPr>
          <p:cNvSpPr txBox="1"/>
          <p:nvPr/>
        </p:nvSpPr>
        <p:spPr>
          <a:xfrm>
            <a:off x="4335758" y="5567800"/>
            <a:ext cx="803169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Paris</a:t>
            </a:r>
          </a:p>
        </p:txBody>
      </p:sp>
    </p:spTree>
    <p:extLst>
      <p:ext uri="{BB962C8B-B14F-4D97-AF65-F5344CB8AC3E}">
        <p14:creationId xmlns:p14="http://schemas.microsoft.com/office/powerpoint/2010/main" val="3235089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377F-04C9-E014-4C97-C9564A9B4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ED577-1285-7704-E804-25B7F6A7B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SQL: Delete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5A9D22-2EBA-CDF6-F76C-F96113D1E82E}"/>
              </a:ext>
            </a:extLst>
          </p:cNvPr>
          <p:cNvSpPr txBox="1"/>
          <p:nvPr/>
        </p:nvSpPr>
        <p:spPr>
          <a:xfrm>
            <a:off x="1357631" y="1843950"/>
            <a:ext cx="65405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GB" dirty="0"/>
              <a:t>This statement removes one or more records based on a criteria:</a:t>
            </a:r>
          </a:p>
          <a:p>
            <a:pPr lvl="0"/>
            <a:endParaRPr lang="en-GB" dirty="0"/>
          </a:p>
          <a:p>
            <a:pPr lvl="0"/>
            <a:r>
              <a:rPr lang="en-GB" b="1" dirty="0"/>
              <a:t>DELETE FROM </a:t>
            </a:r>
            <a:r>
              <a:rPr lang="en-GB" dirty="0"/>
              <a:t>Flights</a:t>
            </a:r>
          </a:p>
          <a:p>
            <a:pPr lvl="0"/>
            <a:r>
              <a:rPr lang="en-GB" b="1" dirty="0"/>
              <a:t>WHERE </a:t>
            </a:r>
            <a:r>
              <a:rPr lang="en-GB" dirty="0"/>
              <a:t>Departure Airport = “Heathrow”</a:t>
            </a:r>
          </a:p>
          <a:p>
            <a:pPr lvl="0"/>
            <a:endParaRPr lang="en-GB" dirty="0"/>
          </a:p>
          <a:p>
            <a:pPr lvl="0"/>
            <a:r>
              <a:rPr lang="en-GB" dirty="0"/>
              <a:t>If you do not have a </a:t>
            </a:r>
            <a:r>
              <a:rPr lang="en-GB" b="1" dirty="0"/>
              <a:t>WHERE</a:t>
            </a:r>
            <a:r>
              <a:rPr lang="en-GB" dirty="0"/>
              <a:t> clause the </a:t>
            </a:r>
            <a:r>
              <a:rPr lang="en-GB" b="1" dirty="0"/>
              <a:t>whole table</a:t>
            </a:r>
            <a:r>
              <a:rPr lang="en-GB" dirty="0"/>
              <a:t> will be deleted.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3C8CEEDA-8004-BDBC-3BD4-A5092F4EC5A0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10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AACF2F-8CB0-F885-21FF-99DFB5B8D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311" y="4554900"/>
            <a:ext cx="4932786" cy="1228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87BCE0-A34B-5E5A-B3F2-102A6289D901}"/>
              </a:ext>
            </a:extLst>
          </p:cNvPr>
          <p:cNvSpPr txBox="1"/>
          <p:nvPr/>
        </p:nvSpPr>
        <p:spPr>
          <a:xfrm>
            <a:off x="2351510" y="4967390"/>
            <a:ext cx="47335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38168-8A9F-AB5F-D89E-813FA0906196}"/>
              </a:ext>
            </a:extLst>
          </p:cNvPr>
          <p:cNvSpPr txBox="1"/>
          <p:nvPr/>
        </p:nvSpPr>
        <p:spPr>
          <a:xfrm>
            <a:off x="2351510" y="5355937"/>
            <a:ext cx="4733587" cy="2616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332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52817-1517-846D-CCBB-849A843A3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C2AF3-AB91-5595-96EB-374871C7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82812"/>
            <a:ext cx="7886700" cy="1325563"/>
          </a:xfrm>
        </p:spPr>
        <p:txBody>
          <a:bodyPr/>
          <a:lstStyle/>
          <a:p>
            <a:r>
              <a:rPr lang="en-GB" dirty="0"/>
              <a:t>SQL Cheat-Sheet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3CF249-EA9D-3D22-8C65-BF36469D3134}"/>
              </a:ext>
            </a:extLst>
          </p:cNvPr>
          <p:cNvSpPr txBox="1"/>
          <p:nvPr/>
        </p:nvSpPr>
        <p:spPr>
          <a:xfrm>
            <a:off x="875271" y="2116593"/>
            <a:ext cx="3457650" cy="175432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b="1" dirty="0">
                <a:solidFill>
                  <a:schemeClr val="accent2"/>
                </a:solidFill>
              </a:rPr>
              <a:t>Search for Records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SELECT</a:t>
            </a:r>
            <a:r>
              <a:rPr lang="en-GB" dirty="0"/>
              <a:t> </a:t>
            </a:r>
            <a:r>
              <a:rPr lang="en-GB" i="1" dirty="0"/>
              <a:t>attribute1, attribute2, …</a:t>
            </a:r>
            <a:endParaRPr lang="en-GB" dirty="0"/>
          </a:p>
          <a:p>
            <a:pPr lvl="0"/>
            <a:r>
              <a:rPr lang="en-GB" b="1" dirty="0"/>
              <a:t>FROM</a:t>
            </a:r>
            <a:r>
              <a:rPr lang="en-GB" dirty="0"/>
              <a:t> </a:t>
            </a:r>
            <a:r>
              <a:rPr lang="en-GB" i="1" dirty="0" err="1"/>
              <a:t>table_name</a:t>
            </a:r>
            <a:endParaRPr lang="en-GB" i="1" dirty="0"/>
          </a:p>
          <a:p>
            <a:pPr lvl="0"/>
            <a:r>
              <a:rPr lang="en-GB" b="1" dirty="0"/>
              <a:t>WHERE</a:t>
            </a:r>
            <a:r>
              <a:rPr lang="en-GB" dirty="0"/>
              <a:t> </a:t>
            </a:r>
            <a:r>
              <a:rPr lang="en-GB" i="1" dirty="0"/>
              <a:t>criteria</a:t>
            </a:r>
          </a:p>
          <a:p>
            <a:pPr lvl="0"/>
            <a:r>
              <a:rPr lang="en-GB" b="1" dirty="0"/>
              <a:t>ORDER BY </a:t>
            </a:r>
            <a:r>
              <a:rPr lang="en-GB" i="1" dirty="0"/>
              <a:t>attribute</a:t>
            </a:r>
            <a:r>
              <a:rPr lang="en-GB" b="1" i="1" dirty="0"/>
              <a:t> ASC </a:t>
            </a:r>
            <a:r>
              <a:rPr lang="en-GB" i="1" dirty="0"/>
              <a:t>or </a:t>
            </a:r>
            <a:r>
              <a:rPr lang="en-GB" b="1" i="1" dirty="0"/>
              <a:t>DESC</a:t>
            </a: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0B77CBA4-2AC2-7D98-D10E-DE818D894427}"/>
              </a:ext>
            </a:extLst>
          </p:cNvPr>
          <p:cNvSpPr txBox="1">
            <a:spLocks/>
          </p:cNvSpPr>
          <p:nvPr/>
        </p:nvSpPr>
        <p:spPr>
          <a:xfrm>
            <a:off x="11182326" y="7091663"/>
            <a:ext cx="278418" cy="274324"/>
          </a:xfrm>
          <a:prstGeom prst="rect">
            <a:avLst/>
          </a:prstGeom>
        </p:spPr>
        <p:txBody>
          <a:bodyPr/>
          <a:lstStyle>
            <a:defPPr rtl="0"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9B51A1E-902D-48AF-9020-955120F399B6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64F0CE-56BE-7F4B-C2C2-3AA4F842FC5C}"/>
              </a:ext>
            </a:extLst>
          </p:cNvPr>
          <p:cNvSpPr txBox="1"/>
          <p:nvPr/>
        </p:nvSpPr>
        <p:spPr>
          <a:xfrm>
            <a:off x="875271" y="4473589"/>
            <a:ext cx="3457650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b="1" dirty="0">
                <a:solidFill>
                  <a:schemeClr val="accent5"/>
                </a:solidFill>
              </a:rPr>
              <a:t>Add a Record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INSERT INTO </a:t>
            </a:r>
            <a:r>
              <a:rPr lang="en-GB" i="1" dirty="0" err="1"/>
              <a:t>table_name</a:t>
            </a:r>
            <a:endParaRPr lang="en-GB" i="1" dirty="0"/>
          </a:p>
          <a:p>
            <a:pPr lvl="0"/>
            <a:r>
              <a:rPr lang="en-GB" b="1" dirty="0"/>
              <a:t>VALUES </a:t>
            </a:r>
            <a:r>
              <a:rPr lang="en-GB" i="1" dirty="0"/>
              <a:t>(value1, value2, …)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8A2A7E-5B2E-B6CC-4F5C-B7344E2A5443}"/>
              </a:ext>
            </a:extLst>
          </p:cNvPr>
          <p:cNvSpPr txBox="1"/>
          <p:nvPr/>
        </p:nvSpPr>
        <p:spPr>
          <a:xfrm>
            <a:off x="4756559" y="2116593"/>
            <a:ext cx="3457650" cy="147732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b="1" dirty="0">
                <a:solidFill>
                  <a:schemeClr val="accent4"/>
                </a:solidFill>
              </a:rPr>
              <a:t>Update a Record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UPDATE</a:t>
            </a:r>
            <a:r>
              <a:rPr lang="en-GB" dirty="0"/>
              <a:t> </a:t>
            </a:r>
            <a:r>
              <a:rPr lang="en-GB" i="1" dirty="0" err="1"/>
              <a:t>table_name</a:t>
            </a:r>
            <a:endParaRPr lang="en-GB" dirty="0"/>
          </a:p>
          <a:p>
            <a:pPr lvl="0"/>
            <a:r>
              <a:rPr lang="en-GB" b="1" dirty="0"/>
              <a:t>SET </a:t>
            </a:r>
            <a:r>
              <a:rPr lang="en-GB" i="1" dirty="0"/>
              <a:t>attribute = value</a:t>
            </a:r>
          </a:p>
          <a:p>
            <a:pPr lvl="0"/>
            <a:r>
              <a:rPr lang="en-GB" b="1" dirty="0"/>
              <a:t>WHERE</a:t>
            </a:r>
            <a:r>
              <a:rPr lang="en-GB" dirty="0"/>
              <a:t> </a:t>
            </a:r>
            <a:r>
              <a:rPr lang="en-GB" i="1" dirty="0"/>
              <a:t>criteria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23B81-AE9C-2399-8160-8EFC7E61F76E}"/>
              </a:ext>
            </a:extLst>
          </p:cNvPr>
          <p:cNvSpPr txBox="1"/>
          <p:nvPr/>
        </p:nvSpPr>
        <p:spPr>
          <a:xfrm>
            <a:off x="4756559" y="4473589"/>
            <a:ext cx="345765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/>
            <a:r>
              <a:rPr lang="en-GB" b="1" dirty="0">
                <a:solidFill>
                  <a:schemeClr val="accent6"/>
                </a:solidFill>
              </a:rPr>
              <a:t>Delete a Record</a:t>
            </a:r>
          </a:p>
          <a:p>
            <a:pPr lvl="0"/>
            <a:endParaRPr lang="en-GB" b="1" dirty="0"/>
          </a:p>
          <a:p>
            <a:pPr lvl="0"/>
            <a:r>
              <a:rPr lang="en-GB" b="1" dirty="0"/>
              <a:t>DELETE FROM </a:t>
            </a:r>
            <a:r>
              <a:rPr lang="en-GB" i="1" dirty="0" err="1"/>
              <a:t>table_name</a:t>
            </a:r>
            <a:endParaRPr lang="en-GB" i="1" dirty="0"/>
          </a:p>
          <a:p>
            <a:pPr lvl="0"/>
            <a:r>
              <a:rPr lang="en-GB" b="1" dirty="0"/>
              <a:t>WHERE </a:t>
            </a:r>
            <a:r>
              <a:rPr lang="en-GB" i="1" dirty="0"/>
              <a:t>criteria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25929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Monoline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3419047_TF22318419_Win32" id="{DA6E7C03-7C07-46B9-8D9D-F061C4AB5C28}" vid="{0874F78C-8308-4EE6-8F19-85387B8691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3074FC08804A458A8C8F0DC4C1E099" ma:contentTypeVersion="3" ma:contentTypeDescription="Create a new document." ma:contentTypeScope="" ma:versionID="001174c44652ea014ddcd51994e03726">
  <xsd:schema xmlns:xsd="http://www.w3.org/2001/XMLSchema" xmlns:xs="http://www.w3.org/2001/XMLSchema" xmlns:p="http://schemas.microsoft.com/office/2006/metadata/properties" xmlns:ns2="3f9ddf9c-6903-432b-b7b2-793712443b9a" targetNamespace="http://schemas.microsoft.com/office/2006/metadata/properties" ma:root="true" ma:fieldsID="19f7ac9fbab857f28dddae0242ccdb19" ns2:_="">
    <xsd:import namespace="3f9ddf9c-6903-432b-b7b2-793712443b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9ddf9c-6903-432b-b7b2-793712443b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5BA3906-9696-4247-AC0D-DD5C26B2A70A}">
  <ds:schemaRefs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schemas.microsoft.com/sharepoint/v3"/>
    <ds:schemaRef ds:uri="http://schemas.microsoft.com/office/infopath/2007/PartnerControls"/>
    <ds:schemaRef ds:uri="http://purl.org/dc/terms/"/>
    <ds:schemaRef ds:uri="230e9df3-be65-4c73-a93b-d1236ebd677e"/>
    <ds:schemaRef ds:uri="71af3243-3dd4-4a8d-8c0d-dd76da1f02a5"/>
    <ds:schemaRef ds:uri="http://www.w3.org/XML/1998/namespace"/>
    <ds:schemaRef ds:uri="934cf7c4-a8c2-490a-9333-978f88a726af"/>
    <ds:schemaRef ds:uri="48e28243-b2f4-431c-814c-64330afb3e26"/>
  </ds:schemaRefs>
</ds:datastoreItem>
</file>

<file path=customXml/itemProps2.xml><?xml version="1.0" encoding="utf-8"?>
<ds:datastoreItem xmlns:ds="http://schemas.openxmlformats.org/officeDocument/2006/customXml" ds:itemID="{2D446390-8521-40A2-A462-EA068123BED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D952598-1926-431D-997C-33094BD24ABC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3317</TotalTime>
  <Words>500</Words>
  <Application>Microsoft Office PowerPoint</Application>
  <PresentationFormat>On-screen Show (4:3)</PresentationFormat>
  <Paragraphs>120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Monoline</vt:lpstr>
      <vt:lpstr>Learning intentions and success criteria</vt:lpstr>
      <vt:lpstr>DDD Revision</vt:lpstr>
      <vt:lpstr>Database Example</vt:lpstr>
      <vt:lpstr>Structured Query Language</vt:lpstr>
      <vt:lpstr>SQL: SELECT</vt:lpstr>
      <vt:lpstr>Search Criteria</vt:lpstr>
      <vt:lpstr>SQL: SELECT</vt:lpstr>
      <vt:lpstr>SQL: Insert into</vt:lpstr>
      <vt:lpstr>SQL: Update</vt:lpstr>
      <vt:lpstr>SQL: Delete</vt:lpstr>
      <vt:lpstr>SQL Cheat-Sheet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Wang (student)</dc:creator>
  <cp:lastModifiedBy>Mr Wang</cp:lastModifiedBy>
  <cp:revision>262</cp:revision>
  <cp:lastPrinted>2025-08-18T09:52:00Z</cp:lastPrinted>
  <dcterms:created xsi:type="dcterms:W3CDTF">2025-02-10T23:03:02Z</dcterms:created>
  <dcterms:modified xsi:type="dcterms:W3CDTF">2025-11-06T14:20:59Z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0x010100CE3074FC08804A458A8C8F0DC4C1E099</vt:lpwstr>
  </property>
</Properties>
</file>