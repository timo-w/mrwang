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  <p:sldMasterId id="2147483701" r:id="rId5"/>
  </p:sldMasterIdLst>
  <p:notesMasterIdLst>
    <p:notesMasterId r:id="rId17"/>
  </p:notesMasterIdLst>
  <p:handoutMasterIdLst>
    <p:handoutMasterId r:id="rId18"/>
  </p:handoutMasterIdLst>
  <p:sldIdLst>
    <p:sldId id="358" r:id="rId6"/>
    <p:sldId id="296" r:id="rId7"/>
    <p:sldId id="256" r:id="rId8"/>
    <p:sldId id="405" r:id="rId9"/>
    <p:sldId id="406" r:id="rId10"/>
    <p:sldId id="410" r:id="rId11"/>
    <p:sldId id="407" r:id="rId12"/>
    <p:sldId id="408" r:id="rId13"/>
    <p:sldId id="409" r:id="rId14"/>
    <p:sldId id="412" r:id="rId15"/>
    <p:sldId id="411" r:id="rId16"/>
  </p:sldIdLst>
  <p:sldSz cx="9144000" cy="6858000" type="screen4x3"/>
  <p:notesSz cx="6805613" cy="9939338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55"/>
    <a:srgbClr val="375EBE"/>
    <a:srgbClr val="BE494D"/>
    <a:srgbClr val="E9E6DF"/>
    <a:srgbClr val="FFD14E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800" y="78"/>
      </p:cViewPr>
      <p:guideLst>
        <p:guide orient="horz" pos="33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32" y="149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5C065-7973-41A8-A2CC-441A8BA3384C}" type="datetime1">
              <a:rPr lang="en-GB" smtClean="0"/>
              <a:t>02/09/2025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87A586-3225-45EC-B90F-43F9676D14C2}" type="datetime1">
              <a:rPr lang="en-GB" smtClean="0"/>
              <a:pPr/>
              <a:t>02/09/2025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3013"/>
            <a:ext cx="4471987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881A1-98BA-D318-DB28-8DD347258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7E450C-8B41-2B04-8E02-4BC7377CCC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F6FEF3-DF89-D811-A526-161CCC1F57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0D8766-8435-59E0-B453-6CD826D0CC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4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858350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62477-98FB-86F6-9017-C0FB79A3F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B497AE-4E78-3F6A-6D55-037BE9505E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AB8BC2-DED0-68DA-EDD0-401B916947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40BFAF-C33F-A3B8-9DB3-23C962B456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5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807654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56699-A6E0-E9E5-B5B7-9CD818654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5823B1-59C7-6FA7-0B9E-5F6FE76E1C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C17366-8A53-02E4-CA09-5BAF5F7099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4742FB-2502-80E2-A142-DA76F88189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6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873076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3FB88-23F9-C88E-55C7-843631E31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EC52E0-6260-7374-8377-BDEBAD0EF4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7B6234-0A8D-B046-1800-D3CCA4190F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F27ECF-1374-3D18-B32E-447EC1787E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8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977065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17AAB-67F4-3EAD-4803-EBAC21E10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D03A1C-8757-1FC3-5DEA-D31B39B526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BB5D2F-94FD-2D8D-DA9C-C9D67D870C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CD5D5-A614-B2B9-03A1-075ACBEC53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9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821269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12031" y="4434840"/>
            <a:ext cx="3706328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2031" y="5586890"/>
            <a:ext cx="3706328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1"/>
            <a:ext cx="7116234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116612" y="0"/>
            <a:ext cx="502738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0125" y="1020446"/>
            <a:ext cx="2378869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0125" y="2924176"/>
            <a:ext cx="2378869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0125" y="6356351"/>
            <a:ext cx="73886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2414" y="6356350"/>
            <a:ext cx="186213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52229" y="6356351"/>
            <a:ext cx="740664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5413" y="0"/>
            <a:ext cx="7558587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GB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5509419"/>
            <a:ext cx="3061607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239" y="1481138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5781" y="2557463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0600" y="3633788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28750" y="4710114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01152" y="1594478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39522" y="2673328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82703" y="3755394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31460" y="4824430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265137" y="5023933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819938" y="3948451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380090" y="2872686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939698" y="1796083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31459" y="6356351"/>
            <a:ext cx="1356534" cy="365125"/>
          </a:xfrm>
        </p:spPr>
        <p:txBody>
          <a:bodyPr rtlCol="0"/>
          <a:lstStyle>
            <a:lvl1pPr>
              <a:defRPr sz="900"/>
            </a:lvl1pPr>
          </a:lstStyle>
          <a:p>
            <a:pPr algn="l" rtl="0"/>
            <a:r>
              <a:rPr lang="en-GB" noProof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08156" y="6356351"/>
            <a:ext cx="407194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4425" y="2563124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14248" y="3070348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04753" y="2563124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04857" y="3070348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14425" y="4319432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14809" y="4826656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04473" y="4319432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04857" y="4826656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516291" y="1"/>
            <a:ext cx="2627709" cy="235295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90708" y="0"/>
            <a:ext cx="1853293" cy="269903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1570" y="4156406"/>
            <a:ext cx="235458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691" y="1530636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1372" y="1860060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41691" y="2630432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1372" y="2959856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41691" y="3730228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1372" y="4059652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40080" y="4830025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39761" y="5159449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4439760" y="6356351"/>
            <a:ext cx="71063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1466" y="6356351"/>
            <a:ext cx="24329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025493" y="6356351"/>
            <a:ext cx="4898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3522" y="-1"/>
            <a:ext cx="3672551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1556" y="1671639"/>
            <a:ext cx="3833813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1556" y="3660774"/>
            <a:ext cx="3833813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6822282" y="1497012"/>
            <a:ext cx="23217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5214937" y="-25401"/>
            <a:ext cx="2843213" cy="6902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18348" y="6356351"/>
            <a:ext cx="130730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43512" y="2571236"/>
            <a:ext cx="3134678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4407694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418623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0127" y="1152772"/>
            <a:ext cx="4073978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1657350" y="0"/>
            <a:ext cx="182880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691" y="2469516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1372" y="2798940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41691" y="3569311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1372" y="3898736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41691" y="4669108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1372" y="4998532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4439760" y="6356351"/>
            <a:ext cx="71063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1466" y="6356351"/>
            <a:ext cx="24329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025493" y="6356351"/>
            <a:ext cx="4898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32329" y="2776936"/>
            <a:ext cx="2161856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329" y="3834607"/>
            <a:ext cx="2161856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485749" y="2776936"/>
            <a:ext cx="2172503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85749" y="3834607"/>
            <a:ext cx="2172503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28688" cy="310515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678782" cy="2476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049816" y="2776936"/>
            <a:ext cx="2161856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049816" y="3834607"/>
            <a:ext cx="2161856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856" y="2358007"/>
            <a:ext cx="18288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50469" y="2531837"/>
            <a:ext cx="1643063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59206" y="2421056"/>
            <a:ext cx="1743075" cy="20574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47892" y="3064615"/>
            <a:ext cx="930728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106636" y="3064615"/>
            <a:ext cx="930728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665381" y="3064615"/>
            <a:ext cx="930728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7274" y="4824189"/>
            <a:ext cx="2343070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47274" y="5280764"/>
            <a:ext cx="2343070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394696" y="4824189"/>
            <a:ext cx="235460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394696" y="5280764"/>
            <a:ext cx="235460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953658" y="4824189"/>
            <a:ext cx="2343070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5953658" y="5280764"/>
            <a:ext cx="2343070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00275" y="892178"/>
            <a:ext cx="6316266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00275" y="2776936"/>
            <a:ext cx="294322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00275" y="3834607"/>
            <a:ext cx="294322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5557630" y="2776936"/>
            <a:ext cx="295772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7630" y="3834607"/>
            <a:ext cx="295772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19339" y="0"/>
            <a:ext cx="3276023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4081416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0127" y="1152772"/>
            <a:ext cx="4073978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691" y="2469516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1372" y="2798940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41691" y="3569311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1372" y="3898736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41691" y="4669108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1372" y="4998532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5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61562" y="1361938"/>
            <a:ext cx="5074444" cy="496888"/>
          </a:xfrm>
        </p:spPr>
        <p:txBody>
          <a:bodyPr rtlCol="0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28650" y="2286002"/>
            <a:ext cx="4570703" cy="3542143"/>
          </a:xfrm>
        </p:spPr>
        <p:txBody>
          <a:bodyPr rtlCol="0"/>
          <a:lstStyle/>
          <a:p>
            <a:pPr rtl="0"/>
            <a:r>
              <a:rPr lang="en-GB" noProof="0"/>
              <a:t>Click icon to add chart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93594" y="2284624"/>
            <a:ext cx="2360499" cy="306388"/>
          </a:xfrm>
        </p:spPr>
        <p:txBody>
          <a:bodyPr rtlCol="0"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93594" y="2779714"/>
            <a:ext cx="2361010" cy="3095625"/>
          </a:xfrm>
        </p:spPr>
        <p:txBody>
          <a:bodyPr rtlCol="0"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910030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057683"/>
            <a:ext cx="9143999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85799" y="3354712"/>
            <a:ext cx="54864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47447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06541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65635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4729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3823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42917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2011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61105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20199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79293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38387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974814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85800" y="4292468"/>
            <a:ext cx="54864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Year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477436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068202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658967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249732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840497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431263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022028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612793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203558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794324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385089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975854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7230" y="4034785"/>
            <a:ext cx="774954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sz="1800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7" name="SmartArt Placeholder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628650" y="2139084"/>
            <a:ext cx="7886700" cy="3695338"/>
          </a:xfrm>
        </p:spPr>
        <p:txBody>
          <a:bodyPr rtlCol="0"/>
          <a:lstStyle/>
          <a:p>
            <a:pPr rtl="0"/>
            <a:r>
              <a:rPr lang="en-GB" noProof="0"/>
              <a:t>Click icon to add SmartArt graphic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194310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528638" cy="10279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15386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83669" y="5084525"/>
            <a:ext cx="1647464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115386" y="5464115"/>
            <a:ext cx="1384133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877686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2780706" y="5099207"/>
            <a:ext cx="1608787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2877685" y="5478797"/>
            <a:ext cx="1391962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745684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lvl="1" rtl="0"/>
            <a:r>
              <a:rPr lang="en-GB" noProof="0"/>
              <a:t>Click icon to add picture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648704" y="5099207"/>
            <a:ext cx="1599739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745683" y="5478797"/>
            <a:ext cx="1384133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560594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463614" y="5084525"/>
            <a:ext cx="1599738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60593" y="5464115"/>
            <a:ext cx="1384133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5500687" y="0"/>
            <a:ext cx="3643313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615362" y="1"/>
            <a:ext cx="528638" cy="1724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70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07882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25126" y="3654379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042590" y="3782040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169703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2886947" y="3669061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2804411" y="3796722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037701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n-GB" noProof="0"/>
              <a:t>Click icon to add picture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754945" y="3669061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663472" y="3796722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852611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569855" y="3654379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475824" y="3782040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407882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125126" y="5513215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042590" y="5640876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169703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2886947" y="5527897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2804411" y="5655558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037701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n-GB" noProof="0"/>
              <a:t>Click icon to add picture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754945" y="5527897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4672409" y="5655558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852611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6569855" y="5513215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6475824" y="5640876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4"/>
            <a:ext cx="154305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86750" y="5180889"/>
            <a:ext cx="85725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1"/>
            <a:ext cx="928688" cy="1328057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1"/>
            <a:ext cx="2843213" cy="8921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19EE98D-9541-4F21-8952-3026DEF75E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06585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650" y="3788814"/>
            <a:ext cx="174804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28650" y="4464811"/>
            <a:ext cx="174804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650" y="5120723"/>
            <a:ext cx="174804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AB843230-A4E3-4E21-AA93-998E28EB901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858543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671999" y="3788814"/>
            <a:ext cx="1756654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71999" y="4464811"/>
            <a:ext cx="1756654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671999" y="5120723"/>
            <a:ext cx="1756654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3AE0369E-A275-4E5A-AE0F-B1F9A54DEDF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893283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723957" y="3788814"/>
            <a:ext cx="174804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723957" y="4464811"/>
            <a:ext cx="174804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23957" y="5120723"/>
            <a:ext cx="174804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CA3A81E-171B-4946-B8BA-B2F406CF093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945241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767305" y="3788458"/>
            <a:ext cx="174804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767305" y="4464455"/>
            <a:ext cx="174804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767305" y="5120367"/>
            <a:ext cx="174804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7656" y="1671639"/>
            <a:ext cx="3833813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07656" y="3682546"/>
            <a:ext cx="3833813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1"/>
            <a:ext cx="3571875" cy="1628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1978819" y="1"/>
            <a:ext cx="1593057" cy="51863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5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1615737"/>
            <a:ext cx="3134678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3238104"/>
            <a:ext cx="3134678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2382704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0401" y="6356351"/>
            <a:ext cx="133077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59791" y="6356351"/>
            <a:ext cx="199616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84572" y="6356351"/>
            <a:ext cx="133077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066" y="889820"/>
            <a:ext cx="7492181" cy="3598606"/>
          </a:xfrm>
        </p:spPr>
        <p:txBody>
          <a:bodyPr anchor="t">
            <a:normAutofit/>
          </a:bodyPr>
          <a:lstStyle>
            <a:lvl1pPr algn="l"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066" y="4488426"/>
            <a:ext cx="5243832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9794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4459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538" y="1709739"/>
            <a:ext cx="797405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6538" y="4589464"/>
            <a:ext cx="797405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7439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477" y="914400"/>
            <a:ext cx="8018449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066" y="2221992"/>
            <a:ext cx="390906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6008" y="2221992"/>
            <a:ext cx="390906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535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065" y="929148"/>
            <a:ext cx="8017002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8066" y="1756539"/>
            <a:ext cx="3909060" cy="657225"/>
          </a:xfrm>
        </p:spPr>
        <p:txBody>
          <a:bodyPr anchor="b">
            <a:normAutofit/>
          </a:bodyPr>
          <a:lstStyle>
            <a:lvl1pPr marL="0" indent="0">
              <a:buNone/>
              <a:defRPr sz="1200" b="1"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8066" y="2442703"/>
            <a:ext cx="390906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36008" y="1756539"/>
            <a:ext cx="3909060" cy="657225"/>
          </a:xfrm>
        </p:spPr>
        <p:txBody>
          <a:bodyPr anchor="b">
            <a:normAutofit/>
          </a:bodyPr>
          <a:lstStyle>
            <a:lvl1pPr marL="0" indent="0">
              <a:buNone/>
              <a:defRPr sz="1200" b="1"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36008" y="2442703"/>
            <a:ext cx="390906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9/2/2025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28620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95609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9/2/2025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94941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067" y="1069848"/>
            <a:ext cx="3070199" cy="131673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1069848"/>
            <a:ext cx="4629150" cy="479120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8067" y="2551176"/>
            <a:ext cx="3070199" cy="3319272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81859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067" y="1066801"/>
            <a:ext cx="3077573" cy="1317523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1066800"/>
            <a:ext cx="4629150" cy="47942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8067" y="2552700"/>
            <a:ext cx="3077573" cy="33162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72947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09764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931742" y="997974"/>
            <a:ext cx="1761782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76696" y="997973"/>
            <a:ext cx="6355046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35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79" r:id="rId13"/>
    <p:sldLayoutId id="2147483692" r:id="rId14"/>
    <p:sldLayoutId id="2147483681" r:id="rId15"/>
    <p:sldLayoutId id="2147483674" r:id="rId16"/>
    <p:sldLayoutId id="2147483675" r:id="rId17"/>
    <p:sldLayoutId id="2147483696" r:id="rId18"/>
    <p:sldLayoutId id="2147483677" r:id="rId19"/>
    <p:sldLayoutId id="2147483678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477" y="914400"/>
            <a:ext cx="8018449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477" y="2221992"/>
            <a:ext cx="8018449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77086" y="6356351"/>
            <a:ext cx="1912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8067" y="6356351"/>
            <a:ext cx="3404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89259" y="6356351"/>
            <a:ext cx="5042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600075" y="723900"/>
            <a:ext cx="794385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600075" y="6142781"/>
            <a:ext cx="794385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3521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3000" kern="1200" cap="all" spc="23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10000"/>
        </a:lnSpc>
        <a:spcBef>
          <a:spcPts val="75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1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1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1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1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4" Type="http://schemas.openxmlformats.org/officeDocument/2006/relationships/hyperlink" Target="https://pixabay.com/fr/la-r%C3%A9cursivit%C3%A9-ic%C3%B4ne-it%C3%A9ration-ic%C3%B4ne-2865934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gif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93366-FA68-AD0E-B6BF-16615D571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E535A19-DF8F-282B-3A60-8C84C58CA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GB" dirty="0"/>
              <a:t>Starter Task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370197-473D-2B53-4477-3655C7E56C0F}"/>
              </a:ext>
            </a:extLst>
          </p:cNvPr>
          <p:cNvSpPr txBox="1"/>
          <p:nvPr/>
        </p:nvSpPr>
        <p:spPr>
          <a:xfrm>
            <a:off x="1303153" y="1594190"/>
            <a:ext cx="65376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814579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C21C1-B79D-AD03-4EAE-D2542FF33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DCA64-873A-D0FF-B9BC-047C4A171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 and success criteria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69065B-2239-5666-C525-8AC7E30D1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00275" y="2221352"/>
            <a:ext cx="2943225" cy="823912"/>
          </a:xfrm>
        </p:spPr>
        <p:txBody>
          <a:bodyPr anchor="ctr"/>
          <a:lstStyle/>
          <a:p>
            <a:r>
              <a:rPr lang="en-GB" sz="2400" dirty="0"/>
              <a:t>I am learning…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0F8EBB-712D-FA69-3F85-6C3C4D9163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00275" y="3279023"/>
            <a:ext cx="2943225" cy="280280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About the analysis stage of software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How to analyse a computer program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A2F969-28CF-3476-B018-2C72791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57630" y="2217741"/>
            <a:ext cx="2957720" cy="823912"/>
          </a:xfrm>
        </p:spPr>
        <p:txBody>
          <a:bodyPr anchor="ctr"/>
          <a:lstStyle/>
          <a:p>
            <a:r>
              <a:rPr lang="en-GB" sz="2400" dirty="0"/>
              <a:t>I can…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659522-523D-64B6-2A66-6AD09301A8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7630" y="3279023"/>
            <a:ext cx="2957720" cy="3442453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Describe the analysis phase and the aspects of software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Analyse a program in terms of its purpose and functional requirements</a:t>
            </a:r>
          </a:p>
        </p:txBody>
      </p:sp>
    </p:spTree>
    <p:extLst>
      <p:ext uri="{BB962C8B-B14F-4D97-AF65-F5344CB8AC3E}">
        <p14:creationId xmlns:p14="http://schemas.microsoft.com/office/powerpoint/2010/main" val="1017054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87698-A108-A789-FF04-5399523ED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2030" y="4434840"/>
            <a:ext cx="3984497" cy="1122202"/>
          </a:xfrm>
        </p:spPr>
        <p:txBody>
          <a:bodyPr/>
          <a:lstStyle/>
          <a:p>
            <a:r>
              <a:rPr lang="en-GB" dirty="0"/>
              <a:t>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C8D7CA-3C16-0295-286D-6294A3D7BD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N5 - Software Design &amp; Development</a:t>
            </a:r>
          </a:p>
        </p:txBody>
      </p:sp>
      <p:pic>
        <p:nvPicPr>
          <p:cNvPr id="5" name="Graphic 4" descr="Programmer male with solid fill">
            <a:extLst>
              <a:ext uri="{FF2B5EF4-FFF2-40B4-BE49-F238E27FC236}">
                <a16:creationId xmlns:a16="http://schemas.microsoft.com/office/drawing/2014/main" id="{D19658CA-3BC1-9992-EF53-311BDAB647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5195" y="3429000"/>
            <a:ext cx="1233659" cy="1233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265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D5B98-7C56-50F4-6E3A-005D72F4A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A6F83-45E9-139C-39A7-6C0CB9E8F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6468"/>
            <a:ext cx="7886700" cy="1325563"/>
          </a:xfrm>
        </p:spPr>
        <p:txBody>
          <a:bodyPr/>
          <a:lstStyle/>
          <a:p>
            <a:r>
              <a:rPr lang="en-GB" dirty="0"/>
              <a:t>Iterative Development Phases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D67499-9740-2A3D-41C1-ABDE397E001F}"/>
              </a:ext>
            </a:extLst>
          </p:cNvPr>
          <p:cNvSpPr txBox="1"/>
          <p:nvPr/>
        </p:nvSpPr>
        <p:spPr>
          <a:xfrm>
            <a:off x="1357632" y="1383637"/>
            <a:ext cx="633247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Analysis</a:t>
            </a:r>
            <a:r>
              <a:rPr lang="en-GB" dirty="0"/>
              <a:t> - This is where the problem is analysed and the programmer ensures that they know exactly what they are meant to do.</a:t>
            </a:r>
          </a:p>
          <a:p>
            <a:endParaRPr lang="en-GB" dirty="0"/>
          </a:p>
          <a:p>
            <a:r>
              <a:rPr lang="en-GB" b="1" dirty="0"/>
              <a:t>Design</a:t>
            </a:r>
            <a:r>
              <a:rPr lang="en-GB" dirty="0"/>
              <a:t> – A solution to the problem is designed using a variety of design techniques.</a:t>
            </a:r>
          </a:p>
          <a:p>
            <a:endParaRPr lang="en-GB" dirty="0"/>
          </a:p>
          <a:p>
            <a:r>
              <a:rPr lang="en-GB" b="1" dirty="0"/>
              <a:t>Implementation</a:t>
            </a:r>
            <a:r>
              <a:rPr lang="en-GB" dirty="0"/>
              <a:t> – The solution is created using a programming language.</a:t>
            </a:r>
          </a:p>
          <a:p>
            <a:endParaRPr lang="en-GB" dirty="0"/>
          </a:p>
          <a:p>
            <a:r>
              <a:rPr lang="en-GB" b="1" dirty="0"/>
              <a:t>Testing</a:t>
            </a:r>
            <a:r>
              <a:rPr lang="en-GB" dirty="0"/>
              <a:t> – Solution is tested using test data and errors are identified and corrected.</a:t>
            </a:r>
          </a:p>
          <a:p>
            <a:endParaRPr lang="en-GB" dirty="0"/>
          </a:p>
          <a:p>
            <a:r>
              <a:rPr lang="en-GB" b="1" dirty="0"/>
              <a:t>Documentation</a:t>
            </a:r>
            <a:r>
              <a:rPr lang="en-GB" dirty="0"/>
              <a:t> – The paperwork is completed throughout each stage to document the project from start to finish.</a:t>
            </a:r>
          </a:p>
          <a:p>
            <a:endParaRPr lang="en-GB" dirty="0"/>
          </a:p>
          <a:p>
            <a:r>
              <a:rPr lang="en-GB" b="1" dirty="0"/>
              <a:t>Evaluation</a:t>
            </a:r>
            <a:r>
              <a:rPr lang="en-GB" dirty="0"/>
              <a:t> – The solution is examined to make sure that it meets the specification and is fit for purpose.</a:t>
            </a:r>
          </a:p>
        </p:txBody>
      </p:sp>
    </p:spTree>
    <p:extLst>
      <p:ext uri="{BB962C8B-B14F-4D97-AF65-F5344CB8AC3E}">
        <p14:creationId xmlns:p14="http://schemas.microsoft.com/office/powerpoint/2010/main" val="4278360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2E170-B2E4-E840-05BA-F1E709129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FE82-D9B1-CE07-1186-6BAA22658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Iteration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4E50A6-1C2C-2606-098C-9F10402A76C3}"/>
              </a:ext>
            </a:extLst>
          </p:cNvPr>
          <p:cNvSpPr txBox="1"/>
          <p:nvPr/>
        </p:nvSpPr>
        <p:spPr>
          <a:xfrm>
            <a:off x="1357632" y="1843950"/>
            <a:ext cx="642873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software development process is known as an </a:t>
            </a:r>
            <a:r>
              <a:rPr lang="en-US" b="1" dirty="0"/>
              <a:t>Iterative</a:t>
            </a:r>
            <a:r>
              <a:rPr lang="en-US" dirty="0"/>
              <a:t> process. </a:t>
            </a:r>
          </a:p>
          <a:p>
            <a:endParaRPr lang="en-US" dirty="0"/>
          </a:p>
          <a:p>
            <a:r>
              <a:rPr lang="en-US" i="1" dirty="0"/>
              <a:t>This is because stages can be </a:t>
            </a:r>
            <a:r>
              <a:rPr lang="en-US" b="1" i="1" dirty="0"/>
              <a:t>revisited</a:t>
            </a:r>
            <a:r>
              <a:rPr lang="en-US" i="1" dirty="0"/>
              <a:t> as a result of information gained in later stages.</a:t>
            </a:r>
          </a:p>
          <a:p>
            <a:endParaRPr lang="en-US" i="1" dirty="0">
              <a:solidFill>
                <a:srgbClr val="00B050"/>
              </a:solidFill>
              <a:ea typeface="Calibri"/>
              <a:cs typeface="Calibri"/>
            </a:endParaRPr>
          </a:p>
          <a:p>
            <a:endParaRPr lang="en-US" sz="9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Each time a stage is revisited the solution gets closer to the requirements.</a:t>
            </a:r>
          </a:p>
          <a:p>
            <a:endParaRPr lang="en-GB" dirty="0"/>
          </a:p>
          <a:p>
            <a:endParaRPr lang="en-GB" sz="900" dirty="0"/>
          </a:p>
          <a:p>
            <a:r>
              <a:rPr lang="en-US" i="1" dirty="0"/>
              <a:t>i.e. An error could be found during the testing stage and this could cause the program code to be changed or even the design.</a:t>
            </a:r>
          </a:p>
        </p:txBody>
      </p:sp>
      <p:pic>
        <p:nvPicPr>
          <p:cNvPr id="6" name="Picture 5" descr="A blue circle with white arrows&#10;&#10;AI-generated content may be incorrect.">
            <a:extLst>
              <a:ext uri="{FF2B5EF4-FFF2-40B4-BE49-F238E27FC236}">
                <a16:creationId xmlns:a16="http://schemas.microsoft.com/office/drawing/2014/main" id="{EAB4C456-E0E9-EB3C-10DA-4B51160AE1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315200" y="479833"/>
            <a:ext cx="1337649" cy="1337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7CCA7-B96F-86C5-5758-EAE575A4B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C47E7-9F6E-FFA3-70A1-37472F859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94125E-3423-4E91-247A-40F0EB426B26}"/>
              </a:ext>
            </a:extLst>
          </p:cNvPr>
          <p:cNvSpPr txBox="1"/>
          <p:nvPr/>
        </p:nvSpPr>
        <p:spPr>
          <a:xfrm>
            <a:off x="1357632" y="1843950"/>
            <a:ext cx="642873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purpose of analysis is to get an </a:t>
            </a:r>
            <a:r>
              <a:rPr lang="en-GB" b="1" dirty="0"/>
              <a:t>understanding of the requirements</a:t>
            </a:r>
            <a:r>
              <a:rPr lang="en-GB" dirty="0"/>
              <a:t> of the project. </a:t>
            </a:r>
          </a:p>
          <a:p>
            <a:endParaRPr lang="en-GB" dirty="0"/>
          </a:p>
          <a:p>
            <a:r>
              <a:rPr lang="en-GB" dirty="0"/>
              <a:t>After the all information is gathered and a clear understanding of the </a:t>
            </a:r>
            <a:r>
              <a:rPr lang="en-GB" b="1" dirty="0"/>
              <a:t>purpose and functional requirements </a:t>
            </a:r>
            <a:r>
              <a:rPr lang="en-GB" dirty="0"/>
              <a:t>are collected then an important piece of documentation is created: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THE SOFTWARE SPECIFICATION</a:t>
            </a:r>
          </a:p>
          <a:p>
            <a:endParaRPr lang="en-GB" dirty="0"/>
          </a:p>
          <a:p>
            <a:r>
              <a:rPr lang="en-GB" dirty="0"/>
              <a:t>This is a </a:t>
            </a:r>
            <a:r>
              <a:rPr lang="en-GB" b="1" dirty="0"/>
              <a:t>legally binding contract </a:t>
            </a:r>
            <a:r>
              <a:rPr lang="en-GB" dirty="0"/>
              <a:t>between company and client. This sets out and clearly identifies the needs of the client and how they will be met.</a:t>
            </a:r>
          </a:p>
          <a:p>
            <a:endParaRPr lang="en-GB" dirty="0"/>
          </a:p>
          <a:p>
            <a:r>
              <a:rPr lang="en-GB" dirty="0"/>
              <a:t>At National 5 level in terms of Analysis we need to consider the </a:t>
            </a:r>
            <a:r>
              <a:rPr lang="en-GB" b="1" dirty="0"/>
              <a:t>purpose</a:t>
            </a:r>
            <a:r>
              <a:rPr lang="en-GB" dirty="0"/>
              <a:t> of a program and identify </a:t>
            </a:r>
            <a:r>
              <a:rPr lang="en-GB" b="1" dirty="0"/>
              <a:t>Functional Requirements</a:t>
            </a:r>
            <a:r>
              <a:rPr lang="en-GB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F00443-7427-CDF4-3729-B1A59FDA2424}"/>
              </a:ext>
            </a:extLst>
          </p:cNvPr>
          <p:cNvPicPr/>
          <p:nvPr/>
        </p:nvPicPr>
        <p:blipFill rotWithShape="1">
          <a:blip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90000" l="0" r="90000">
                        <a14:foregroundMark x1="9111" y1="53556" x2="8778" y2="54667"/>
                        <a14:foregroundMark x1="36556" y1="10333" x2="36556" y2="18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439" t="2849" r="25941" b="32674"/>
          <a:stretch/>
        </p:blipFill>
        <p:spPr bwMode="auto">
          <a:xfrm>
            <a:off x="6176888" y="75399"/>
            <a:ext cx="2967112" cy="176855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670071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A8558-315C-A33D-4614-B384B5BAD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martArt Placeholder 2">
            <a:extLst>
              <a:ext uri="{FF2B5EF4-FFF2-40B4-BE49-F238E27FC236}">
                <a16:creationId xmlns:a16="http://schemas.microsoft.com/office/drawing/2014/main" id="{4E24AB37-D241-8966-CDC0-F7EAFDD9C802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8F8B24-525E-58F4-266C-77159FBF5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90" y="944722"/>
            <a:ext cx="8826820" cy="49685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22C561B-2231-66E0-107B-598EAB7C73CE}"/>
              </a:ext>
            </a:extLst>
          </p:cNvPr>
          <p:cNvSpPr txBox="1"/>
          <p:nvPr/>
        </p:nvSpPr>
        <p:spPr>
          <a:xfrm>
            <a:off x="4910328" y="3684080"/>
            <a:ext cx="1088136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program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EDAC49-1224-6A69-4957-65443D7A2BED}"/>
              </a:ext>
            </a:extLst>
          </p:cNvPr>
          <p:cNvSpPr txBox="1"/>
          <p:nvPr/>
        </p:nvSpPr>
        <p:spPr>
          <a:xfrm>
            <a:off x="7585950" y="3545580"/>
            <a:ext cx="1558050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functional requirements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8FDD7F-1595-7197-3BF5-66DF5738A3DE}"/>
              </a:ext>
            </a:extLst>
          </p:cNvPr>
          <p:cNvSpPr txBox="1"/>
          <p:nvPr/>
        </p:nvSpPr>
        <p:spPr>
          <a:xfrm>
            <a:off x="2731770" y="1247274"/>
            <a:ext cx="2269998" cy="65579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you during software analysis:</a:t>
            </a:r>
          </a:p>
        </p:txBody>
      </p:sp>
    </p:spTree>
    <p:extLst>
      <p:ext uri="{BB962C8B-B14F-4D97-AF65-F5344CB8AC3E}">
        <p14:creationId xmlns:p14="http://schemas.microsoft.com/office/powerpoint/2010/main" val="4085585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3A44B-CD13-D86B-9B4B-09DD4FA94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F668A-87A1-1916-D1B0-3D1692085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Purpose &amp; Functional Requirements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A682ED-BD9F-9A7F-929D-EE2CC3970FE1}"/>
              </a:ext>
            </a:extLst>
          </p:cNvPr>
          <p:cNvSpPr txBox="1"/>
          <p:nvPr/>
        </p:nvSpPr>
        <p:spPr>
          <a:xfrm>
            <a:off x="1357632" y="1843950"/>
            <a:ext cx="642873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The purpose of a program is what it is going to do:</a:t>
            </a:r>
            <a:endParaRPr lang="en-GB" dirty="0"/>
          </a:p>
          <a:p>
            <a:endParaRPr lang="en-GB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What information is going to go into the program? (Inputs)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What will happen to this information? (Processes)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What will be returned to the user? (Outputs)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1" dirty="0"/>
          </a:p>
          <a:p>
            <a:r>
              <a:rPr lang="en-GB" b="1" dirty="0"/>
              <a:t>The functional requirements of a program are what it needs to be able to do: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D4D92F-B288-A331-AEAA-0D714782D620}"/>
              </a:ext>
            </a:extLst>
          </p:cNvPr>
          <p:cNvSpPr txBox="1"/>
          <p:nvPr/>
        </p:nvSpPr>
        <p:spPr>
          <a:xfrm>
            <a:off x="1589636" y="4706273"/>
            <a:ext cx="1728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7030A0"/>
                </a:solidFill>
              </a:rPr>
              <a:t>Inputs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D2DDA9-55E4-078A-AFAD-87523E7C084A}"/>
              </a:ext>
            </a:extLst>
          </p:cNvPr>
          <p:cNvSpPr txBox="1"/>
          <p:nvPr/>
        </p:nvSpPr>
        <p:spPr>
          <a:xfrm>
            <a:off x="3749876" y="5475387"/>
            <a:ext cx="1728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7030A0"/>
                </a:solidFill>
              </a:rPr>
              <a:t>Process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1773CC-D850-0C58-8C7E-EB701C5D8A0E}"/>
              </a:ext>
            </a:extLst>
          </p:cNvPr>
          <p:cNvSpPr txBox="1"/>
          <p:nvPr/>
        </p:nvSpPr>
        <p:spPr>
          <a:xfrm>
            <a:off x="6058177" y="6127681"/>
            <a:ext cx="1728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7030A0"/>
                </a:solidFill>
              </a:rPr>
              <a:t>Outputs</a:t>
            </a:r>
          </a:p>
        </p:txBody>
      </p: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11153890-89FE-6EAF-27A2-B93262872EDB}"/>
              </a:ext>
            </a:extLst>
          </p:cNvPr>
          <p:cNvCxnSpPr>
            <a:stCxn id="5" idx="2"/>
          </p:cNvCxnSpPr>
          <p:nvPr/>
        </p:nvCxnSpPr>
        <p:spPr>
          <a:xfrm rot="16200000" flipH="1">
            <a:off x="2778066" y="4905158"/>
            <a:ext cx="507504" cy="1156173"/>
          </a:xfrm>
          <a:prstGeom prst="bentConnector2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B04B1835-42A3-E3BC-A3D3-108DAAD2366E}"/>
              </a:ext>
            </a:extLst>
          </p:cNvPr>
          <p:cNvCxnSpPr/>
          <p:nvPr/>
        </p:nvCxnSpPr>
        <p:spPr>
          <a:xfrm rot="16200000" flipH="1">
            <a:off x="4938307" y="5645699"/>
            <a:ext cx="507504" cy="1156173"/>
          </a:xfrm>
          <a:prstGeom prst="bentConnector2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5786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02B6B-7C96-CA16-508E-C1BBE4197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56EFE-AF9F-D689-919D-A0D904D97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52460"/>
            <a:ext cx="7886700" cy="1325563"/>
          </a:xfrm>
        </p:spPr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60CDBB-5981-130D-339C-1134DC8A9AA4}"/>
              </a:ext>
            </a:extLst>
          </p:cNvPr>
          <p:cNvSpPr txBox="1"/>
          <p:nvPr/>
        </p:nvSpPr>
        <p:spPr>
          <a:xfrm>
            <a:off x="1357632" y="1313598"/>
            <a:ext cx="642873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 programmer has been asked to create a program that will </a:t>
            </a:r>
            <a:r>
              <a:rPr lang="en-GB" dirty="0">
                <a:highlight>
                  <a:srgbClr val="FFFF00"/>
                </a:highlight>
              </a:rPr>
              <a:t>calculate the average temperature</a:t>
            </a:r>
            <a:r>
              <a:rPr lang="en-GB" dirty="0"/>
              <a:t> for a room during the </a:t>
            </a:r>
            <a:r>
              <a:rPr lang="en-GB" dirty="0">
                <a:highlight>
                  <a:srgbClr val="FFFF00"/>
                </a:highlight>
              </a:rPr>
              <a:t>course of a week</a:t>
            </a:r>
            <a:r>
              <a:rPr lang="en-GB" dirty="0"/>
              <a:t>. The </a:t>
            </a:r>
            <a:r>
              <a:rPr lang="en-GB" dirty="0">
                <a:highlight>
                  <a:srgbClr val="FFFF00"/>
                </a:highlight>
              </a:rPr>
              <a:t>temperatures will be entered</a:t>
            </a:r>
            <a:r>
              <a:rPr lang="en-GB" dirty="0"/>
              <a:t> into the program. The temperature is recorded every day at noon. The program is to </a:t>
            </a:r>
            <a:r>
              <a:rPr lang="en-GB" dirty="0">
                <a:highlight>
                  <a:srgbClr val="FFFF00"/>
                </a:highlight>
              </a:rPr>
              <a:t>display a weekly average temperature, rounded to two decimal places.</a:t>
            </a:r>
          </a:p>
          <a:p>
            <a:endParaRPr lang="en-GB" dirty="0">
              <a:highlight>
                <a:srgbClr val="FFFF00"/>
              </a:highlight>
            </a:endParaRPr>
          </a:p>
          <a:p>
            <a:r>
              <a:rPr lang="en-GB" b="1" dirty="0">
                <a:solidFill>
                  <a:srgbClr val="7030A0"/>
                </a:solidFill>
              </a:rPr>
              <a:t>Purpose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/>
              <a:t>– Take in 7 temperatures, calculate an average and return result to the user.</a:t>
            </a:r>
          </a:p>
          <a:p>
            <a:endParaRPr lang="en-GB" dirty="0"/>
          </a:p>
          <a:p>
            <a:r>
              <a:rPr lang="en-GB" b="1" dirty="0">
                <a:solidFill>
                  <a:srgbClr val="7030A0"/>
                </a:solidFill>
              </a:rPr>
              <a:t>Functional Requirements </a:t>
            </a:r>
            <a:r>
              <a:rPr lang="en-GB" dirty="0"/>
              <a:t>– Take in 7 temperatures, calculate and then display an average rounded to two decimal places.</a:t>
            </a:r>
          </a:p>
          <a:p>
            <a:endParaRPr lang="en-GB" dirty="0"/>
          </a:p>
          <a:p>
            <a:r>
              <a:rPr lang="en-GB" b="1" dirty="0">
                <a:solidFill>
                  <a:srgbClr val="7030A0"/>
                </a:solidFill>
              </a:rPr>
              <a:t>Inputs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/>
              <a:t>– 7 temperatures</a:t>
            </a:r>
          </a:p>
          <a:p>
            <a:endParaRPr lang="en-GB" dirty="0"/>
          </a:p>
          <a:p>
            <a:r>
              <a:rPr lang="en-GB" b="1" dirty="0">
                <a:solidFill>
                  <a:srgbClr val="7030A0"/>
                </a:solidFill>
              </a:rPr>
              <a:t>Processes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/>
              <a:t>– calculate an average and round to two decimal places</a:t>
            </a:r>
          </a:p>
          <a:p>
            <a:endParaRPr lang="en-GB" dirty="0"/>
          </a:p>
          <a:p>
            <a:r>
              <a:rPr lang="en-GB" b="1" dirty="0">
                <a:solidFill>
                  <a:srgbClr val="7030A0"/>
                </a:solidFill>
              </a:rPr>
              <a:t>Outputs</a:t>
            </a:r>
            <a:r>
              <a:rPr lang="en-GB" dirty="0"/>
              <a:t> – Average temperature</a:t>
            </a:r>
          </a:p>
        </p:txBody>
      </p:sp>
    </p:spTree>
    <p:extLst>
      <p:ext uri="{BB962C8B-B14F-4D97-AF65-F5344CB8AC3E}">
        <p14:creationId xmlns:p14="http://schemas.microsoft.com/office/powerpoint/2010/main" val="1978986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en-US" sz="1350">
              <a:solidFill>
                <a:srgbClr val="FFFFFF"/>
              </a:solidFill>
              <a:latin typeface="Calisto M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C13610-0886-3AFD-7DB4-FFAA671244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03414" y="1511069"/>
            <a:ext cx="4369086" cy="2903357"/>
          </a:xfrm>
        </p:spPr>
        <p:txBody>
          <a:bodyPr>
            <a:normAutofit/>
          </a:bodyPr>
          <a:lstStyle/>
          <a:p>
            <a:r>
              <a:rPr lang="en-GB" dirty="0"/>
              <a:t>Analysis Task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CF919D-477B-AAF6-8D7A-881B1265C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14973" y="4446408"/>
            <a:ext cx="3991510" cy="754243"/>
          </a:xfrm>
        </p:spPr>
        <p:txBody>
          <a:bodyPr>
            <a:normAutofit/>
          </a:bodyPr>
          <a:lstStyle/>
          <a:p>
            <a:r>
              <a:rPr lang="en-GB" dirty="0"/>
              <a:t>Software Design &amp; Development</a:t>
            </a:r>
          </a:p>
        </p:txBody>
      </p:sp>
      <p:pic>
        <p:nvPicPr>
          <p:cNvPr id="4" name="Picture 3" descr="Angled shot of pen on a graph">
            <a:extLst>
              <a:ext uri="{FF2B5EF4-FFF2-40B4-BE49-F238E27FC236}">
                <a16:creationId xmlns:a16="http://schemas.microsoft.com/office/drawing/2014/main" id="{168352B1-EDE2-D1D1-B082-3567C82353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34" r="44999" b="-1"/>
          <a:stretch>
            <a:fillRect/>
          </a:stretch>
        </p:blipFill>
        <p:spPr>
          <a:xfrm>
            <a:off x="1" y="857258"/>
            <a:ext cx="3657599" cy="5143492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292832" y="1400175"/>
            <a:ext cx="4279668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292832" y="5457825"/>
            <a:ext cx="425109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061C53C-C87A-6178-9771-C228BB5CE893}"/>
              </a:ext>
            </a:extLst>
          </p:cNvPr>
          <p:cNvSpPr txBox="1"/>
          <p:nvPr/>
        </p:nvSpPr>
        <p:spPr>
          <a:xfrm rot="19837301">
            <a:off x="-289266" y="2644168"/>
            <a:ext cx="97225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solidFill>
                  <a:srgbClr val="FF0000"/>
                </a:solidFill>
                <a:latin typeface="Adamsky SF" pitchFamily="2" charset="0"/>
              </a:rPr>
              <a:t>Your Task Today</a:t>
            </a:r>
          </a:p>
        </p:txBody>
      </p:sp>
    </p:spTree>
    <p:extLst>
      <p:ext uri="{BB962C8B-B14F-4D97-AF65-F5344CB8AC3E}">
        <p14:creationId xmlns:p14="http://schemas.microsoft.com/office/powerpoint/2010/main" val="2139660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26B0F-775F-1B4C-61C9-83CD56751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8CEF1-2D25-1E1A-8BA6-F1C674F68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 and success criteria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F28D9B-50B9-7C7C-95A6-485722BC5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00275" y="2221352"/>
            <a:ext cx="2943225" cy="823912"/>
          </a:xfrm>
        </p:spPr>
        <p:txBody>
          <a:bodyPr anchor="ctr"/>
          <a:lstStyle/>
          <a:p>
            <a:r>
              <a:rPr lang="en-GB" sz="2400" dirty="0"/>
              <a:t>I am learning…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766720-0781-2CBB-84F6-04C239CDE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00275" y="3279023"/>
            <a:ext cx="2943225" cy="280280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About the analysis stage of software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How to analyse a computer program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168DCF-8DAF-CF12-AE5E-83387D3163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57630" y="2217741"/>
            <a:ext cx="2957720" cy="823912"/>
          </a:xfrm>
        </p:spPr>
        <p:txBody>
          <a:bodyPr anchor="ctr"/>
          <a:lstStyle/>
          <a:p>
            <a:r>
              <a:rPr lang="en-GB" sz="2400" dirty="0"/>
              <a:t>I can…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91445E-CAE4-E9F0-0558-DD9FDA93BF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7630" y="3279023"/>
            <a:ext cx="2957720" cy="3442453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Describe the analysis phase and the aspects of software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Analyse a program in terms of its purpose and functional requirements</a:t>
            </a:r>
          </a:p>
        </p:txBody>
      </p:sp>
    </p:spTree>
    <p:extLst>
      <p:ext uri="{BB962C8B-B14F-4D97-AF65-F5344CB8AC3E}">
        <p14:creationId xmlns:p14="http://schemas.microsoft.com/office/powerpoint/2010/main" val="2403310995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419047_TF22318419_Win32" id="{DA6E7C03-7C07-46B9-8D9D-F061C4AB5C28}" vid="{0874F78C-8308-4EE6-8F19-85387B869150}"/>
    </a:ext>
  </a:extLst>
</a:theme>
</file>

<file path=ppt/theme/theme2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3074FC08804A458A8C8F0DC4C1E099" ma:contentTypeVersion="3" ma:contentTypeDescription="Create a new document." ma:contentTypeScope="" ma:versionID="c5f0b38251d317ab277e387d6b557b9b">
  <xsd:schema xmlns:xsd="http://www.w3.org/2001/XMLSchema" xmlns:xs="http://www.w3.org/2001/XMLSchema" xmlns:p="http://schemas.microsoft.com/office/2006/metadata/properties" xmlns:ns2="3f9ddf9c-6903-432b-b7b2-793712443b9a" targetNamespace="http://schemas.microsoft.com/office/2006/metadata/properties" ma:root="true" ma:fieldsID="921f147f580d21fb0753fb6d8f6b699d" ns2:_="">
    <xsd:import namespace="3f9ddf9c-6903-432b-b7b2-793712443b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9ddf9c-6903-432b-b7b2-793712443b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5BA3906-9696-4247-AC0D-DD5C26B2A70A}">
  <ds:schemaRefs>
    <ds:schemaRef ds:uri="16c05727-aa75-4e4a-9b5f-8a80a1165891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schemas.microsoft.com/sharepoint/v3"/>
    <ds:schemaRef ds:uri="http://schemas.microsoft.com/office/infopath/2007/PartnerControls"/>
    <ds:schemaRef ds:uri="http://purl.org/dc/terms/"/>
    <ds:schemaRef ds:uri="230e9df3-be65-4c73-a93b-d1236ebd677e"/>
    <ds:schemaRef ds:uri="71af3243-3dd4-4a8d-8c0d-dd76da1f02a5"/>
    <ds:schemaRef ds:uri="http://www.w3.org/XML/1998/namespace"/>
    <ds:schemaRef ds:uri="934cf7c4-a8c2-490a-9333-978f88a726af"/>
    <ds:schemaRef ds:uri="48e28243-b2f4-431c-814c-64330afb3e26"/>
  </ds:schemaRefs>
</ds:datastoreItem>
</file>

<file path=customXml/itemProps2.xml><?xml version="1.0" encoding="utf-8"?>
<ds:datastoreItem xmlns:ds="http://schemas.openxmlformats.org/officeDocument/2006/customXml" ds:itemID="{48BCBD61-3D5F-4B29-8E30-7F8594E4137C}"/>
</file>

<file path=customXml/itemProps3.xml><?xml version="1.0" encoding="utf-8"?>
<ds:datastoreItem xmlns:ds="http://schemas.openxmlformats.org/officeDocument/2006/customXml" ds:itemID="{2D446390-8521-40A2-A462-EA068123BED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Minimalist sales pitch</Template>
  <TotalTime>1982</TotalTime>
  <Words>586</Words>
  <Application>Microsoft Office PowerPoint</Application>
  <PresentationFormat>On-screen Show (4:3)</PresentationFormat>
  <Paragraphs>90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Adamsky SF</vt:lpstr>
      <vt:lpstr>Arial</vt:lpstr>
      <vt:lpstr>Calibri</vt:lpstr>
      <vt:lpstr>Calisto MT</vt:lpstr>
      <vt:lpstr>Tenorite</vt:lpstr>
      <vt:lpstr>Univers Condensed</vt:lpstr>
      <vt:lpstr>Monoline</vt:lpstr>
      <vt:lpstr>ChronicleVTI</vt:lpstr>
      <vt:lpstr>Starter Task</vt:lpstr>
      <vt:lpstr>Learning intentions and success criteria</vt:lpstr>
      <vt:lpstr>Analysis</vt:lpstr>
      <vt:lpstr>Iterative Development Phases</vt:lpstr>
      <vt:lpstr>Iteration</vt:lpstr>
      <vt:lpstr>Analysis</vt:lpstr>
      <vt:lpstr>PowerPoint Presentation</vt:lpstr>
      <vt:lpstr>Purpose &amp; Functional Requirements</vt:lpstr>
      <vt:lpstr>Example</vt:lpstr>
      <vt:lpstr>Analysis Task</vt:lpstr>
      <vt:lpstr>Learning intentions and success criteria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Timothy Wang (student)</dc:creator>
  <cp:lastModifiedBy>TWang (Bellahouston)</cp:lastModifiedBy>
  <cp:revision>165</cp:revision>
  <cp:lastPrinted>2025-08-18T09:52:00Z</cp:lastPrinted>
  <dcterms:created xsi:type="dcterms:W3CDTF">2025-02-10T23:03:02Z</dcterms:created>
  <dcterms:modified xsi:type="dcterms:W3CDTF">2025-09-02T10:17:46Z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0x010100CE3074FC08804A458A8C8F0DC4C1E099</vt:lpwstr>
  </property>
</Properties>
</file>