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358" r:id="rId5"/>
    <p:sldId id="296" r:id="rId6"/>
    <p:sldId id="256" r:id="rId7"/>
    <p:sldId id="406" r:id="rId8"/>
    <p:sldId id="407" r:id="rId9"/>
    <p:sldId id="409" r:id="rId10"/>
    <p:sldId id="408" r:id="rId11"/>
    <p:sldId id="410" r:id="rId12"/>
    <p:sldId id="411" r:id="rId13"/>
    <p:sldId id="412" r:id="rId14"/>
    <p:sldId id="414" r:id="rId15"/>
    <p:sldId id="413" r:id="rId16"/>
    <p:sldId id="426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3" r:id="rId26"/>
    <p:sldId id="424" r:id="rId27"/>
    <p:sldId id="425" r:id="rId28"/>
    <p:sldId id="427" r:id="rId29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992" y="150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17/09/2025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17/09/2025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62477-98FB-86F6-9017-C0FB79A3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497AE-4E78-3F6A-6D55-037BE9505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B8BC2-DED0-68DA-EDD0-401B91694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FAF-C33F-A3B8-9DB3-23C962B45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80765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98A0D-AFCD-66BA-6D8A-A8D98087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C6B26-3476-9D95-4530-BE994BB97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C562E-8407-B706-6BB3-F2A8C0E31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EC3A0-DCCA-AB19-6FF8-4F4C4B522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15118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8D97-6749-4F09-C4E2-3A15FDC8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3542E-88F1-DB23-DB6B-63C97EC3C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F2AFE-0836-1E0C-6AEB-64EDB6BD0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9CE43-5B6D-1328-0B55-566C592B5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217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CB467-DC35-4FC2-ABA6-1EC32A5E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9B6BE-A350-E130-ACE9-B5837DA33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C0A56-FFD6-B937-577A-2A942496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D16EB-68AA-8A15-D32F-A19AEA7B1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02943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08DC-3F2E-41BC-EDB9-1A776608C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EFE6B-1E88-F232-9EAD-266F38012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F419E-F070-C98A-7462-9769B2E66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0C916-9ABD-93DF-2AFE-CB2A82FD4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47036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590E-8D5C-2341-0314-6C31540E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13AAE-AFE7-A413-71A8-C757BD69D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33652-92D4-E611-0C4F-1A9E5A4D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49334-61FB-0053-C703-693B33B97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38266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F3EA-4BD2-264E-3E9A-1F133271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F58E4-C786-E34C-4B3C-0F605C028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ABC10-0429-F5CF-D8BC-34E356EDF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828BA-82D8-0913-AD34-C7BFD8097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8883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5A1DD-5F06-34F8-AFA1-40A5ACE2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D591B-ED51-65AE-9152-5CCCDBFA8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6CE32-9400-B230-DA82-AF4BB6298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033C5-4893-6622-D747-E172026FC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53672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A458A-4835-E805-D5DD-468F46B92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7DE13-ECAC-7A09-4E1B-C9FC29FF7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47010-D7E3-0D32-80DD-2D05FE059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A6098-F698-37FB-1258-6D30AA423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22203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969C-9780-61B6-84CE-BE427CA3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163C3-F62B-D1A8-8166-06CB03480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DE375-3994-0653-90F1-52158FCE4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B2893-8833-AC0D-88C5-3DC576A77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54981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72A1-6DB9-5350-50B0-8107E483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E185F-6320-D4D8-5333-7B087C825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8247C-5026-6E51-8CC6-E3117CFAD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2EEB1-01C1-9538-0544-1AB0D6339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17933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483F-62FD-013F-BFD7-F0A2BD48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6C7E7-140F-8B34-1EF9-FFB8EB20D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F6F7A-CF16-C7B3-37C7-0150A7029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60FA8-5BDB-56AE-960F-328232DE9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58762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3E226-980C-AA1A-2E5C-FAD005C4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FB559-7FC3-7A6A-8BC3-C5B982FCB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FD093-2CD5-D09B-FAF2-6358DBFD1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9A1E4-8D4F-2234-1E5C-2814ED181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07078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B670-972D-37B1-7EF1-924B4C84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CD1AC-062B-A692-D313-57F6FD63F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5745A-32D0-DB25-9B5F-92DA49F3C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A3A47-B7CD-17DE-E17A-164E462A3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475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6E21-8146-EEAC-7932-E3082BC1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721B6-F49A-A532-CB40-13BC37E81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818D5-4BCB-0C69-A680-9DB3D3B24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1B8B8-2CD5-3833-9535-9E90F747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16345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C400-4E07-DF3B-807B-7EC1BEEE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8680D-7163-F040-1097-349508E6B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F9218-7634-BF97-0838-8C3127016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5A357-CAF4-8A11-28FC-A8B48DCCD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14024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96DD-4A34-E52C-F0B9-E758413E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6EFA6-89DD-229F-F79F-E4B3326DF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F31FA-F382-1C0A-54A7-41F956C93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AA308-17D0-336F-075A-BAF719F19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89369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965D-C510-6914-AB28-DAE9475C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E0DD0-DD48-B0AA-E08F-7FEFFFADE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2139C-49B1-9B8C-879E-1805735D5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6013A-9BD6-5FE0-F2D8-74CB7DF8F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75874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AF7FC-E843-9081-21F8-F130765E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7C8DD-CC67-1E44-521D-F683C9BE7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3F609-7A9A-9CAD-93E3-19C609978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39CC6-1A84-6610-7827-56097E783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4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hecklist-task-to-do-list-plan-1295319/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pixabay.com/fr/la-r%C3%A9cursivit%C3%A9-ic%C3%B4ne-it%C3%A9ration-ic%C3%B4ne-2865934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3366-FA68-AD0E-B6BF-16615D57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535A19-DF8F-282B-3A60-8C84C58C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Starter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70197-473D-2B53-4477-3655C7E56C0F}"/>
              </a:ext>
            </a:extLst>
          </p:cNvPr>
          <p:cNvSpPr txBox="1"/>
          <p:nvPr/>
        </p:nvSpPr>
        <p:spPr>
          <a:xfrm>
            <a:off x="1303153" y="1594190"/>
            <a:ext cx="65376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Log into your PC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Open Teams and go to our class Team (4E Computing)</a:t>
            </a:r>
          </a:p>
          <a:p>
            <a:endParaRPr lang="en-GB" sz="2000" dirty="0"/>
          </a:p>
          <a:p>
            <a:r>
              <a:rPr lang="en-GB" sz="2000" dirty="0"/>
              <a:t>If you have done so: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You can see me about your </a:t>
            </a:r>
            <a:r>
              <a:rPr lang="en-GB" sz="2000" b="1" dirty="0"/>
              <a:t>assessment mark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i="1" dirty="0"/>
              <a:t>(Answers will be released soon)</a:t>
            </a:r>
          </a:p>
        </p:txBody>
      </p:sp>
      <p:pic>
        <p:nvPicPr>
          <p:cNvPr id="3" name="Picture 2" descr="A clipboard with a pencil and check marks&#10;&#10;AI-generated content may be incorrect.">
            <a:extLst>
              <a:ext uri="{FF2B5EF4-FFF2-40B4-BE49-F238E27FC236}">
                <a16:creationId xmlns:a16="http://schemas.microsoft.com/office/drawing/2014/main" id="{6123B080-2A82-F879-F166-0EDAC85C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290" y="4342665"/>
            <a:ext cx="1929420" cy="20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7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arithmetic operations and concatenation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selection constructs and logical operators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3659522-523D-64B6-2A66-6AD09301A83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557630" y="3279023"/>
                <a:ext cx="2957720" cy="3442453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arithmetic operators (+ - / * ^)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concatenation (&amp;) to join strings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selection operators		 (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sz="20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logical operators (AND, OR, NOT)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3659522-523D-64B6-2A66-6AD09301A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557630" y="3279023"/>
                <a:ext cx="2957720" cy="3442453"/>
              </a:xfrm>
              <a:blipFill>
                <a:blip r:embed="rId2"/>
                <a:stretch>
                  <a:fillRect l="-1856" t="-1062" r="-3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Expressions &amp; Operators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N5 - Software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8153" y="3054648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2E170-B2E4-E840-05BA-F1E70912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FE82-D9B1-CE07-1186-6BAA2265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Data Types Recap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E50A6-1C2C-2606-098C-9F10402A76C3}"/>
              </a:ext>
            </a:extLst>
          </p:cNvPr>
          <p:cNvSpPr txBox="1"/>
          <p:nvPr/>
        </p:nvSpPr>
        <p:spPr>
          <a:xfrm>
            <a:off x="1357632" y="1843950"/>
            <a:ext cx="642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time, we covered different </a:t>
            </a:r>
            <a:r>
              <a:rPr lang="en-US" b="1" dirty="0"/>
              <a:t>data types</a:t>
            </a:r>
            <a:r>
              <a:rPr lang="en-US" dirty="0"/>
              <a:t>:</a:t>
            </a:r>
          </a:p>
        </p:txBody>
      </p:sp>
      <p:pic>
        <p:nvPicPr>
          <p:cNvPr id="6" name="Picture 5" descr="A blue circle with white arrows&#10;&#10;AI-generated content may be incorrect.">
            <a:extLst>
              <a:ext uri="{FF2B5EF4-FFF2-40B4-BE49-F238E27FC236}">
                <a16:creationId xmlns:a16="http://schemas.microsoft.com/office/drawing/2014/main" id="{EAB4C456-E0E9-EB3C-10DA-4B51160AE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84516" y="413018"/>
            <a:ext cx="1337649" cy="133764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DF0439-A0CE-189B-0703-3C9ECF833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032589"/>
              </p:ext>
            </p:extLst>
          </p:nvPr>
        </p:nvGraphicFramePr>
        <p:xfrm>
          <a:off x="1357632" y="2306565"/>
          <a:ext cx="6428737" cy="4359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18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86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FF0000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FF0000"/>
                          </a:solidFill>
                        </a:rPr>
                        <a:t>Single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FF0000"/>
                          </a:solidFill>
                        </a:rPr>
                        <a:t>“A”, “B”, “C”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535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0070C0"/>
                          </a:solidFill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aseline="0" dirty="0">
                          <a:solidFill>
                            <a:srgbClr val="0070C0"/>
                          </a:solidFill>
                        </a:rPr>
                        <a:t>Text characters</a:t>
                      </a:r>
                      <a:endParaRPr lang="en-GB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70C0"/>
                          </a:solidFill>
                        </a:rPr>
                        <a:t>“Glasgow”  “C3P0”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86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7030A0"/>
                          </a:solidFill>
                        </a:rPr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7030A0"/>
                          </a:solidFill>
                        </a:rPr>
                        <a:t>Whole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7030A0"/>
                          </a:solidFill>
                        </a:rPr>
                        <a:t>2, 15, 18, 100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86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Real</a:t>
                      </a:r>
                      <a:r>
                        <a:rPr lang="en-GB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 Number</a:t>
                      </a:r>
                      <a:endParaRPr lang="en-GB" sz="2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2.45,</a:t>
                      </a:r>
                      <a:r>
                        <a:rPr lang="en-GB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  3.9,  12.994</a:t>
                      </a:r>
                      <a:endParaRPr lang="en-GB" sz="2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86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rgbClr val="00B050"/>
                          </a:solidFill>
                        </a:rPr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B050"/>
                          </a:solidFill>
                        </a:rPr>
                        <a:t>True or</a:t>
                      </a:r>
                      <a:r>
                        <a:rPr lang="en-GB" sz="2400" baseline="0" dirty="0">
                          <a:solidFill>
                            <a:srgbClr val="00B050"/>
                          </a:solidFill>
                        </a:rPr>
                        <a:t> False Value</a:t>
                      </a:r>
                      <a:endParaRPr lang="en-GB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rgbClr val="00B050"/>
                          </a:solidFill>
                        </a:rPr>
                        <a:t>True,</a:t>
                      </a:r>
                      <a:r>
                        <a:rPr lang="en-GB" sz="2400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GB" sz="2400" dirty="0">
                          <a:solidFill>
                            <a:srgbClr val="00B050"/>
                          </a:solidFill>
                        </a:rPr>
                        <a:t>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3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EB83F-E404-1B40-1D56-4E662532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C7A5-55EC-08A9-2D49-EB0B9C7F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A15F4-6069-3601-66B2-CA719DD5AB6D}"/>
              </a:ext>
            </a:extLst>
          </p:cNvPr>
          <p:cNvSpPr txBox="1"/>
          <p:nvPr/>
        </p:nvSpPr>
        <p:spPr>
          <a:xfrm>
            <a:off x="1357632" y="1843950"/>
            <a:ext cx="6428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Variables store a </a:t>
            </a:r>
            <a:r>
              <a:rPr lang="en-GB" b="1" dirty="0"/>
              <a:t>single piece of data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They can be used to </a:t>
            </a:r>
            <a:r>
              <a:rPr lang="en-GB" b="1" dirty="0"/>
              <a:t>store</a:t>
            </a:r>
            <a:r>
              <a:rPr lang="en-GB" dirty="0"/>
              <a:t> or </a:t>
            </a:r>
            <a:r>
              <a:rPr lang="en-GB" b="1" dirty="0"/>
              <a:t>display</a:t>
            </a:r>
            <a:r>
              <a:rPr lang="en-GB" dirty="0"/>
              <a:t>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GET </a:t>
            </a:r>
            <a:r>
              <a:rPr lang="en-GB" b="1" dirty="0">
                <a:solidFill>
                  <a:srgbClr val="FF0000"/>
                </a:solidFill>
              </a:rPr>
              <a:t>username </a:t>
            </a:r>
            <a:r>
              <a:rPr lang="en-GB" b="1" dirty="0"/>
              <a:t>from KEYBOARD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SEND </a:t>
            </a:r>
            <a:r>
              <a:rPr lang="en-GB" b="1" dirty="0" err="1">
                <a:solidFill>
                  <a:srgbClr val="FF0000"/>
                </a:solidFill>
              </a:rPr>
              <a:t>welcome_message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/>
              <a:t>to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 variable must be </a:t>
            </a:r>
            <a:r>
              <a:rPr lang="en-GB" b="1" dirty="0"/>
              <a:t>declared</a:t>
            </a:r>
            <a:r>
              <a:rPr lang="en-GB" dirty="0"/>
              <a:t> before it can be </a:t>
            </a:r>
            <a:r>
              <a:rPr lang="en-GB" b="1" dirty="0"/>
              <a:t>assigned</a:t>
            </a:r>
            <a:r>
              <a:rPr lang="en-GB" dirty="0"/>
              <a:t> a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DIM </a:t>
            </a:r>
            <a:r>
              <a:rPr lang="en-GB" b="1" dirty="0">
                <a:solidFill>
                  <a:srgbClr val="FF0000"/>
                </a:solidFill>
              </a:rPr>
              <a:t>age</a:t>
            </a:r>
            <a:r>
              <a:rPr lang="en-GB" b="1" dirty="0"/>
              <a:t> as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age = 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r>
              <a:rPr lang="en-GB" dirty="0"/>
              <a:t>When you </a:t>
            </a:r>
            <a:r>
              <a:rPr lang="en-GB" b="1" dirty="0"/>
              <a:t>declare</a:t>
            </a:r>
            <a:r>
              <a:rPr lang="en-GB" dirty="0"/>
              <a:t> a variable, you can </a:t>
            </a:r>
            <a:r>
              <a:rPr lang="en-GB" b="1" dirty="0"/>
              <a:t>initialise </a:t>
            </a:r>
            <a:r>
              <a:rPr lang="en-GB" dirty="0"/>
              <a:t>it with an </a:t>
            </a:r>
            <a:r>
              <a:rPr lang="en-GB" b="1" dirty="0"/>
              <a:t>initial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DIM </a:t>
            </a:r>
            <a:r>
              <a:rPr lang="en-GB" b="1" dirty="0">
                <a:solidFill>
                  <a:srgbClr val="FF0000"/>
                </a:solidFill>
              </a:rPr>
              <a:t>temperature</a:t>
            </a:r>
            <a:r>
              <a:rPr lang="en-GB" b="1" dirty="0"/>
              <a:t> as REAL = </a:t>
            </a:r>
            <a:r>
              <a:rPr lang="en-GB" b="1" dirty="0">
                <a:solidFill>
                  <a:srgbClr val="FF0000"/>
                </a:solidFill>
              </a:rPr>
              <a:t>0.00</a:t>
            </a:r>
          </a:p>
        </p:txBody>
      </p:sp>
    </p:spTree>
    <p:extLst>
      <p:ext uri="{BB962C8B-B14F-4D97-AF65-F5344CB8AC3E}">
        <p14:creationId xmlns:p14="http://schemas.microsoft.com/office/powerpoint/2010/main" val="97083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AEA3-2579-E57F-26E1-C0E2682E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D137-360F-7BFA-37A5-129E7BA9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Variable Terms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A633D-0FC1-48CF-9435-248AAB7BE000}"/>
              </a:ext>
            </a:extLst>
          </p:cNvPr>
          <p:cNvSpPr txBox="1"/>
          <p:nvPr/>
        </p:nvSpPr>
        <p:spPr>
          <a:xfrm>
            <a:off x="1357632" y="1843950"/>
            <a:ext cx="6428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Declaring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Creating a new variable and setting its name and 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FF0000"/>
                </a:solidFill>
              </a:rPr>
              <a:t>DIM </a:t>
            </a:r>
            <a:r>
              <a:rPr lang="en-GB" i="1" dirty="0" err="1">
                <a:solidFill>
                  <a:srgbClr val="FF0000"/>
                </a:solidFill>
              </a:rPr>
              <a:t>is_raining</a:t>
            </a:r>
            <a:r>
              <a:rPr lang="en-GB" i="1" dirty="0">
                <a:solidFill>
                  <a:srgbClr val="FF0000"/>
                </a:solidFill>
              </a:rPr>
              <a:t> as BOOLEAN</a:t>
            </a:r>
          </a:p>
          <a:p>
            <a:endParaRPr lang="en-GB" b="1" dirty="0"/>
          </a:p>
          <a:p>
            <a:r>
              <a:rPr lang="en-GB" b="1" dirty="0"/>
              <a:t>Assigning</a:t>
            </a:r>
            <a:endParaRPr lang="en-GB" dirty="0"/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Giving a variable a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 err="1">
                <a:solidFill>
                  <a:srgbClr val="FF0000"/>
                </a:solidFill>
              </a:rPr>
              <a:t>is_raining</a:t>
            </a:r>
            <a:r>
              <a:rPr lang="en-GB" i="1" dirty="0">
                <a:solidFill>
                  <a:srgbClr val="FF0000"/>
                </a:solidFill>
              </a:rPr>
              <a:t> = 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Initialising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Resetting or clearing the contents of a variable before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Giving a variable an initial value after declaring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FF0000"/>
                </a:solidFill>
              </a:rPr>
              <a:t>sum = 0</a:t>
            </a:r>
          </a:p>
        </p:txBody>
      </p:sp>
    </p:spTree>
    <p:extLst>
      <p:ext uri="{BB962C8B-B14F-4D97-AF65-F5344CB8AC3E}">
        <p14:creationId xmlns:p14="http://schemas.microsoft.com/office/powerpoint/2010/main" val="20894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3229-6D5E-C0C5-2EC1-1EE54785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CEAD-289F-E015-E814-73D59B14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Expressions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2DADF-3801-69B1-ED3F-A559E5F700AB}"/>
              </a:ext>
            </a:extLst>
          </p:cNvPr>
          <p:cNvSpPr txBox="1"/>
          <p:nvPr/>
        </p:nvSpPr>
        <p:spPr>
          <a:xfrm>
            <a:off x="1357632" y="1843950"/>
            <a:ext cx="6428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 expression is a combination of </a:t>
            </a:r>
            <a:r>
              <a:rPr lang="en-GB" b="1" dirty="0">
                <a:solidFill>
                  <a:schemeClr val="accent2"/>
                </a:solidFill>
              </a:rPr>
              <a:t>variables</a:t>
            </a:r>
            <a:r>
              <a:rPr lang="en-GB" dirty="0"/>
              <a:t>,</a:t>
            </a:r>
            <a:r>
              <a:rPr lang="en-GB" b="1" dirty="0">
                <a:solidFill>
                  <a:schemeClr val="accent2"/>
                </a:solidFill>
              </a:rPr>
              <a:t> </a:t>
            </a:r>
            <a:r>
              <a:rPr lang="en-GB" b="1" dirty="0">
                <a:solidFill>
                  <a:schemeClr val="accent4"/>
                </a:solidFill>
              </a:rPr>
              <a:t>constants</a:t>
            </a:r>
            <a:r>
              <a:rPr lang="en-GB" b="1" dirty="0">
                <a:solidFill>
                  <a:schemeClr val="accent2"/>
                </a:solidFill>
              </a:rPr>
              <a:t> </a:t>
            </a:r>
            <a:r>
              <a:rPr lang="en-GB" dirty="0"/>
              <a:t>and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5"/>
                </a:solidFill>
              </a:rPr>
              <a:t>operators</a:t>
            </a:r>
            <a:r>
              <a:rPr lang="en-GB" dirty="0"/>
              <a:t> which may be </a:t>
            </a:r>
            <a:r>
              <a:rPr lang="en-GB" b="1" dirty="0"/>
              <a:t>evaluated</a:t>
            </a:r>
            <a:r>
              <a:rPr lang="en-GB" dirty="0"/>
              <a:t> to determine a </a:t>
            </a:r>
            <a:r>
              <a:rPr lang="en-GB" b="1" dirty="0">
                <a:solidFill>
                  <a:schemeClr val="accent6"/>
                </a:solidFill>
              </a:rPr>
              <a:t>result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For example: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/>
                </a:solidFill>
              </a:rPr>
              <a:t>sum</a:t>
            </a:r>
            <a:r>
              <a:rPr lang="en-GB" dirty="0"/>
              <a:t> = </a:t>
            </a:r>
            <a:r>
              <a:rPr lang="en-GB" b="1" dirty="0">
                <a:solidFill>
                  <a:schemeClr val="accent4"/>
                </a:solidFill>
              </a:rPr>
              <a:t>1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+</a:t>
            </a:r>
            <a:r>
              <a:rPr lang="en-GB" dirty="0"/>
              <a:t> </a:t>
            </a:r>
            <a:r>
              <a:rPr lang="en-GB" b="1" dirty="0">
                <a:solidFill>
                  <a:schemeClr val="accent4"/>
                </a:solidFill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/>
                </a:solidFill>
              </a:rPr>
              <a:t>average</a:t>
            </a:r>
            <a:r>
              <a:rPr lang="en-GB" dirty="0"/>
              <a:t> = </a:t>
            </a:r>
            <a:r>
              <a:rPr lang="en-GB" b="1" dirty="0">
                <a:solidFill>
                  <a:schemeClr val="accent2"/>
                </a:solidFill>
              </a:rPr>
              <a:t>total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/</a:t>
            </a:r>
            <a:r>
              <a:rPr lang="en-GB" dirty="0"/>
              <a:t> </a:t>
            </a:r>
            <a:r>
              <a:rPr lang="en-GB" b="1" dirty="0">
                <a:solidFill>
                  <a:schemeClr val="accent4"/>
                </a:solidFill>
              </a:rPr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/>
                </a:solidFill>
              </a:rPr>
              <a:t>area</a:t>
            </a:r>
            <a:r>
              <a:rPr lang="en-GB" dirty="0"/>
              <a:t> = </a:t>
            </a:r>
            <a:r>
              <a:rPr lang="en-GB" b="1" dirty="0">
                <a:solidFill>
                  <a:schemeClr val="accent2"/>
                </a:solidFill>
              </a:rPr>
              <a:t>length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*</a:t>
            </a:r>
            <a:r>
              <a:rPr lang="en-GB" dirty="0"/>
              <a:t> </a:t>
            </a:r>
            <a:r>
              <a:rPr lang="en-GB" b="1" dirty="0">
                <a:solidFill>
                  <a:schemeClr val="accent2"/>
                </a:solidFill>
              </a:rPr>
              <a:t>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/>
                </a:solidFill>
              </a:rPr>
              <a:t>message</a:t>
            </a:r>
            <a:r>
              <a:rPr lang="en-GB" dirty="0"/>
              <a:t> = </a:t>
            </a:r>
            <a:r>
              <a:rPr lang="en-GB" b="1" dirty="0">
                <a:solidFill>
                  <a:schemeClr val="accent4"/>
                </a:solidFill>
              </a:rPr>
              <a:t>“Hello” </a:t>
            </a:r>
            <a:r>
              <a:rPr lang="en-GB" b="1" dirty="0">
                <a:solidFill>
                  <a:schemeClr val="accent5"/>
                </a:solidFill>
              </a:rPr>
              <a:t>&amp;</a:t>
            </a:r>
            <a:r>
              <a:rPr lang="en-GB" dirty="0"/>
              <a:t> </a:t>
            </a:r>
            <a:r>
              <a:rPr lang="en-GB" b="1" dirty="0">
                <a:solidFill>
                  <a:schemeClr val="accent2"/>
                </a:solidFill>
              </a:rPr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And also: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4"/>
                </a:solidFill>
              </a:rPr>
              <a:t>5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&gt;</a:t>
            </a:r>
            <a:r>
              <a:rPr lang="en-GB" dirty="0"/>
              <a:t> </a:t>
            </a:r>
            <a:r>
              <a:rPr lang="en-GB" b="1" dirty="0">
                <a:solidFill>
                  <a:schemeClr val="accent4"/>
                </a:solidFill>
              </a:rPr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4"/>
                </a:solidFill>
              </a:rPr>
              <a:t>6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=</a:t>
            </a:r>
            <a:r>
              <a:rPr lang="en-GB" b="1" dirty="0">
                <a:solidFill>
                  <a:schemeClr val="accent4"/>
                </a:solidFill>
              </a:rPr>
              <a:t>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2"/>
                </a:solidFill>
              </a:rPr>
              <a:t>num1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&lt;</a:t>
            </a:r>
            <a:r>
              <a:rPr lang="en-GB" dirty="0"/>
              <a:t> </a:t>
            </a:r>
            <a:r>
              <a:rPr lang="en-GB" b="1" dirty="0">
                <a:solidFill>
                  <a:schemeClr val="accent2"/>
                </a:solidFill>
              </a:rPr>
              <a:t>num2</a:t>
            </a:r>
          </a:p>
        </p:txBody>
      </p:sp>
    </p:spTree>
    <p:extLst>
      <p:ext uri="{BB962C8B-B14F-4D97-AF65-F5344CB8AC3E}">
        <p14:creationId xmlns:p14="http://schemas.microsoft.com/office/powerpoint/2010/main" val="232146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CEEB-3704-9FBF-2CF7-EF699EF6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9854-E2E5-5C52-28E9-45E1CA50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Arithmetic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2F8CC-F352-AB47-367E-1561DF4AE7C9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Calculations that are performed within a program. They include </a:t>
            </a:r>
            <a:r>
              <a:rPr lang="en-GB" b="1" dirty="0"/>
              <a:t>arithmetic operators</a:t>
            </a:r>
            <a:r>
              <a:rPr lang="en-GB" dirty="0"/>
              <a:t>, such as: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BC08CB-0DF4-79DD-9C6D-0E70A070A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677059"/>
              </p:ext>
            </p:extLst>
          </p:nvPr>
        </p:nvGraphicFramePr>
        <p:xfrm>
          <a:off x="1357631" y="2704162"/>
          <a:ext cx="642873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099">
                  <a:extLst>
                    <a:ext uri="{9D8B030D-6E8A-4147-A177-3AD203B41FA5}">
                      <a16:colId xmlns:a16="http://schemas.microsoft.com/office/drawing/2014/main" val="4026921053"/>
                    </a:ext>
                  </a:extLst>
                </a:gridCol>
                <a:gridCol w="1386942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318695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 + 4 =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Minus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 – 5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 * 3 =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 / 4 =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^</a:t>
                      </a:r>
                    </a:p>
                    <a:p>
                      <a:pPr algn="ctr"/>
                      <a:r>
                        <a:rPr lang="en-GB" dirty="0"/>
                        <a:t>(sometimes **)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 ^ 2 = 36</a:t>
                      </a:r>
                    </a:p>
                    <a:p>
                      <a:r>
                        <a:rPr lang="en-GB" dirty="0"/>
                        <a:t>2 ** 8 = 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731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1DE29B4-2755-874C-189A-00AF30A6B67E}"/>
              </a:ext>
            </a:extLst>
          </p:cNvPr>
          <p:cNvSpPr/>
          <p:nvPr/>
        </p:nvSpPr>
        <p:spPr>
          <a:xfrm>
            <a:off x="1466722" y="3123688"/>
            <a:ext cx="6216693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CAA51A-2DC6-4E92-DEC8-36C24E418FE3}"/>
              </a:ext>
            </a:extLst>
          </p:cNvPr>
          <p:cNvSpPr/>
          <p:nvPr/>
        </p:nvSpPr>
        <p:spPr>
          <a:xfrm>
            <a:off x="1463652" y="3492584"/>
            <a:ext cx="6216693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51657E-EC31-64A3-BDF1-D3968A67F648}"/>
              </a:ext>
            </a:extLst>
          </p:cNvPr>
          <p:cNvSpPr/>
          <p:nvPr/>
        </p:nvSpPr>
        <p:spPr>
          <a:xfrm>
            <a:off x="1460582" y="3861480"/>
            <a:ext cx="6216693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741743-198A-3CBF-B5EA-91154C9D6C27}"/>
              </a:ext>
            </a:extLst>
          </p:cNvPr>
          <p:cNvSpPr/>
          <p:nvPr/>
        </p:nvSpPr>
        <p:spPr>
          <a:xfrm>
            <a:off x="1457512" y="4230376"/>
            <a:ext cx="6216693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F929F9-DD38-B637-16E3-136C90B19224}"/>
              </a:ext>
            </a:extLst>
          </p:cNvPr>
          <p:cNvSpPr/>
          <p:nvPr/>
        </p:nvSpPr>
        <p:spPr>
          <a:xfrm>
            <a:off x="1454442" y="4599272"/>
            <a:ext cx="6216693" cy="555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8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70F9-9795-7763-D1D4-00307586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A646-9619-4748-F871-D2D18556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Concatenation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2B838-0B90-CC29-759F-B971C8341E2D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 expression can also contain </a:t>
            </a:r>
            <a:r>
              <a:rPr lang="en-GB" b="1" dirty="0"/>
              <a:t>concatenation</a:t>
            </a:r>
            <a:r>
              <a:rPr lang="en-GB" dirty="0"/>
              <a:t>, which is when two or more </a:t>
            </a:r>
            <a:r>
              <a:rPr lang="en-GB" b="1" dirty="0"/>
              <a:t>strings </a:t>
            </a:r>
            <a:r>
              <a:rPr lang="en-GB" dirty="0"/>
              <a:t> are joined together.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2E6E9B-264D-8904-08AA-7720F8232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36437"/>
              </p:ext>
            </p:extLst>
          </p:nvPr>
        </p:nvGraphicFramePr>
        <p:xfrm>
          <a:off x="1357631" y="2704162"/>
          <a:ext cx="64287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117">
                  <a:extLst>
                    <a:ext uri="{9D8B030D-6E8A-4147-A177-3AD203B41FA5}">
                      <a16:colId xmlns:a16="http://schemas.microsoft.com/office/drawing/2014/main" val="4026921053"/>
                    </a:ext>
                  </a:extLst>
                </a:gridCol>
                <a:gridCol w="1834937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183682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Concatenate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“Fire” &amp; “man” = “Fireman”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43988F-3FA2-0776-3AEA-6A0CBE4F947E}"/>
              </a:ext>
            </a:extLst>
          </p:cNvPr>
          <p:cNvSpPr txBox="1"/>
          <p:nvPr/>
        </p:nvSpPr>
        <p:spPr>
          <a:xfrm>
            <a:off x="1357631" y="3721389"/>
            <a:ext cx="64287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Variables which are strings can be used in concatenation: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5"/>
                </a:solidFill>
              </a:rPr>
              <a:t>Word1</a:t>
            </a:r>
            <a:r>
              <a:rPr lang="en-GB" dirty="0"/>
              <a:t> = “Seven”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6"/>
                </a:solidFill>
              </a:rPr>
              <a:t>Word2</a:t>
            </a:r>
            <a:r>
              <a:rPr lang="en-GB" dirty="0"/>
              <a:t> = “Six”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annoying_catchphrase</a:t>
            </a:r>
            <a:r>
              <a:rPr lang="en-GB" dirty="0"/>
              <a:t> = </a:t>
            </a:r>
            <a:r>
              <a:rPr lang="en-GB" b="1" dirty="0">
                <a:solidFill>
                  <a:schemeClr val="accent6"/>
                </a:solidFill>
              </a:rPr>
              <a:t>Word2</a:t>
            </a:r>
            <a:r>
              <a:rPr lang="en-GB" dirty="0"/>
              <a:t> &amp; </a:t>
            </a:r>
            <a:r>
              <a:rPr lang="en-GB" b="1" dirty="0">
                <a:solidFill>
                  <a:schemeClr val="accent5"/>
                </a:solidFill>
              </a:rPr>
              <a:t>Word1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annoying_catchphrase</a:t>
            </a:r>
            <a:r>
              <a:rPr lang="en-GB" b="1" dirty="0"/>
              <a:t> = ???</a:t>
            </a:r>
          </a:p>
        </p:txBody>
      </p:sp>
    </p:spTree>
    <p:extLst>
      <p:ext uri="{BB962C8B-B14F-4D97-AF65-F5344CB8AC3E}">
        <p14:creationId xmlns:p14="http://schemas.microsoft.com/office/powerpoint/2010/main" val="73189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DEAFB-178F-3AAC-D344-3D8AE991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76F4-0B2C-863E-2B5E-F9528DCA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Selection Constructs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AB485-7B8F-D816-63A4-1230F28351AB}"/>
              </a:ext>
            </a:extLst>
          </p:cNvPr>
          <p:cNvSpPr txBox="1"/>
          <p:nvPr/>
        </p:nvSpPr>
        <p:spPr>
          <a:xfrm>
            <a:off x="1357632" y="1843950"/>
            <a:ext cx="6428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conditions (“if” statements), you often use </a:t>
            </a:r>
            <a:r>
              <a:rPr lang="en-GB" b="1" dirty="0"/>
              <a:t>selection operators </a:t>
            </a:r>
            <a:r>
              <a:rPr lang="en-GB" dirty="0"/>
              <a:t>such as: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A52D5F-2909-86FB-7DC6-94A3288C69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4169480"/>
                  </p:ext>
                </p:extLst>
              </p:nvPr>
            </p:nvGraphicFramePr>
            <p:xfrm>
              <a:off x="1357631" y="2704162"/>
              <a:ext cx="6428736" cy="340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092">
                      <a:extLst>
                        <a:ext uri="{9D8B030D-6E8A-4147-A177-3AD203B41FA5}">
                          <a16:colId xmlns:a16="http://schemas.microsoft.com/office/drawing/2014/main" val="4026921053"/>
                        </a:ext>
                      </a:extLst>
                    </a:gridCol>
                    <a:gridCol w="2626599">
                      <a:extLst>
                        <a:ext uri="{9D8B030D-6E8A-4147-A177-3AD203B41FA5}">
                          <a16:colId xmlns:a16="http://schemas.microsoft.com/office/drawing/2014/main" val="4214018768"/>
                        </a:ext>
                      </a:extLst>
                    </a:gridCol>
                    <a:gridCol w="2662045">
                      <a:extLst>
                        <a:ext uri="{9D8B030D-6E8A-4147-A177-3AD203B41FA5}">
                          <a16:colId xmlns:a16="http://schemas.microsoft.com/office/drawing/2014/main" val="3567854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32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&lt; 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28550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 &gt;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63978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  <a:p>
                          <a:pPr algn="ctr"/>
                          <a:r>
                            <a:rPr lang="en-GB" i="1" dirty="0"/>
                            <a:t>(&lt;=)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 err="1"/>
                            <a:t>pass_rate</a:t>
                          </a:r>
                          <a:r>
                            <a:rPr lang="en-GB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dirty="0"/>
                            <a:t> 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5268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  <a:p>
                          <a:pPr algn="ctr"/>
                          <a:r>
                            <a:rPr lang="en-GB" i="1" dirty="0"/>
                            <a:t>(&gt;=)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 err="1"/>
                            <a:t>driving_age</a:t>
                          </a:r>
                          <a:r>
                            <a:rPr lang="en-GB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en-GB" dirty="0"/>
                            <a:t> 17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917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+ 5 = 4 + 4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4673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  <a:p>
                          <a:pPr algn="ctr"/>
                          <a:r>
                            <a:rPr lang="en-GB" i="1" dirty="0"/>
                            <a:t>(&lt;&gt; or !=)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Not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 err="1"/>
                            <a:t>six_seven</a:t>
                          </a:r>
                          <a:r>
                            <a:rPr lang="en-GB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</m:oMath>
                          </a14:m>
                          <a:r>
                            <a:rPr lang="en-GB" dirty="0"/>
                            <a:t> </a:t>
                          </a:r>
                          <a:r>
                            <a:rPr lang="en-GB" dirty="0" err="1"/>
                            <a:t>funny_joke</a:t>
                          </a: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8739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A52D5F-2909-86FB-7DC6-94A3288C69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4169480"/>
                  </p:ext>
                </p:extLst>
              </p:nvPr>
            </p:nvGraphicFramePr>
            <p:xfrm>
              <a:off x="1357631" y="2704162"/>
              <a:ext cx="6428736" cy="340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092">
                      <a:extLst>
                        <a:ext uri="{9D8B030D-6E8A-4147-A177-3AD203B41FA5}">
                          <a16:colId xmlns:a16="http://schemas.microsoft.com/office/drawing/2014/main" val="4026921053"/>
                        </a:ext>
                      </a:extLst>
                    </a:gridCol>
                    <a:gridCol w="2626599">
                      <a:extLst>
                        <a:ext uri="{9D8B030D-6E8A-4147-A177-3AD203B41FA5}">
                          <a16:colId xmlns:a16="http://schemas.microsoft.com/office/drawing/2014/main" val="4214018768"/>
                        </a:ext>
                      </a:extLst>
                    </a:gridCol>
                    <a:gridCol w="2662045">
                      <a:extLst>
                        <a:ext uri="{9D8B030D-6E8A-4147-A177-3AD203B41FA5}">
                          <a16:colId xmlns:a16="http://schemas.microsoft.com/office/drawing/2014/main" val="3567854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1232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108197" r="-466845" b="-7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&lt; 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28550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208197" r="-466845" b="-6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7 &gt;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639785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179048" r="-466845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Less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876" t="-179048" r="-915" b="-2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52684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279048" r="-466845" b="-1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Greater than or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876" t="-279048" r="-915" b="-1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917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652459" r="-466845" b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 + 5 = 4 + 4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46731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5" t="-437143" r="-466845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Not equal 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1876" t="-437143" r="-915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739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90D37B0-3E55-96F4-5E8F-38864C092F29}"/>
              </a:ext>
            </a:extLst>
          </p:cNvPr>
          <p:cNvSpPr/>
          <p:nvPr/>
        </p:nvSpPr>
        <p:spPr>
          <a:xfrm>
            <a:off x="1466722" y="3123688"/>
            <a:ext cx="6216693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6CBC81-22DC-1A76-07C5-F0F75675D62B}"/>
              </a:ext>
            </a:extLst>
          </p:cNvPr>
          <p:cNvSpPr/>
          <p:nvPr/>
        </p:nvSpPr>
        <p:spPr>
          <a:xfrm>
            <a:off x="1463652" y="3487156"/>
            <a:ext cx="6216693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FBD48-7B48-B57C-066E-47CA6903920E}"/>
              </a:ext>
            </a:extLst>
          </p:cNvPr>
          <p:cNvSpPr/>
          <p:nvPr/>
        </p:nvSpPr>
        <p:spPr>
          <a:xfrm>
            <a:off x="1460582" y="3832213"/>
            <a:ext cx="6216693" cy="588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A8410-686F-0005-4098-A849C077B5BD}"/>
              </a:ext>
            </a:extLst>
          </p:cNvPr>
          <p:cNvSpPr/>
          <p:nvPr/>
        </p:nvSpPr>
        <p:spPr>
          <a:xfrm>
            <a:off x="1460582" y="4482117"/>
            <a:ext cx="6216693" cy="5885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1140E9-EEEA-6F1C-A274-90EC8E4A1857}"/>
              </a:ext>
            </a:extLst>
          </p:cNvPr>
          <p:cNvSpPr/>
          <p:nvPr/>
        </p:nvSpPr>
        <p:spPr>
          <a:xfrm>
            <a:off x="1460582" y="5107475"/>
            <a:ext cx="6216693" cy="354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926FE7-10D1-E167-8001-90A58AD75430}"/>
              </a:ext>
            </a:extLst>
          </p:cNvPr>
          <p:cNvSpPr/>
          <p:nvPr/>
        </p:nvSpPr>
        <p:spPr>
          <a:xfrm>
            <a:off x="1460582" y="5492537"/>
            <a:ext cx="6216693" cy="5823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796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EBA7-5AC9-FBE0-A8E3-9A92E6B92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9937-CB42-4341-2B2B-3F3917104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Evaluating Expressions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AD78C-43BB-8F1C-28AF-EBEB207D8774}"/>
              </a:ext>
            </a:extLst>
          </p:cNvPr>
          <p:cNvSpPr txBox="1"/>
          <p:nvPr/>
        </p:nvSpPr>
        <p:spPr>
          <a:xfrm>
            <a:off x="1357632" y="1843950"/>
            <a:ext cx="642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Selection operations will always result in either </a:t>
            </a:r>
            <a:r>
              <a:rPr lang="en-GB" b="1" dirty="0"/>
              <a:t>True</a:t>
            </a:r>
            <a:r>
              <a:rPr lang="en-GB" dirty="0"/>
              <a:t> or </a:t>
            </a:r>
            <a:r>
              <a:rPr lang="en-GB" b="1" dirty="0"/>
              <a:t>False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241C39-CF06-A58B-AE91-C9565691D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409002"/>
              </p:ext>
            </p:extLst>
          </p:nvPr>
        </p:nvGraphicFramePr>
        <p:xfrm>
          <a:off x="1357631" y="2704162"/>
          <a:ext cx="642873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824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235912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 &gt;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 &lt;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9.4 = 2.0 + 5.5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10 &gt;=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(5 – 3) &lt;&gt; (1 + 1)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673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(10 ^ 2) / 2 = 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7396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79A7F0B-4259-FFCC-3917-373BECC5E233}"/>
              </a:ext>
            </a:extLst>
          </p:cNvPr>
          <p:cNvSpPr/>
          <p:nvPr/>
        </p:nvSpPr>
        <p:spPr>
          <a:xfrm>
            <a:off x="4572000" y="3117551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91FFDB-BE06-CA4C-C77A-F6D4D90EF095}"/>
              </a:ext>
            </a:extLst>
          </p:cNvPr>
          <p:cNvSpPr/>
          <p:nvPr/>
        </p:nvSpPr>
        <p:spPr>
          <a:xfrm>
            <a:off x="4571999" y="3484234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F63C54-7328-2F68-4BA8-907358CDA6B0}"/>
              </a:ext>
            </a:extLst>
          </p:cNvPr>
          <p:cNvSpPr/>
          <p:nvPr/>
        </p:nvSpPr>
        <p:spPr>
          <a:xfrm>
            <a:off x="4571998" y="3850917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C2882-AA68-80B3-A744-03A54C1E3AD1}"/>
              </a:ext>
            </a:extLst>
          </p:cNvPr>
          <p:cNvSpPr/>
          <p:nvPr/>
        </p:nvSpPr>
        <p:spPr>
          <a:xfrm>
            <a:off x="4571997" y="4217600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6E8589-9B2C-3372-AA5B-45688132BD20}"/>
              </a:ext>
            </a:extLst>
          </p:cNvPr>
          <p:cNvSpPr/>
          <p:nvPr/>
        </p:nvSpPr>
        <p:spPr>
          <a:xfrm>
            <a:off x="4571996" y="4584283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C34E45-CD0C-4AA4-5705-930149FCDA19}"/>
              </a:ext>
            </a:extLst>
          </p:cNvPr>
          <p:cNvSpPr/>
          <p:nvPr/>
        </p:nvSpPr>
        <p:spPr>
          <a:xfrm>
            <a:off x="4571995" y="4950966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610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A62FA-7D92-AEFB-697F-ADF055427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Evaluating Expressions Quiz</a:t>
            </a:r>
          </a:p>
        </p:txBody>
      </p:sp>
    </p:spTree>
    <p:extLst>
      <p:ext uri="{BB962C8B-B14F-4D97-AF65-F5344CB8AC3E}">
        <p14:creationId xmlns:p14="http://schemas.microsoft.com/office/powerpoint/2010/main" val="99867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A52F-4E1C-9D7D-D37A-625E08BC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B335-C1AA-2300-49DC-8EF3F901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 handy Shortcut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00C83-30EE-4127-F1CD-3A8A8867E817}"/>
              </a:ext>
            </a:extLst>
          </p:cNvPr>
          <p:cNvSpPr txBox="1"/>
          <p:nvPr/>
        </p:nvSpPr>
        <p:spPr>
          <a:xfrm>
            <a:off x="1357631" y="1843950"/>
            <a:ext cx="6540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US" dirty="0"/>
              <a:t>In a condition, you can check a variable’s “Truth” without needing to write </a:t>
            </a:r>
            <a:r>
              <a:rPr lang="en-US" b="1" dirty="0"/>
              <a:t>= True</a:t>
            </a:r>
            <a:r>
              <a:rPr lang="en-US" dirty="0"/>
              <a:t> or </a:t>
            </a:r>
            <a:r>
              <a:rPr lang="en-US" b="1" dirty="0"/>
              <a:t>= False</a:t>
            </a:r>
            <a:r>
              <a:rPr lang="en-US" dirty="0"/>
              <a:t>.</a:t>
            </a:r>
          </a:p>
          <a:p>
            <a:pPr indent="-283210"/>
            <a:endParaRPr lang="en-US" dirty="0"/>
          </a:p>
          <a:p>
            <a:pPr indent="-283210"/>
            <a:r>
              <a:rPr lang="en-US" dirty="0"/>
              <a:t>For example:</a:t>
            </a:r>
          </a:p>
          <a:p>
            <a:pPr indent="-283210"/>
            <a:endParaRPr lang="en-US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 err="1"/>
              <a:t>has_license</a:t>
            </a:r>
            <a:r>
              <a:rPr lang="en-US" b="1" dirty="0"/>
              <a:t> = True </a:t>
            </a:r>
            <a:r>
              <a:rPr lang="en-US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US" dirty="0"/>
              <a:t>    DISPLAY “You can drive”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US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Is the same as:</a:t>
            </a:r>
          </a:p>
          <a:p>
            <a:endParaRPr lang="en-US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 err="1"/>
              <a:t>has_license</a:t>
            </a:r>
            <a:r>
              <a:rPr lang="en-US" b="1" dirty="0"/>
              <a:t> </a:t>
            </a:r>
            <a:r>
              <a:rPr lang="en-US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US" dirty="0"/>
              <a:t>    DISPLAY “You can drive”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US" dirty="0"/>
              <a:t>END IF</a:t>
            </a:r>
          </a:p>
          <a:p>
            <a:endParaRPr lang="en-US" dirty="0"/>
          </a:p>
          <a:p>
            <a:r>
              <a:rPr lang="en-US" dirty="0"/>
              <a:t>This only works for variables that have a </a:t>
            </a:r>
            <a:r>
              <a:rPr lang="en-US" b="1" dirty="0"/>
              <a:t>Boolean data type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1826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2964-E705-AAB0-78A6-66EED5E2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13A4-1AC3-5372-ABF0-5B6A3F9C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Logical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5E354-8CD3-4B8A-63D7-BF0FB5D87C88}"/>
              </a:ext>
            </a:extLst>
          </p:cNvPr>
          <p:cNvSpPr txBox="1"/>
          <p:nvPr/>
        </p:nvSpPr>
        <p:spPr>
          <a:xfrm>
            <a:off x="1357632" y="1843950"/>
            <a:ext cx="68044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Simple conditional statements contain just </a:t>
            </a:r>
            <a:r>
              <a:rPr lang="en-GB" b="1" dirty="0"/>
              <a:t>one expression</a:t>
            </a:r>
            <a:r>
              <a:rPr lang="en-GB" dirty="0"/>
              <a:t>. For example: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rgbClr val="FF0000"/>
                </a:solidFill>
              </a:rPr>
              <a:t>age &gt;= 18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rgbClr val="FF0000"/>
                </a:solidFill>
              </a:rPr>
              <a:t>password = “MrW4NG”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rgbClr val="FF0000"/>
                </a:solidFill>
              </a:rPr>
              <a:t>length * height &lt; 100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Complex</a:t>
            </a:r>
            <a:r>
              <a:rPr lang="en-GB" dirty="0"/>
              <a:t> conditional statements contain </a:t>
            </a:r>
            <a:r>
              <a:rPr lang="en-GB" b="1" dirty="0"/>
              <a:t>two or more </a:t>
            </a:r>
            <a:r>
              <a:rPr lang="en-GB" dirty="0"/>
              <a:t>expressions: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5"/>
                </a:solidFill>
              </a:rPr>
              <a:t>temperature &gt; 0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>
                <a:solidFill>
                  <a:schemeClr val="accent6"/>
                </a:solidFill>
              </a:rPr>
              <a:t>temperature &lt; 25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5"/>
                </a:solidFill>
              </a:rPr>
              <a:t>age &lt; 16 </a:t>
            </a:r>
            <a:r>
              <a:rPr lang="en-GB" b="1" dirty="0"/>
              <a:t>OR</a:t>
            </a:r>
            <a:r>
              <a:rPr lang="en-GB" dirty="0"/>
              <a:t> </a:t>
            </a:r>
            <a:r>
              <a:rPr lang="en-GB" b="1" dirty="0">
                <a:solidFill>
                  <a:schemeClr val="accent6"/>
                </a:solidFill>
              </a:rPr>
              <a:t>verified = False</a:t>
            </a:r>
            <a:r>
              <a:rPr lang="en-GB" dirty="0">
                <a:solidFill>
                  <a:schemeClr val="accent6"/>
                </a:solidFill>
              </a:rPr>
              <a:t>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5"/>
                </a:solidFill>
              </a:rPr>
              <a:t>size = “Medium” </a:t>
            </a:r>
            <a:r>
              <a:rPr lang="en-GB" b="1" dirty="0"/>
              <a:t>OR NOT </a:t>
            </a:r>
            <a:r>
              <a:rPr lang="en-GB" b="1" dirty="0" err="1">
                <a:solidFill>
                  <a:schemeClr val="accent6"/>
                </a:solidFill>
              </a:rPr>
              <a:t>in_stock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 err="1">
                <a:solidFill>
                  <a:schemeClr val="accent5"/>
                </a:solidFill>
              </a:rPr>
              <a:t>has_showered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 err="1">
                <a:solidFill>
                  <a:schemeClr val="accent6"/>
                </a:solidFill>
              </a:rPr>
              <a:t>has_dressed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 err="1">
                <a:solidFill>
                  <a:schemeClr val="accent2"/>
                </a:solidFill>
              </a:rPr>
              <a:t>has_eaten</a:t>
            </a:r>
            <a:r>
              <a:rPr lang="en-GB" b="1" dirty="0">
                <a:solidFill>
                  <a:schemeClr val="accent2"/>
                </a:solidFill>
              </a:rPr>
              <a:t> </a:t>
            </a:r>
            <a:r>
              <a:rPr lang="en-GB" dirty="0"/>
              <a:t>THEN</a:t>
            </a:r>
          </a:p>
        </p:txBody>
      </p:sp>
    </p:spTree>
    <p:extLst>
      <p:ext uri="{BB962C8B-B14F-4D97-AF65-F5344CB8AC3E}">
        <p14:creationId xmlns:p14="http://schemas.microsoft.com/office/powerpoint/2010/main" val="216641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F06F-C6C6-92D9-D24A-E2FD993A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7AAB-E108-E87D-15D2-F7B4E696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Logical Operators - 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3C1B7-820E-9BE7-5222-9F6FA116CB16}"/>
              </a:ext>
            </a:extLst>
          </p:cNvPr>
          <p:cNvSpPr txBox="1"/>
          <p:nvPr/>
        </p:nvSpPr>
        <p:spPr>
          <a:xfrm>
            <a:off x="1357631" y="1843950"/>
            <a:ext cx="65405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Sometimes we need to meet more than one condition in order for selection to be made.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 err="1">
                <a:solidFill>
                  <a:schemeClr val="accent5"/>
                </a:solidFill>
              </a:rPr>
              <a:t>correct_password</a:t>
            </a:r>
            <a:r>
              <a:rPr lang="en-GB" b="1" dirty="0">
                <a:solidFill>
                  <a:schemeClr val="accent5"/>
                </a:solidFill>
              </a:rPr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 err="1">
                <a:solidFill>
                  <a:schemeClr val="accent6"/>
                </a:solidFill>
              </a:rPr>
              <a:t>verified_email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“Logged In”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ELSE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“Your password or email is incorrect/unverified”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When using </a:t>
            </a:r>
            <a:r>
              <a:rPr lang="en-US" b="1" dirty="0"/>
              <a:t>AND</a:t>
            </a:r>
            <a:r>
              <a:rPr lang="en-US" dirty="0"/>
              <a:t>, both statements must be </a:t>
            </a:r>
            <a:r>
              <a:rPr lang="en-US" b="1" dirty="0"/>
              <a:t>True</a:t>
            </a:r>
            <a:r>
              <a:rPr lang="en-US" dirty="0"/>
              <a:t> in order for the expression </a:t>
            </a:r>
            <a:r>
              <a:rPr lang="en-US" b="1" dirty="0"/>
              <a:t>as a whole </a:t>
            </a:r>
            <a:r>
              <a:rPr lang="en-US" dirty="0"/>
              <a:t>to be </a:t>
            </a:r>
            <a:r>
              <a:rPr lang="en-US" b="1" dirty="0"/>
              <a:t>True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9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AFC0-DEE0-AFDC-B75E-AB55FCEC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E3E7-9E32-4F27-9F58-C4A05FAB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Logical Operators - 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5D36F-B82D-FE1F-5C3F-7E6549E518B3}"/>
              </a:ext>
            </a:extLst>
          </p:cNvPr>
          <p:cNvSpPr txBox="1"/>
          <p:nvPr/>
        </p:nvSpPr>
        <p:spPr>
          <a:xfrm>
            <a:off x="1357631" y="1843950"/>
            <a:ext cx="6540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Another example is to check if a value is in a certain range (e.g. between a min and a max number).</a:t>
            </a:r>
          </a:p>
          <a:p>
            <a:pPr indent="-283210"/>
            <a:endParaRPr lang="en-GB" b="1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6"/>
                </a:solidFill>
              </a:rPr>
              <a:t>score &lt; 70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>
                <a:solidFill>
                  <a:schemeClr val="accent5"/>
                </a:solidFill>
              </a:rPr>
              <a:t>score &gt;= 60 </a:t>
            </a:r>
            <a:r>
              <a:rPr lang="en-GB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got a B!”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01B71A-FA3D-6978-3E76-1A6972071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49045"/>
              </p:ext>
            </p:extLst>
          </p:nvPr>
        </p:nvGraphicFramePr>
        <p:xfrm>
          <a:off x="1357631" y="3888588"/>
          <a:ext cx="64287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529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969207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Is the message displayed?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 (Both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(Only 2</a:t>
                      </a:r>
                      <a:r>
                        <a:rPr lang="en-GB" baseline="30000" dirty="0"/>
                        <a:t>nd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 (Only 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Yes (Both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9A7470C-3DEA-2111-2725-D5FBB0EAF85E}"/>
              </a:ext>
            </a:extLst>
          </p:cNvPr>
          <p:cNvSpPr/>
          <p:nvPr/>
        </p:nvSpPr>
        <p:spPr>
          <a:xfrm>
            <a:off x="3872391" y="4318523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F5B0A-8E25-50A3-CFC9-DE811FAA99FD}"/>
              </a:ext>
            </a:extLst>
          </p:cNvPr>
          <p:cNvSpPr/>
          <p:nvPr/>
        </p:nvSpPr>
        <p:spPr>
          <a:xfrm>
            <a:off x="3872390" y="4705827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D0F26A-FDE8-A952-328A-D1B9093C40C1}"/>
              </a:ext>
            </a:extLst>
          </p:cNvPr>
          <p:cNvSpPr/>
          <p:nvPr/>
        </p:nvSpPr>
        <p:spPr>
          <a:xfrm>
            <a:off x="3872389" y="5068583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4DFE53-50D8-74B7-7156-699B242F3AC6}"/>
              </a:ext>
            </a:extLst>
          </p:cNvPr>
          <p:cNvSpPr/>
          <p:nvPr/>
        </p:nvSpPr>
        <p:spPr>
          <a:xfrm>
            <a:off x="3872388" y="5437476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07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1CDE-F2D7-9B3D-06D1-7A197834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C5C6-F00D-1060-ACC2-02E688C3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Logical Operators - 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70EA2-A338-A58C-C728-B152C60F5B9A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Sometimes </a:t>
            </a:r>
            <a:r>
              <a:rPr lang="en-GB" b="1" dirty="0"/>
              <a:t>only one condition </a:t>
            </a:r>
            <a:r>
              <a:rPr lang="en-GB" dirty="0"/>
              <a:t>out of multiple needs to be met: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 err="1">
                <a:solidFill>
                  <a:schemeClr val="accent5"/>
                </a:solidFill>
              </a:rPr>
              <a:t>has_jacket</a:t>
            </a:r>
            <a:r>
              <a:rPr lang="en-GB" b="1" dirty="0">
                <a:solidFill>
                  <a:schemeClr val="accent5"/>
                </a:solidFill>
              </a:rPr>
              <a:t> = True </a:t>
            </a:r>
            <a:r>
              <a:rPr lang="en-GB" b="1" dirty="0"/>
              <a:t>OR</a:t>
            </a:r>
            <a:r>
              <a:rPr lang="en-GB" dirty="0"/>
              <a:t> </a:t>
            </a:r>
            <a:r>
              <a:rPr lang="en-GB" b="1" dirty="0" err="1">
                <a:solidFill>
                  <a:schemeClr val="accent6"/>
                </a:solidFill>
              </a:rPr>
              <a:t>is_raining</a:t>
            </a:r>
            <a:r>
              <a:rPr lang="en-GB" b="1" dirty="0">
                <a:solidFill>
                  <a:schemeClr val="accent6"/>
                </a:solidFill>
              </a:rPr>
              <a:t> = False </a:t>
            </a:r>
            <a:r>
              <a:rPr lang="en-GB" dirty="0"/>
              <a:t>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can go outside”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1539A4-E7B4-7606-39A1-9B89BAB87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78329"/>
              </p:ext>
            </p:extLst>
          </p:nvPr>
        </p:nvGraphicFramePr>
        <p:xfrm>
          <a:off x="1357631" y="4140205"/>
          <a:ext cx="64287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565">
                  <a:extLst>
                    <a:ext uri="{9D8B030D-6E8A-4147-A177-3AD203B41FA5}">
                      <a16:colId xmlns:a16="http://schemas.microsoft.com/office/drawing/2014/main" val="4214018768"/>
                    </a:ext>
                  </a:extLst>
                </a:gridCol>
                <a:gridCol w="3564171">
                  <a:extLst>
                    <a:ext uri="{9D8B030D-6E8A-4147-A177-3AD203B41FA5}">
                      <a16:colId xmlns:a16="http://schemas.microsoft.com/office/drawing/2014/main" val="3567854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Can you go outside?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23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jacket, not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 (2</a:t>
                      </a:r>
                      <a:r>
                        <a:rPr lang="en-GB" baseline="30000" dirty="0"/>
                        <a:t>nd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85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Has jacket, not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 (Both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397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jacket,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 (Neither conditions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52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Has jacket,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Yes (1</a:t>
                      </a:r>
                      <a:r>
                        <a:rPr lang="en-GB" baseline="30000" dirty="0"/>
                        <a:t>st</a:t>
                      </a:r>
                      <a:r>
                        <a:rPr lang="en-GB" dirty="0"/>
                        <a:t> condition met)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712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5990CE3-125C-0713-A55E-09406442E394}"/>
              </a:ext>
            </a:extLst>
          </p:cNvPr>
          <p:cNvSpPr/>
          <p:nvPr/>
        </p:nvSpPr>
        <p:spPr>
          <a:xfrm>
            <a:off x="4265154" y="4557866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270B8F-07C3-BC3C-9DFE-5DB71B675F3D}"/>
              </a:ext>
            </a:extLst>
          </p:cNvPr>
          <p:cNvSpPr/>
          <p:nvPr/>
        </p:nvSpPr>
        <p:spPr>
          <a:xfrm>
            <a:off x="4265153" y="4945170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B4468-5D3D-5BDD-F560-B4AE6DB8E4EE}"/>
              </a:ext>
            </a:extLst>
          </p:cNvPr>
          <p:cNvSpPr/>
          <p:nvPr/>
        </p:nvSpPr>
        <p:spPr>
          <a:xfrm>
            <a:off x="4265152" y="5307926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921F3-A857-527D-BE6C-9169EF0C0758}"/>
              </a:ext>
            </a:extLst>
          </p:cNvPr>
          <p:cNvSpPr/>
          <p:nvPr/>
        </p:nvSpPr>
        <p:spPr>
          <a:xfrm>
            <a:off x="4265151" y="5676819"/>
            <a:ext cx="3111415" cy="286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07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6AC0-BAF4-322D-A110-7F0AC6E4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87D9-9890-B723-AC81-A35377D16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Logical Operators - NOT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2B32C-CD19-3FD2-E390-0670A8701CBA}"/>
              </a:ext>
            </a:extLst>
          </p:cNvPr>
          <p:cNvSpPr txBox="1"/>
          <p:nvPr/>
        </p:nvSpPr>
        <p:spPr>
          <a:xfrm>
            <a:off x="1357631" y="1843950"/>
            <a:ext cx="654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Sometimes, you want to check if an expression is </a:t>
            </a:r>
            <a:r>
              <a:rPr lang="en-GB" b="1" dirty="0"/>
              <a:t>Not True</a:t>
            </a:r>
            <a:r>
              <a:rPr lang="en-GB" dirty="0"/>
              <a:t>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/>
              <a:t>NOT</a:t>
            </a:r>
            <a:r>
              <a:rPr lang="en-GB" dirty="0"/>
              <a:t> (</a:t>
            </a:r>
            <a:r>
              <a:rPr lang="en-GB" b="1" dirty="0">
                <a:solidFill>
                  <a:schemeClr val="accent5"/>
                </a:solidFill>
              </a:rPr>
              <a:t>age &gt;= 18</a:t>
            </a:r>
            <a:r>
              <a:rPr lang="en-GB" dirty="0"/>
              <a:t>) 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are not an adult”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But why would we do this instead of: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5"/>
                </a:solidFill>
              </a:rPr>
              <a:t>age &lt; 18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Sometimes, using </a:t>
            </a:r>
            <a:r>
              <a:rPr lang="en-GB" b="1" dirty="0"/>
              <a:t>NOT</a:t>
            </a:r>
            <a:r>
              <a:rPr lang="en-GB" dirty="0"/>
              <a:t> is more </a:t>
            </a:r>
            <a:r>
              <a:rPr lang="en-GB" i="1" dirty="0"/>
              <a:t>readable</a:t>
            </a:r>
            <a:r>
              <a:rPr lang="en-GB" dirty="0"/>
              <a:t>.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53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79F23-979F-AD22-1BF6-1F2DFBB83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CA6A-5742-E0D8-0274-F9ABE956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1169"/>
            <a:ext cx="7886700" cy="1325563"/>
          </a:xfrm>
        </p:spPr>
        <p:txBody>
          <a:bodyPr/>
          <a:lstStyle/>
          <a:p>
            <a:r>
              <a:rPr lang="en-GB" dirty="0"/>
              <a:t>Logical Operators - NOT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21E95-C4EA-D69F-267C-FBC32DEBD576}"/>
              </a:ext>
            </a:extLst>
          </p:cNvPr>
          <p:cNvSpPr txBox="1"/>
          <p:nvPr/>
        </p:nvSpPr>
        <p:spPr>
          <a:xfrm>
            <a:off x="1357631" y="1322307"/>
            <a:ext cx="65405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When you already have a complex condition, it may be shorter and clearer to </a:t>
            </a:r>
            <a:r>
              <a:rPr lang="en-GB" b="1" dirty="0"/>
              <a:t>negate the whole thing </a:t>
            </a:r>
            <a:r>
              <a:rPr lang="en-GB" dirty="0"/>
              <a:t>rather than flipping every part.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/>
              <a:t>NOT</a:t>
            </a:r>
            <a:r>
              <a:rPr lang="en-GB" dirty="0"/>
              <a:t> (</a:t>
            </a:r>
            <a:r>
              <a:rPr lang="en-GB" b="1" dirty="0">
                <a:solidFill>
                  <a:schemeClr val="accent5"/>
                </a:solidFill>
              </a:rPr>
              <a:t>score &gt;= 50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>
                <a:solidFill>
                  <a:schemeClr val="accent6"/>
                </a:solidFill>
              </a:rPr>
              <a:t>attendance &gt;= 75</a:t>
            </a:r>
            <a:r>
              <a:rPr lang="en-GB" dirty="0"/>
              <a:t>) 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PRINT “Pupil fails."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Is the same as: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5"/>
                </a:solidFill>
              </a:rPr>
              <a:t>score &lt; 50 </a:t>
            </a:r>
            <a:r>
              <a:rPr lang="en-GB" b="1" dirty="0"/>
              <a:t>OR</a:t>
            </a:r>
            <a:r>
              <a:rPr lang="en-GB" dirty="0"/>
              <a:t> </a:t>
            </a:r>
            <a:r>
              <a:rPr lang="en-GB" b="1" dirty="0">
                <a:solidFill>
                  <a:schemeClr val="accent6"/>
                </a:solidFill>
              </a:rPr>
              <a:t>attendance &lt; 75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   PRINT “Pupil fails."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endParaRPr lang="en-GB" dirty="0"/>
          </a:p>
          <a:p>
            <a:r>
              <a:rPr lang="en-GB" dirty="0"/>
              <a:t>The first way can be easier to follow because it matches the natural rule: </a:t>
            </a:r>
            <a:r>
              <a:rPr lang="en-GB" i="1" dirty="0"/>
              <a:t>“Fail if not meeting both requirements.”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18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7334-0199-91D1-58BF-DC57A49A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296D-5AA4-DBF3-6FF0-089AE229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Logical Operators - NOT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AA75C-3E6B-CB4E-7856-62D52FB54702}"/>
              </a:ext>
            </a:extLst>
          </p:cNvPr>
          <p:cNvSpPr txBox="1"/>
          <p:nvPr/>
        </p:nvSpPr>
        <p:spPr>
          <a:xfrm>
            <a:off x="1357631" y="1843950"/>
            <a:ext cx="65405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Sometimes, you want to check if an expression is </a:t>
            </a:r>
            <a:r>
              <a:rPr lang="en-GB" b="1" dirty="0"/>
              <a:t>Not True</a:t>
            </a:r>
            <a:r>
              <a:rPr lang="en-GB" dirty="0"/>
              <a:t>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For example:</a:t>
            </a:r>
          </a:p>
          <a:p>
            <a:pPr indent="-283210"/>
            <a:endParaRPr lang="en-GB" dirty="0"/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/>
              <a:t>NOT</a:t>
            </a:r>
            <a:r>
              <a:rPr lang="en-GB" dirty="0"/>
              <a:t> (</a:t>
            </a:r>
            <a:r>
              <a:rPr lang="en-GB" b="1" dirty="0">
                <a:solidFill>
                  <a:schemeClr val="accent5"/>
                </a:solidFill>
              </a:rPr>
              <a:t>age &gt;= 18</a:t>
            </a:r>
            <a:r>
              <a:rPr lang="en-GB" dirty="0"/>
              <a:t>) THEN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    DISPLAY “You are not an adult”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r>
              <a:rPr lang="en-GB" dirty="0"/>
              <a:t>END IF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But why would we do this instead of: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>
                <a:solidFill>
                  <a:schemeClr val="accent5"/>
                </a:solidFill>
              </a:rPr>
              <a:t>age &lt; 18 </a:t>
            </a:r>
            <a:r>
              <a:rPr lang="en-GB" dirty="0"/>
              <a:t>THEN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Sometimes, using </a:t>
            </a:r>
            <a:r>
              <a:rPr lang="en-GB" b="1" dirty="0"/>
              <a:t>NOT</a:t>
            </a:r>
            <a:r>
              <a:rPr lang="en-GB" dirty="0"/>
              <a:t> is more </a:t>
            </a:r>
            <a:r>
              <a:rPr lang="en-GB" i="1" dirty="0"/>
              <a:t>readable</a:t>
            </a:r>
            <a:r>
              <a:rPr lang="en-GB" dirty="0"/>
              <a:t>.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9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25BF-D6AF-2BBE-5463-21450C6D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D11E-DB4F-A79E-1637-AECA4FAA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Truth 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421E4-11C3-C5EF-23DE-62B412054B58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A </a:t>
            </a:r>
            <a:r>
              <a:rPr lang="en-GB" b="1" dirty="0"/>
              <a:t>truth table</a:t>
            </a:r>
            <a:r>
              <a:rPr lang="en-GB" dirty="0"/>
              <a:t> is a way of showing </a:t>
            </a:r>
            <a:r>
              <a:rPr lang="en-GB" b="1" dirty="0"/>
              <a:t>all the possible outcomes</a:t>
            </a:r>
            <a:r>
              <a:rPr lang="en-GB" dirty="0"/>
              <a:t> of a logical expression.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Truth table for </a:t>
            </a:r>
            <a:r>
              <a:rPr lang="en-GB" b="1" dirty="0"/>
              <a:t>AND</a:t>
            </a:r>
            <a:r>
              <a:rPr lang="en-GB" dirty="0"/>
              <a:t>:</a:t>
            </a:r>
          </a:p>
          <a:p>
            <a:pPr indent="-283210"/>
            <a:endParaRPr lang="en-GB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r>
              <a:rPr lang="en-US" dirty="0"/>
              <a:t>This shows that both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must be </a:t>
            </a:r>
            <a:r>
              <a:rPr lang="en-US" b="1" dirty="0"/>
              <a:t>True</a:t>
            </a:r>
            <a:r>
              <a:rPr lang="en-US" dirty="0"/>
              <a:t> for the expression to be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37E522-483F-2076-91B4-3F3192E8D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816533"/>
              </p:ext>
            </p:extLst>
          </p:nvPr>
        </p:nvGraphicFramePr>
        <p:xfrm>
          <a:off x="1524000" y="3299443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738972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95161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70617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Variable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Variable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5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6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96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26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96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89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BF73-4956-165E-AD77-90ED2EDC8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4EAA-21DB-CF48-9FDC-A97E5C1B5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Truth 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D69D6-E197-C15B-7E02-405855206161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A </a:t>
            </a:r>
            <a:r>
              <a:rPr lang="en-GB" b="1" dirty="0"/>
              <a:t>truth table</a:t>
            </a:r>
            <a:r>
              <a:rPr lang="en-GB" dirty="0"/>
              <a:t> is a way of showing </a:t>
            </a:r>
            <a:r>
              <a:rPr lang="en-GB" b="1" dirty="0"/>
              <a:t>all the possible outcomes</a:t>
            </a:r>
            <a:r>
              <a:rPr lang="en-GB" dirty="0"/>
              <a:t> of a logical expression.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Truth table for </a:t>
            </a:r>
            <a:r>
              <a:rPr lang="en-GB" b="1" dirty="0"/>
              <a:t>OR</a:t>
            </a:r>
            <a:r>
              <a:rPr lang="en-GB" dirty="0"/>
              <a:t>:</a:t>
            </a:r>
          </a:p>
          <a:p>
            <a:pPr indent="-283210"/>
            <a:endParaRPr lang="en-GB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r>
              <a:rPr lang="en-US" dirty="0"/>
              <a:t>This shows that either </a:t>
            </a:r>
            <a:r>
              <a:rPr lang="en-US" b="1" dirty="0"/>
              <a:t>A</a:t>
            </a:r>
            <a:r>
              <a:rPr lang="en-US" dirty="0"/>
              <a:t> or </a:t>
            </a:r>
            <a:r>
              <a:rPr lang="en-US" b="1" dirty="0"/>
              <a:t>B</a:t>
            </a:r>
            <a:r>
              <a:rPr lang="en-US" dirty="0"/>
              <a:t> must be </a:t>
            </a:r>
            <a:r>
              <a:rPr lang="en-US" b="1" dirty="0"/>
              <a:t>True</a:t>
            </a:r>
            <a:r>
              <a:rPr lang="en-US" dirty="0"/>
              <a:t> for the expression to be </a:t>
            </a:r>
            <a:r>
              <a:rPr lang="en-US" b="1" dirty="0"/>
              <a:t>True</a:t>
            </a:r>
            <a:r>
              <a:rPr lang="en-US" dirty="0"/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361B89-0A0E-B73B-1829-C4B6D7A3A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902421"/>
              </p:ext>
            </p:extLst>
          </p:nvPr>
        </p:nvGraphicFramePr>
        <p:xfrm>
          <a:off x="1524000" y="3299443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738972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95161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706177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Variable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Variable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5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6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96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26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96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21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6FC1-0AA7-D2ED-FBE1-386ACF25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7F3A-5BD8-74D9-C844-9801BD459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Truth 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032F6-1B3F-726B-C298-C8D6E2714661}"/>
              </a:ext>
            </a:extLst>
          </p:cNvPr>
          <p:cNvSpPr txBox="1"/>
          <p:nvPr/>
        </p:nvSpPr>
        <p:spPr>
          <a:xfrm>
            <a:off x="1357631" y="1843950"/>
            <a:ext cx="6540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3210"/>
            <a:r>
              <a:rPr lang="en-GB" dirty="0"/>
              <a:t>A </a:t>
            </a:r>
            <a:r>
              <a:rPr lang="en-GB" b="1" dirty="0"/>
              <a:t>truth table</a:t>
            </a:r>
            <a:r>
              <a:rPr lang="en-GB" dirty="0"/>
              <a:t> is a way of showing </a:t>
            </a:r>
            <a:r>
              <a:rPr lang="en-GB" b="1" dirty="0"/>
              <a:t>all the possible outcomes</a:t>
            </a:r>
            <a:r>
              <a:rPr lang="en-GB" dirty="0"/>
              <a:t> of a logical expression.</a:t>
            </a:r>
          </a:p>
          <a:p>
            <a:pPr indent="-283210"/>
            <a:endParaRPr lang="en-GB" dirty="0"/>
          </a:p>
          <a:p>
            <a:pPr indent="-283210"/>
            <a:r>
              <a:rPr lang="en-GB" dirty="0"/>
              <a:t>Truth table for </a:t>
            </a:r>
            <a:r>
              <a:rPr lang="en-GB" b="1" dirty="0"/>
              <a:t>NOT</a:t>
            </a:r>
            <a:r>
              <a:rPr lang="en-GB" dirty="0"/>
              <a:t>:</a:t>
            </a:r>
          </a:p>
          <a:p>
            <a:pPr indent="-283210"/>
            <a:endParaRPr lang="en-GB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endParaRPr lang="en-US" dirty="0"/>
          </a:p>
          <a:p>
            <a:pPr indent="-283210"/>
            <a:r>
              <a:rPr lang="en-US" dirty="0"/>
              <a:t>This shows that </a:t>
            </a:r>
            <a:r>
              <a:rPr lang="en-US" b="1" dirty="0"/>
              <a:t>NOT </a:t>
            </a:r>
            <a:r>
              <a:rPr lang="en-US" dirty="0"/>
              <a:t>simply flips the truth value.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F678B-ED14-D467-FFF2-4020F0552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161465"/>
              </p:ext>
            </p:extLst>
          </p:nvPr>
        </p:nvGraphicFramePr>
        <p:xfrm>
          <a:off x="1524000" y="3250347"/>
          <a:ext cx="406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738972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9516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35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86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962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4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313D6-6F75-A6AC-D8D0-4ADBB2C4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A223-6370-B954-3A0E-92F4A94DC7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Logical Operators Quiz</a:t>
            </a:r>
          </a:p>
        </p:txBody>
      </p:sp>
    </p:spTree>
    <p:extLst>
      <p:ext uri="{BB962C8B-B14F-4D97-AF65-F5344CB8AC3E}">
        <p14:creationId xmlns:p14="http://schemas.microsoft.com/office/powerpoint/2010/main" val="1873727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BE48-5FAB-75B2-0C20-8F8F103E0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A46F-C81D-B8B3-1219-60523B73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6DCB6-D63E-EBFA-CE92-34D0F2117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88798-1ADB-433E-780B-A7CF97F0C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the arithmetic operations and concatenation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selection constructs and logical operators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54086-2FFC-B9A9-7B5E-36C6C5D44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AF92B83-0686-1E55-DA13-091FDD36FC3E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5557630" y="3279023"/>
                <a:ext cx="2957720" cy="3442453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arithmetic operators (+ - / * ^)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concatenation (&amp;) to join strings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selection operators		 (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sz="20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Use logical operators (AND, OR, NOT)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AF92B83-0686-1E55-DA13-091FDD36F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5557630" y="3279023"/>
                <a:ext cx="2957720" cy="3442453"/>
              </a:xfrm>
              <a:blipFill>
                <a:blip r:embed="rId2"/>
                <a:stretch>
                  <a:fillRect l="-1856" t="-1062" r="-3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694995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E3EFCB-EB88-49DB-8539-2FA3243B5290}"/>
</file>

<file path=customXml/itemProps3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2141</TotalTime>
  <Words>1498</Words>
  <Application>Microsoft Office PowerPoint</Application>
  <PresentationFormat>On-screen Show (4:3)</PresentationFormat>
  <Paragraphs>392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Tenorite</vt:lpstr>
      <vt:lpstr>Monoline</vt:lpstr>
      <vt:lpstr>Starter Task</vt:lpstr>
      <vt:lpstr>Learning intentions and success criteria</vt:lpstr>
      <vt:lpstr>Expressions &amp; Operators</vt:lpstr>
      <vt:lpstr>Data Types Recap</vt:lpstr>
      <vt:lpstr>Variables</vt:lpstr>
      <vt:lpstr>Variable Terms</vt:lpstr>
      <vt:lpstr>Expressions</vt:lpstr>
      <vt:lpstr>Arithmetic Operations</vt:lpstr>
      <vt:lpstr>Concatenation</vt:lpstr>
      <vt:lpstr>Selection Constructs</vt:lpstr>
      <vt:lpstr>Evaluating Expressions</vt:lpstr>
      <vt:lpstr>Evaluating Expressions Quiz</vt:lpstr>
      <vt:lpstr>A handy Shortcut</vt:lpstr>
      <vt:lpstr>Logical Operators</vt:lpstr>
      <vt:lpstr>Logical Operators - AND</vt:lpstr>
      <vt:lpstr>Logical Operators - AND</vt:lpstr>
      <vt:lpstr>Logical Operators - OR</vt:lpstr>
      <vt:lpstr>Logical Operators - NOT</vt:lpstr>
      <vt:lpstr>Logical Operators - NOT</vt:lpstr>
      <vt:lpstr>Logical Operators - NOT</vt:lpstr>
      <vt:lpstr>Truth Tables</vt:lpstr>
      <vt:lpstr>Truth Tables</vt:lpstr>
      <vt:lpstr>Truth Tables</vt:lpstr>
      <vt:lpstr>Logical Operators Quiz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Timothy Wang (student)</cp:lastModifiedBy>
  <cp:revision>196</cp:revision>
  <cp:lastPrinted>2025-08-18T09:52:00Z</cp:lastPrinted>
  <dcterms:created xsi:type="dcterms:W3CDTF">2025-02-10T23:03:02Z</dcterms:created>
  <dcterms:modified xsi:type="dcterms:W3CDTF">2025-09-17T22:11:06Z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