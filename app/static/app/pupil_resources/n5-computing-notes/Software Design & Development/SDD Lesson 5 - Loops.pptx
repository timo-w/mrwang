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5"/>
  </p:notesMasterIdLst>
  <p:handoutMasterIdLst>
    <p:handoutMasterId r:id="rId26"/>
  </p:handoutMasterIdLst>
  <p:sldIdLst>
    <p:sldId id="358" r:id="rId5"/>
    <p:sldId id="296" r:id="rId6"/>
    <p:sldId id="256" r:id="rId7"/>
    <p:sldId id="410" r:id="rId8"/>
    <p:sldId id="412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428" r:id="rId21"/>
    <p:sldId id="429" r:id="rId22"/>
    <p:sldId id="430" r:id="rId23"/>
    <p:sldId id="431" r:id="rId24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6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23/09/2025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23/09/2025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08DC-3F2E-41BC-EDB9-1A776608C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EFE6B-1E88-F232-9EAD-266F38012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F419E-F070-C98A-7462-9769B2E66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0C916-9ABD-93DF-2AFE-CB2A82FD4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47036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5F3EA-4BD2-264E-3E9A-1F133271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F58E4-C786-E34C-4B3C-0F605C028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ABC10-0429-F5CF-D8BC-34E356EDF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828BA-82D8-0913-AD34-C7BFD8097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8883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5483F-62FD-013F-BFD7-F0A2BD48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6C7E7-140F-8B34-1EF9-FFB8EB20D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F6F7A-CF16-C7B3-37C7-0150A7029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60FA8-5BDB-56AE-960F-328232DE9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58762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3E226-980C-AA1A-2E5C-FAD005C4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FB559-7FC3-7A6A-8BC3-C5B982FCB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FD093-2CD5-D09B-FAF2-6358DBFD1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9A1E4-8D4F-2234-1E5C-2814ED181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07078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DB670-972D-37B1-7EF1-924B4C84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CD1AC-062B-A692-D313-57F6FD63F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5745A-32D0-DB25-9B5F-92DA49F3C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A3A47-B7CD-17DE-E17A-164E462A3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475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A46AF-7FCE-630D-ED26-524719B27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AC160-7228-0BBC-5E12-3E3CC29B5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A796C-EE9F-1A69-F8C0-1510B0D03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844B8-64CE-3107-B352-1BBF3BA71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6313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C93A-F29A-1933-2CEC-00555FC4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450DE-4F2C-245E-E9FF-2E3708616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9551B-8410-B3D3-BE55-3B39D9889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573C5-CB72-5238-A0C7-A9CCB0517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1430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3025-7F3A-4AC3-1550-0112C6FC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DFE6F-A657-6974-181A-C7BF79C4C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A035D-A568-8A5B-67A7-538F12813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13F2B-BE1F-2C92-EE3F-9DFD1A853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5219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5176-C7C8-D4F8-51C3-D21C88F2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39432F-74BD-0C84-482D-AD99C3974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94976-0CBB-C26C-4271-D520D13E3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7946C-6701-6EFD-8848-698BDEE4F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47760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0966-6CBD-564B-7C6E-5180360B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96669-C731-0C69-FCE5-526AF85CA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B93B7-AC7D-02C9-063A-66E34C751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551BA-87D0-F8B3-C466-56FA55D76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8830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0C54-29BB-9331-2A15-C8036CC4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3F648-80F7-5197-A851-BB1404FB8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545DB-78EF-4249-8CFC-4534CBB4D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B753D-3D2A-8631-0431-A0D77D70B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75905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D2AFF-7B43-0604-8FF4-D7DB4BB9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F9D9F-B505-0522-3946-713F87188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7A8C9-B6D3-A0BF-2BFB-3F3439865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172E8-B809-D0F2-E494-344FB431C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8726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2894D-962F-B599-A7F4-7614CF05F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6190D-A6F3-B849-C5E8-C9567F3DB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FADB6-B93B-C6C7-51D1-93CBEEA4B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0CA8A-A404-B7EC-5C32-7CD68FE3B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66678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1946F-901C-3DA9-0F79-BDA57AAC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4B56F-023C-17C0-3AE4-F061E334C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5A388-E50B-4626-1FF5-0EDE7AEA5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7DC14-DABE-6B23-A3F6-B58F90F74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2982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hecklist-task-to-do-list-plan-1295319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3366-FA68-AD0E-B6BF-16615D57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535A19-DF8F-282B-3A60-8C84C58C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Starter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70197-473D-2B53-4477-3655C7E56C0F}"/>
              </a:ext>
            </a:extLst>
          </p:cNvPr>
          <p:cNvSpPr txBox="1"/>
          <p:nvPr/>
        </p:nvSpPr>
        <p:spPr>
          <a:xfrm>
            <a:off x="1303153" y="2089134"/>
            <a:ext cx="6537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Complete the SDD implementation starter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Attempt both questions</a:t>
            </a:r>
          </a:p>
        </p:txBody>
      </p:sp>
      <p:pic>
        <p:nvPicPr>
          <p:cNvPr id="3" name="Picture 2" descr="A clipboard with a pencil and check marks&#10;&#10;AI-generated content may be incorrect.">
            <a:extLst>
              <a:ext uri="{FF2B5EF4-FFF2-40B4-BE49-F238E27FC236}">
                <a16:creationId xmlns:a16="http://schemas.microsoft.com/office/drawing/2014/main" id="{6123B080-2A82-F879-F166-0EDAC85CD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07290" y="4342665"/>
            <a:ext cx="1929420" cy="207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7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iteration and loops in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write FOR, DO, and WHILE loops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two types of loops in SDD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Write programs using FOR, DO, and WHILE loops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30" y="4434840"/>
            <a:ext cx="3984497" cy="1122202"/>
          </a:xfrm>
        </p:spPr>
        <p:txBody>
          <a:bodyPr/>
          <a:lstStyle/>
          <a:p>
            <a:r>
              <a:rPr lang="en-GB" dirty="0"/>
              <a:t>Loops </a:t>
            </a:r>
            <a:r>
              <a:rPr lang="en-GB" sz="2400" dirty="0"/>
              <a:t>Loops </a:t>
            </a:r>
            <a:r>
              <a:rPr lang="en-GB" sz="1600" dirty="0"/>
              <a:t>Loops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N5 - Software Design &amp; Development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19658CA-3BC1-9992-EF53-311BDAB64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4278" y="3429000"/>
            <a:ext cx="1233659" cy="123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4CEEB-3704-9FBF-2CF7-EF699EF6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9854-E2E5-5C52-28E9-45E1CA50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2083"/>
            <a:ext cx="7886700" cy="1325563"/>
          </a:xfrm>
        </p:spPr>
        <p:txBody>
          <a:bodyPr/>
          <a:lstStyle/>
          <a:p>
            <a:r>
              <a:rPr lang="en-GB" dirty="0"/>
              <a:t>Recap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2F8CC-F352-AB47-367E-1561DF4AE7C9}"/>
              </a:ext>
            </a:extLst>
          </p:cNvPr>
          <p:cNvSpPr txBox="1"/>
          <p:nvPr/>
        </p:nvSpPr>
        <p:spPr>
          <a:xfrm>
            <a:off x="1357632" y="1273221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Arithmetic operations are calculations that are performed within a program. They include </a:t>
            </a:r>
            <a:r>
              <a:rPr lang="en-GB" b="1" dirty="0"/>
              <a:t>arithmetic operators</a:t>
            </a:r>
            <a:r>
              <a:rPr lang="en-GB" dirty="0"/>
              <a:t>, such as: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BC08CB-0DF4-79DD-9C6D-0E70A070A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175988"/>
              </p:ext>
            </p:extLst>
          </p:nvPr>
        </p:nvGraphicFramePr>
        <p:xfrm>
          <a:off x="1357631" y="2133433"/>
          <a:ext cx="6428736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099">
                  <a:extLst>
                    <a:ext uri="{9D8B030D-6E8A-4147-A177-3AD203B41FA5}">
                      <a16:colId xmlns:a16="http://schemas.microsoft.com/office/drawing/2014/main" val="4026921053"/>
                    </a:ext>
                  </a:extLst>
                </a:gridCol>
                <a:gridCol w="1386942">
                  <a:extLst>
                    <a:ext uri="{9D8B030D-6E8A-4147-A177-3AD203B41FA5}">
                      <a16:colId xmlns:a16="http://schemas.microsoft.com/office/drawing/2014/main" val="4214018768"/>
                    </a:ext>
                  </a:extLst>
                </a:gridCol>
                <a:gridCol w="3318695">
                  <a:extLst>
                    <a:ext uri="{9D8B030D-6E8A-4147-A177-3AD203B41FA5}">
                      <a16:colId xmlns:a16="http://schemas.microsoft.com/office/drawing/2014/main" val="3567854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3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 + 4 =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5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Minus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 – 5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397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 * 3 =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52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 / 4 =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7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^</a:t>
                      </a:r>
                    </a:p>
                    <a:p>
                      <a:pPr algn="ctr"/>
                      <a:r>
                        <a:rPr lang="en-GB" dirty="0"/>
                        <a:t>(sometimes 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 ^ 2 = 36</a:t>
                      </a:r>
                    </a:p>
                    <a:p>
                      <a:r>
                        <a:rPr lang="en-GB" dirty="0"/>
                        <a:t>2 ** 8 = 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6731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3D54A9B-3016-E261-67CB-BB0DD23A3A7E}"/>
              </a:ext>
            </a:extLst>
          </p:cNvPr>
          <p:cNvSpPr txBox="1"/>
          <p:nvPr/>
        </p:nvSpPr>
        <p:spPr>
          <a:xfrm>
            <a:off x="1357633" y="4949231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 expression can also contain </a:t>
            </a:r>
            <a:r>
              <a:rPr lang="en-GB" b="1" dirty="0"/>
              <a:t>concatenation</a:t>
            </a:r>
            <a:r>
              <a:rPr lang="en-GB" dirty="0"/>
              <a:t>, which is when two or more </a:t>
            </a:r>
            <a:r>
              <a:rPr lang="en-GB" b="1" dirty="0"/>
              <a:t>strings </a:t>
            </a:r>
            <a:r>
              <a:rPr lang="en-GB" dirty="0"/>
              <a:t> are joined together.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B7D1160-977C-76D9-3195-3E347AEE5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19659"/>
              </p:ext>
            </p:extLst>
          </p:nvPr>
        </p:nvGraphicFramePr>
        <p:xfrm>
          <a:off x="1357632" y="5809443"/>
          <a:ext cx="64287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117">
                  <a:extLst>
                    <a:ext uri="{9D8B030D-6E8A-4147-A177-3AD203B41FA5}">
                      <a16:colId xmlns:a16="http://schemas.microsoft.com/office/drawing/2014/main" val="4026921053"/>
                    </a:ext>
                  </a:extLst>
                </a:gridCol>
                <a:gridCol w="1834937">
                  <a:extLst>
                    <a:ext uri="{9D8B030D-6E8A-4147-A177-3AD203B41FA5}">
                      <a16:colId xmlns:a16="http://schemas.microsoft.com/office/drawing/2014/main" val="4214018768"/>
                    </a:ext>
                  </a:extLst>
                </a:gridCol>
                <a:gridCol w="3183682">
                  <a:extLst>
                    <a:ext uri="{9D8B030D-6E8A-4147-A177-3AD203B41FA5}">
                      <a16:colId xmlns:a16="http://schemas.microsoft.com/office/drawing/2014/main" val="3567854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3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Concatenate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“Fire” &amp; “man” = “Fireman”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55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89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EAFB-178F-3AAC-D344-3D8AE991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76F4-0B2C-863E-2B5E-F9528DCA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Recap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AB485-7B8F-D816-63A4-1230F28351AB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conditions (“if” statements), you often use </a:t>
            </a:r>
            <a:r>
              <a:rPr lang="en-GB" b="1" dirty="0"/>
              <a:t>selection operators </a:t>
            </a:r>
            <a:r>
              <a:rPr lang="en-GB" dirty="0"/>
              <a:t>such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EA52D5F-2909-86FB-7DC6-94A3288C69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4169480"/>
                  </p:ext>
                </p:extLst>
              </p:nvPr>
            </p:nvGraphicFramePr>
            <p:xfrm>
              <a:off x="1357631" y="2704162"/>
              <a:ext cx="6428736" cy="3403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092">
                      <a:extLst>
                        <a:ext uri="{9D8B030D-6E8A-4147-A177-3AD203B41FA5}">
                          <a16:colId xmlns:a16="http://schemas.microsoft.com/office/drawing/2014/main" val="4026921053"/>
                        </a:ext>
                      </a:extLst>
                    </a:gridCol>
                    <a:gridCol w="2626599">
                      <a:extLst>
                        <a:ext uri="{9D8B030D-6E8A-4147-A177-3AD203B41FA5}">
                          <a16:colId xmlns:a16="http://schemas.microsoft.com/office/drawing/2014/main" val="4214018768"/>
                        </a:ext>
                      </a:extLst>
                    </a:gridCol>
                    <a:gridCol w="2662045">
                      <a:extLst>
                        <a:ext uri="{9D8B030D-6E8A-4147-A177-3AD203B41FA5}">
                          <a16:colId xmlns:a16="http://schemas.microsoft.com/office/drawing/2014/main" val="35678546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1232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Less than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 &lt; 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28550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Greater than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7 &gt;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6397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  <a:p>
                          <a:pPr algn="ctr"/>
                          <a:r>
                            <a:rPr lang="en-GB" i="1" dirty="0"/>
                            <a:t>(&lt;=)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Less than or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 err="1"/>
                            <a:t>pass_rate</a:t>
                          </a:r>
                          <a:r>
                            <a:rPr lang="en-GB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GB" dirty="0"/>
                            <a:t> 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35268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  <a:p>
                          <a:pPr algn="ctr"/>
                          <a:r>
                            <a:rPr lang="en-GB" i="1" dirty="0"/>
                            <a:t>(&gt;=)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Greater than or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 err="1"/>
                            <a:t>driving_age</a:t>
                          </a:r>
                          <a:r>
                            <a:rPr lang="en-GB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en-GB" dirty="0"/>
                            <a:t> 17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917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 + 5 = 4 + 4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4673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  <a:p>
                          <a:pPr algn="ctr"/>
                          <a:r>
                            <a:rPr lang="en-GB" i="1" dirty="0"/>
                            <a:t>(&lt;&gt; or !=)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Not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 err="1"/>
                            <a:t>six_seven</a:t>
                          </a:r>
                          <a:r>
                            <a:rPr lang="en-GB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</m:oMath>
                          </a14:m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funny_joke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8739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EA52D5F-2909-86FB-7DC6-94A3288C69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4169480"/>
                  </p:ext>
                </p:extLst>
              </p:nvPr>
            </p:nvGraphicFramePr>
            <p:xfrm>
              <a:off x="1357631" y="2704162"/>
              <a:ext cx="6428736" cy="3403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092">
                      <a:extLst>
                        <a:ext uri="{9D8B030D-6E8A-4147-A177-3AD203B41FA5}">
                          <a16:colId xmlns:a16="http://schemas.microsoft.com/office/drawing/2014/main" val="4026921053"/>
                        </a:ext>
                      </a:extLst>
                    </a:gridCol>
                    <a:gridCol w="2626599">
                      <a:extLst>
                        <a:ext uri="{9D8B030D-6E8A-4147-A177-3AD203B41FA5}">
                          <a16:colId xmlns:a16="http://schemas.microsoft.com/office/drawing/2014/main" val="4214018768"/>
                        </a:ext>
                      </a:extLst>
                    </a:gridCol>
                    <a:gridCol w="2662045">
                      <a:extLst>
                        <a:ext uri="{9D8B030D-6E8A-4147-A177-3AD203B41FA5}">
                          <a16:colId xmlns:a16="http://schemas.microsoft.com/office/drawing/2014/main" val="35678546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1232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108197" r="-466845" b="-7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Less than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 &lt; 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28550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208197" r="-466845" b="-6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Greater than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7 &gt;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639785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179048" r="-466845" b="-2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Less than or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876" t="-179048" r="-915" b="-2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52684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279048" r="-466845" b="-1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Greater than or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876" t="-279048" r="-915" b="-1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917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652459" r="-466845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 + 5 = 4 + 4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467310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437143" r="-466845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Not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876" t="-437143" r="-915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739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4796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AFC0-DEE0-AFDC-B75E-AB55FCEC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E3E7-9E32-4F27-9F58-C4A05FAB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Recap - 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5D36F-B82D-FE1F-5C3F-7E6549E518B3}"/>
              </a:ext>
            </a:extLst>
          </p:cNvPr>
          <p:cNvSpPr txBox="1"/>
          <p:nvPr/>
        </p:nvSpPr>
        <p:spPr>
          <a:xfrm>
            <a:off x="1357631" y="1843950"/>
            <a:ext cx="6540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Using </a:t>
            </a:r>
            <a:r>
              <a:rPr lang="en-GB" b="1" dirty="0"/>
              <a:t>AND</a:t>
            </a:r>
            <a:r>
              <a:rPr lang="en-GB" dirty="0"/>
              <a:t>, both the expressions must be </a:t>
            </a:r>
            <a:r>
              <a:rPr lang="en-GB" b="1" dirty="0"/>
              <a:t>TRUE</a:t>
            </a:r>
            <a:r>
              <a:rPr lang="en-GB" dirty="0"/>
              <a:t> for the expression to be </a:t>
            </a:r>
            <a:r>
              <a:rPr lang="en-GB" b="1" dirty="0"/>
              <a:t>TRUE</a:t>
            </a:r>
            <a:r>
              <a:rPr lang="en-GB" dirty="0"/>
              <a:t>:</a:t>
            </a:r>
          </a:p>
          <a:p>
            <a:pPr indent="-283210"/>
            <a:endParaRPr lang="en-GB" b="1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chemeClr val="accent6"/>
                </a:solidFill>
              </a:rPr>
              <a:t>score &lt; 70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>
                <a:solidFill>
                  <a:schemeClr val="accent5"/>
                </a:solidFill>
              </a:rPr>
              <a:t>score &gt;= 60 </a:t>
            </a:r>
            <a:r>
              <a:rPr lang="en-GB" dirty="0"/>
              <a:t>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    DISPLAY “You got a B!”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END IF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01B71A-FA3D-6978-3E76-1A6972071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249045"/>
              </p:ext>
            </p:extLst>
          </p:nvPr>
        </p:nvGraphicFramePr>
        <p:xfrm>
          <a:off x="1357631" y="3888588"/>
          <a:ext cx="64287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9529">
                  <a:extLst>
                    <a:ext uri="{9D8B030D-6E8A-4147-A177-3AD203B41FA5}">
                      <a16:colId xmlns:a16="http://schemas.microsoft.com/office/drawing/2014/main" val="4214018768"/>
                    </a:ext>
                  </a:extLst>
                </a:gridCol>
                <a:gridCol w="3969207">
                  <a:extLst>
                    <a:ext uri="{9D8B030D-6E8A-4147-A177-3AD203B41FA5}">
                      <a16:colId xmlns:a16="http://schemas.microsoft.com/office/drawing/2014/main" val="3567854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Is the message displayed?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3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 (Both conditions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5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(Only 2</a:t>
                      </a:r>
                      <a:r>
                        <a:rPr lang="en-GB" baseline="30000" dirty="0"/>
                        <a:t>nd</a:t>
                      </a:r>
                      <a:r>
                        <a:rPr lang="en-GB" dirty="0"/>
                        <a:t> condition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397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No (Only 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condition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52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Yes (Both conditions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74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41CDE-F2D7-9B3D-06D1-7A197834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C5C6-F00D-1060-ACC2-02E688C3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Recap- 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70EA2-A338-A58C-C728-B152C60F5B9A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With </a:t>
            </a:r>
            <a:r>
              <a:rPr lang="en-GB" b="1" dirty="0"/>
              <a:t>OR</a:t>
            </a:r>
            <a:r>
              <a:rPr lang="en-GB" dirty="0"/>
              <a:t>, only </a:t>
            </a:r>
            <a:r>
              <a:rPr lang="en-GB" b="1" dirty="0"/>
              <a:t>ONE</a:t>
            </a:r>
            <a:r>
              <a:rPr lang="en-GB" dirty="0"/>
              <a:t> expression needs to be </a:t>
            </a:r>
            <a:r>
              <a:rPr lang="en-GB" b="1" dirty="0"/>
              <a:t>TRUE</a:t>
            </a:r>
            <a:r>
              <a:rPr lang="en-GB" dirty="0"/>
              <a:t>:</a:t>
            </a:r>
          </a:p>
          <a:p>
            <a:pPr indent="-283210"/>
            <a:endParaRPr lang="en-GB" dirty="0"/>
          </a:p>
          <a:p>
            <a:pPr indent="-283210"/>
            <a:r>
              <a:rPr lang="en-GB" dirty="0"/>
              <a:t>For example:</a:t>
            </a:r>
          </a:p>
          <a:p>
            <a:pPr indent="-283210"/>
            <a:endParaRPr lang="en-GB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 err="1">
                <a:solidFill>
                  <a:schemeClr val="accent5"/>
                </a:solidFill>
              </a:rPr>
              <a:t>has_jacket</a:t>
            </a:r>
            <a:r>
              <a:rPr lang="en-GB" b="1" dirty="0">
                <a:solidFill>
                  <a:schemeClr val="accent5"/>
                </a:solidFill>
              </a:rPr>
              <a:t> = True </a:t>
            </a:r>
            <a:r>
              <a:rPr lang="en-GB" b="1" dirty="0"/>
              <a:t>OR</a:t>
            </a:r>
            <a:r>
              <a:rPr lang="en-GB" dirty="0"/>
              <a:t> </a:t>
            </a:r>
            <a:r>
              <a:rPr lang="en-GB" b="1" dirty="0" err="1">
                <a:solidFill>
                  <a:schemeClr val="accent6"/>
                </a:solidFill>
              </a:rPr>
              <a:t>is_raining</a:t>
            </a:r>
            <a:r>
              <a:rPr lang="en-GB" b="1" dirty="0">
                <a:solidFill>
                  <a:schemeClr val="accent6"/>
                </a:solidFill>
              </a:rPr>
              <a:t> = False </a:t>
            </a:r>
            <a:r>
              <a:rPr lang="en-GB" dirty="0"/>
              <a:t>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    DISPLAY “You can go outside”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END IF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1539A4-E7B4-7606-39A1-9B89BAB87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78329"/>
              </p:ext>
            </p:extLst>
          </p:nvPr>
        </p:nvGraphicFramePr>
        <p:xfrm>
          <a:off x="1357631" y="4140205"/>
          <a:ext cx="64287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565">
                  <a:extLst>
                    <a:ext uri="{9D8B030D-6E8A-4147-A177-3AD203B41FA5}">
                      <a16:colId xmlns:a16="http://schemas.microsoft.com/office/drawing/2014/main" val="4214018768"/>
                    </a:ext>
                  </a:extLst>
                </a:gridCol>
                <a:gridCol w="3564171">
                  <a:extLst>
                    <a:ext uri="{9D8B030D-6E8A-4147-A177-3AD203B41FA5}">
                      <a16:colId xmlns:a16="http://schemas.microsoft.com/office/drawing/2014/main" val="3567854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Can you go outside?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3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jacket, not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 (2</a:t>
                      </a:r>
                      <a:r>
                        <a:rPr lang="en-GB" baseline="30000" dirty="0"/>
                        <a:t>nd</a:t>
                      </a:r>
                      <a:r>
                        <a:rPr lang="en-GB" dirty="0"/>
                        <a:t> condition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5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Has jacket, not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 (Both conditions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397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jacket, is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No (Neither conditions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52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Has jacket, is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Yes (1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condition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7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6AC0-BAF4-322D-A110-7F0AC6E4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87D9-9890-B723-AC81-A35377D16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Recap - NOT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2B32C-CD19-3FD2-E390-0670A8701CBA}"/>
              </a:ext>
            </a:extLst>
          </p:cNvPr>
          <p:cNvSpPr txBox="1"/>
          <p:nvPr/>
        </p:nvSpPr>
        <p:spPr>
          <a:xfrm>
            <a:off x="1357631" y="1843950"/>
            <a:ext cx="65405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b="1" dirty="0"/>
              <a:t>NOT</a:t>
            </a:r>
            <a:r>
              <a:rPr lang="en-GB" dirty="0"/>
              <a:t> inverts the expression and returns the </a:t>
            </a:r>
            <a:r>
              <a:rPr lang="en-GB" b="1" dirty="0"/>
              <a:t>opposite</a:t>
            </a:r>
            <a:r>
              <a:rPr lang="en-GB" dirty="0"/>
              <a:t> result:</a:t>
            </a:r>
          </a:p>
          <a:p>
            <a:pPr indent="-283210"/>
            <a:endParaRPr lang="en-GB" u="sng" dirty="0"/>
          </a:p>
          <a:p>
            <a:pPr indent="-283210"/>
            <a:r>
              <a:rPr lang="en-GB" dirty="0"/>
              <a:t>For example:</a:t>
            </a:r>
          </a:p>
          <a:p>
            <a:pPr indent="-283210"/>
            <a:endParaRPr lang="en-GB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/>
              <a:t>NOT</a:t>
            </a:r>
            <a:r>
              <a:rPr lang="en-GB" dirty="0"/>
              <a:t> (</a:t>
            </a:r>
            <a:r>
              <a:rPr lang="en-GB" b="1" dirty="0">
                <a:solidFill>
                  <a:schemeClr val="accent5"/>
                </a:solidFill>
              </a:rPr>
              <a:t>age &gt;= 18</a:t>
            </a:r>
            <a:r>
              <a:rPr lang="en-GB" dirty="0"/>
              <a:t>) 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    DISPLAY “You are not an adult”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END IF</a:t>
            </a:r>
          </a:p>
          <a:p>
            <a:endParaRPr lang="en-GB" dirty="0"/>
          </a:p>
          <a:p>
            <a:r>
              <a:rPr lang="en-GB" dirty="0"/>
              <a:t>Sometimes, using </a:t>
            </a:r>
            <a:r>
              <a:rPr lang="en-GB" b="1" dirty="0"/>
              <a:t>NOT</a:t>
            </a:r>
            <a:r>
              <a:rPr lang="en-GB" dirty="0"/>
              <a:t> is more </a:t>
            </a:r>
            <a:r>
              <a:rPr lang="en-GB" i="1" dirty="0"/>
              <a:t>readable</a:t>
            </a:r>
            <a:r>
              <a:rPr lang="en-GB" dirty="0"/>
              <a:t>.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53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206F9-A5A3-D3E5-7B5F-4D060174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5D934-5BF1-BAA3-38C3-43D97626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Iteration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34506-E3F1-A6FC-808D-0E3420D058B9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Iteration is the process of </a:t>
            </a:r>
            <a:r>
              <a:rPr lang="en-GB" b="1" dirty="0"/>
              <a:t>repeating</a:t>
            </a:r>
            <a:r>
              <a:rPr lang="en-GB" dirty="0"/>
              <a:t> instructions in a program a desired number of times:</a:t>
            </a:r>
          </a:p>
          <a:p>
            <a:pPr marL="27305"/>
            <a:endParaRPr lang="en-US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Iteration is achieved in programming using </a:t>
            </a:r>
            <a:r>
              <a:rPr lang="en-GB" b="1" dirty="0"/>
              <a:t>loops</a:t>
            </a:r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Using loops in a program can drastically </a:t>
            </a:r>
            <a:r>
              <a:rPr lang="en-GB" b="1" dirty="0"/>
              <a:t>reduce the number of lines of code</a:t>
            </a:r>
            <a:r>
              <a:rPr lang="en-GB" dirty="0"/>
              <a:t> you have to type, improving </a:t>
            </a:r>
            <a:r>
              <a:rPr lang="en-GB" b="1" dirty="0"/>
              <a:t>efficiency</a:t>
            </a:r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7305"/>
            <a:endParaRPr lang="en-GB" dirty="0"/>
          </a:p>
          <a:p>
            <a:pPr marL="27305"/>
            <a:r>
              <a:rPr lang="en-GB" dirty="0"/>
              <a:t>There are </a:t>
            </a:r>
            <a:r>
              <a:rPr lang="en-GB" b="1" dirty="0"/>
              <a:t>two types </a:t>
            </a:r>
            <a:r>
              <a:rPr lang="en-GB" dirty="0"/>
              <a:t>of loops:</a:t>
            </a:r>
          </a:p>
          <a:p>
            <a:pPr marL="27305"/>
            <a:endParaRPr lang="en-GB" dirty="0"/>
          </a:p>
          <a:p>
            <a:pPr marL="370205" indent="-342900">
              <a:buFont typeface="+mj-lt"/>
              <a:buAutoNum type="arabicPeriod"/>
            </a:pPr>
            <a:r>
              <a:rPr lang="en-GB" dirty="0"/>
              <a:t>Fixed loop – Repeats a </a:t>
            </a:r>
            <a:r>
              <a:rPr lang="en-GB" b="1" dirty="0"/>
              <a:t>fixed </a:t>
            </a:r>
            <a:r>
              <a:rPr lang="en-GB" dirty="0"/>
              <a:t>number of times</a:t>
            </a:r>
          </a:p>
          <a:p>
            <a:pPr marL="370205" indent="-342900">
              <a:buFont typeface="+mj-lt"/>
              <a:buAutoNum type="arabicPeriod"/>
            </a:pPr>
            <a:endParaRPr lang="en-GB" dirty="0"/>
          </a:p>
          <a:p>
            <a:pPr marL="370205" indent="-342900">
              <a:buFont typeface="+mj-lt"/>
              <a:buAutoNum type="arabicPeriod"/>
            </a:pPr>
            <a:r>
              <a:rPr lang="en-GB" dirty="0"/>
              <a:t>Conditional loop – Repeats </a:t>
            </a:r>
            <a:r>
              <a:rPr lang="en-GB" b="1" dirty="0"/>
              <a:t>until</a:t>
            </a:r>
            <a:r>
              <a:rPr lang="en-GB" dirty="0"/>
              <a:t> a condition is met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4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3731-18C0-ABF2-0C77-E3AECAEF9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FEDD5-5B9B-77E7-DEB4-20411A04E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Fixed Loops (For)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808F1-41BF-51D2-9B2B-9D771A3BC242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This type of loop is known as a </a:t>
            </a:r>
            <a:r>
              <a:rPr lang="en-GB" b="1" dirty="0"/>
              <a:t>Fixed Loop </a:t>
            </a:r>
            <a:r>
              <a:rPr lang="en-GB" dirty="0"/>
              <a:t>because we know </a:t>
            </a:r>
            <a:r>
              <a:rPr lang="en-GB" b="1" dirty="0"/>
              <a:t>exactly</a:t>
            </a:r>
            <a:r>
              <a:rPr lang="en-GB" dirty="0"/>
              <a:t> how many times we want it to repeat our instructions: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A for-loop begins with </a:t>
            </a:r>
            <a:r>
              <a:rPr lang="en-GB" b="1" dirty="0"/>
              <a:t>FOR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A for-loop ends with </a:t>
            </a:r>
            <a:r>
              <a:rPr lang="en-GB" b="1" dirty="0"/>
              <a:t>NEXT</a:t>
            </a:r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CA5B2ED-90A3-2DD3-2871-F284000B7A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57" t="65178" r="30357" b="17262"/>
          <a:stretch/>
        </p:blipFill>
        <p:spPr bwMode="auto">
          <a:xfrm>
            <a:off x="1396246" y="4039923"/>
            <a:ext cx="6351508" cy="2135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386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0CA85-D7BE-9139-0CA1-0BDA08250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443E-754C-9BF3-1F8A-42E1B58E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Fixed Loops (For)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D58F0-2353-EFB0-DF06-6D7B62578617}"/>
              </a:ext>
            </a:extLst>
          </p:cNvPr>
          <p:cNvSpPr txBox="1"/>
          <p:nvPr/>
        </p:nvSpPr>
        <p:spPr>
          <a:xfrm>
            <a:off x="1301712" y="4059375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programming a loop, a new variable must be created that controls/ counts how many times the loop is executing: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will call this the </a:t>
            </a:r>
            <a:r>
              <a:rPr lang="en-GB" b="1" dirty="0"/>
              <a:t>counter</a:t>
            </a:r>
            <a:r>
              <a:rPr lang="en-GB" dirty="0"/>
              <a:t>, but we can name this anything as it's just a variable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counter needs to be </a:t>
            </a:r>
            <a:r>
              <a:rPr lang="en-US" b="1" dirty="0"/>
              <a:t>declared</a:t>
            </a:r>
            <a:r>
              <a:rPr lang="en-US" dirty="0"/>
              <a:t> as an </a:t>
            </a:r>
            <a:r>
              <a:rPr lang="en-US" b="1" dirty="0"/>
              <a:t>Integer</a:t>
            </a:r>
            <a:r>
              <a:rPr lang="en-US" dirty="0"/>
              <a:t> before you start the loop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65D66C8-5AE5-52AA-8716-A611A9835A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57" t="65178" r="30357" b="17262"/>
          <a:stretch/>
        </p:blipFill>
        <p:spPr bwMode="auto">
          <a:xfrm>
            <a:off x="1396245" y="1730992"/>
            <a:ext cx="6351508" cy="2135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4D73E0-60C1-E220-7D08-79BB69549D6F}"/>
              </a:ext>
            </a:extLst>
          </p:cNvPr>
          <p:cNvSpPr/>
          <p:nvPr/>
        </p:nvSpPr>
        <p:spPr>
          <a:xfrm>
            <a:off x="1691824" y="2183082"/>
            <a:ext cx="818173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4A1D2B-57FA-6643-06D4-044CCB825DC9}"/>
              </a:ext>
            </a:extLst>
          </p:cNvPr>
          <p:cNvSpPr/>
          <p:nvPr/>
        </p:nvSpPr>
        <p:spPr>
          <a:xfrm>
            <a:off x="1350122" y="1730992"/>
            <a:ext cx="2238950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68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291F-4FA7-EB08-9711-F8BE1F9B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2401-66B3-B636-95F8-587D29A5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Fixed Loops (For)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5EFC8-9934-C470-FB4D-DF4271E51350}"/>
              </a:ext>
            </a:extLst>
          </p:cNvPr>
          <p:cNvSpPr txBox="1"/>
          <p:nvPr/>
        </p:nvSpPr>
        <p:spPr>
          <a:xfrm>
            <a:off x="1357631" y="1843950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A fixed loop can also be controlled by a </a:t>
            </a:r>
            <a:r>
              <a:rPr lang="en-GB" b="1" dirty="0"/>
              <a:t>variable</a:t>
            </a:r>
            <a:r>
              <a:rPr lang="en-GB" dirty="0"/>
              <a:t> meaning that the loop is </a:t>
            </a:r>
            <a:r>
              <a:rPr lang="en-GB" b="1" dirty="0"/>
              <a:t>set by user input</a:t>
            </a:r>
            <a:r>
              <a:rPr lang="en-GB" dirty="0"/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113AB030-956C-F6BC-821C-C6F4491E1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699" y="2654882"/>
            <a:ext cx="5982602" cy="38362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FD5C35-0FB7-C245-CE5A-C5F6191A4D6D}"/>
              </a:ext>
            </a:extLst>
          </p:cNvPr>
          <p:cNvSpPr/>
          <p:nvPr/>
        </p:nvSpPr>
        <p:spPr>
          <a:xfrm>
            <a:off x="1697961" y="3993883"/>
            <a:ext cx="1203131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ADC3CA-7299-CE30-8154-C942E99D34F8}"/>
              </a:ext>
            </a:extLst>
          </p:cNvPr>
          <p:cNvSpPr/>
          <p:nvPr/>
        </p:nvSpPr>
        <p:spPr>
          <a:xfrm>
            <a:off x="3028648" y="4417897"/>
            <a:ext cx="1598584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A6338D-8472-F746-C696-7BE17ED6EBAD}"/>
              </a:ext>
            </a:extLst>
          </p:cNvPr>
          <p:cNvCxnSpPr/>
          <p:nvPr/>
        </p:nvCxnSpPr>
        <p:spPr>
          <a:xfrm flipH="1">
            <a:off x="3086867" y="3480424"/>
            <a:ext cx="1890169" cy="44799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5E2A24-248D-6C9C-CFEA-60246BFFBB1F}"/>
              </a:ext>
            </a:extLst>
          </p:cNvPr>
          <p:cNvCxnSpPr>
            <a:cxnSpLocks/>
          </p:cNvCxnSpPr>
          <p:nvPr/>
        </p:nvCxnSpPr>
        <p:spPr>
          <a:xfrm flipH="1">
            <a:off x="4718262" y="4573023"/>
            <a:ext cx="98292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7E21448-144F-2A61-E879-3605E17F1F11}"/>
              </a:ext>
            </a:extLst>
          </p:cNvPr>
          <p:cNvSpPr txBox="1"/>
          <p:nvPr/>
        </p:nvSpPr>
        <p:spPr>
          <a:xfrm>
            <a:off x="5039717" y="2890788"/>
            <a:ext cx="2460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The user decides how many times the program will loop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5BC04-61AD-92D0-148F-9B1D2D96AC67}"/>
              </a:ext>
            </a:extLst>
          </p:cNvPr>
          <p:cNvSpPr txBox="1"/>
          <p:nvPr/>
        </p:nvSpPr>
        <p:spPr>
          <a:xfrm>
            <a:off x="5836492" y="4266484"/>
            <a:ext cx="2460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The program uses the </a:t>
            </a:r>
            <a:r>
              <a:rPr lang="en-GB" i="1" dirty="0" err="1">
                <a:solidFill>
                  <a:srgbClr val="FF0000"/>
                </a:solidFill>
              </a:rPr>
              <a:t>numstudents</a:t>
            </a:r>
            <a:r>
              <a:rPr lang="en-GB" i="1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</a:rPr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32228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E0C1-A13D-44DC-BB03-1960A99A05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Fixed Loops Task</a:t>
            </a:r>
          </a:p>
        </p:txBody>
      </p:sp>
    </p:spTree>
    <p:extLst>
      <p:ext uri="{BB962C8B-B14F-4D97-AF65-F5344CB8AC3E}">
        <p14:creationId xmlns:p14="http://schemas.microsoft.com/office/powerpoint/2010/main" val="3178395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C0680-C548-0943-8EC4-F1ADA9C99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D36A-6A6F-49F7-1917-E0799CB2A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Conditional Loop (While)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47F6AF-63EE-23E5-AC94-BF33DA80FD8C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This type of loop is known as a </a:t>
            </a:r>
            <a:r>
              <a:rPr lang="en-GB" b="1" dirty="0"/>
              <a:t>Conditional Loop </a:t>
            </a:r>
            <a:r>
              <a:rPr lang="en-GB" dirty="0"/>
              <a:t>because we will continue to loop over and over until a </a:t>
            </a:r>
            <a:r>
              <a:rPr lang="en-GB" b="1" dirty="0"/>
              <a:t>condition</a:t>
            </a:r>
            <a:r>
              <a:rPr lang="en-GB" dirty="0"/>
              <a:t> is met: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It will </a:t>
            </a:r>
            <a:r>
              <a:rPr lang="en-GB" b="1" dirty="0"/>
              <a:t>keep on looping </a:t>
            </a:r>
            <a:r>
              <a:rPr lang="en-GB" dirty="0"/>
              <a:t>until a </a:t>
            </a:r>
            <a:r>
              <a:rPr lang="en-GB" b="1" dirty="0"/>
              <a:t>valid </a:t>
            </a:r>
            <a:r>
              <a:rPr lang="en-GB" dirty="0"/>
              <a:t>input is entered.</a:t>
            </a:r>
            <a:endParaRPr lang="en-US" dirty="0"/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A while-loop begins with </a:t>
            </a:r>
            <a:r>
              <a:rPr lang="en-GB" b="1" dirty="0"/>
              <a:t>WHILE </a:t>
            </a:r>
            <a:r>
              <a:rPr lang="en-GB" dirty="0"/>
              <a:t>and ends with </a:t>
            </a:r>
            <a:r>
              <a:rPr lang="en-GB" b="1" dirty="0"/>
              <a:t>END WHILE</a:t>
            </a:r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30418A5-9C72-E282-1A53-DD7F86523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2444" r="62361" b="55111"/>
          <a:stretch/>
        </p:blipFill>
        <p:spPr bwMode="auto">
          <a:xfrm>
            <a:off x="1982537" y="3788959"/>
            <a:ext cx="5178926" cy="2410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960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BF6EC-20DB-B4CE-AAA3-2AB7029B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100B-8292-4D4F-A7F6-8282C22B7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Conditional Loop (While)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754A3-9776-7B09-4263-1D9A813FC2E3}"/>
              </a:ext>
            </a:extLst>
          </p:cNvPr>
          <p:cNvSpPr txBox="1"/>
          <p:nvPr/>
        </p:nvSpPr>
        <p:spPr>
          <a:xfrm>
            <a:off x="1357631" y="4520023"/>
            <a:ext cx="6540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This loop will run forever </a:t>
            </a:r>
            <a:r>
              <a:rPr lang="en-GB" b="1" dirty="0"/>
              <a:t>WHILE</a:t>
            </a:r>
            <a:r>
              <a:rPr lang="en-GB" dirty="0"/>
              <a:t> the password is </a:t>
            </a:r>
            <a:r>
              <a:rPr lang="en-GB" b="1" dirty="0"/>
              <a:t>not equal to </a:t>
            </a:r>
            <a:r>
              <a:rPr lang="en-GB" dirty="0"/>
              <a:t>“</a:t>
            </a:r>
            <a:r>
              <a:rPr lang="en-GB" dirty="0" err="1"/>
              <a:t>letmein</a:t>
            </a:r>
            <a:r>
              <a:rPr lang="en-GB" dirty="0"/>
              <a:t>”: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The program </a:t>
            </a:r>
            <a:r>
              <a:rPr lang="en-GB" b="1" dirty="0"/>
              <a:t>keeps asking </a:t>
            </a:r>
            <a:r>
              <a:rPr lang="en-GB" dirty="0"/>
              <a:t>for a password </a:t>
            </a:r>
            <a:r>
              <a:rPr lang="en-GB" b="1" dirty="0"/>
              <a:t>while</a:t>
            </a:r>
            <a:r>
              <a:rPr lang="en-GB" dirty="0"/>
              <a:t> it is still </a:t>
            </a:r>
            <a:r>
              <a:rPr lang="en-GB" b="1" dirty="0"/>
              <a:t>incorrect</a:t>
            </a:r>
            <a:endParaRPr lang="en-US" b="1" dirty="0"/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7F69515-2803-0627-9E66-ECD9EA400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2444" r="62361" b="55111"/>
          <a:stretch/>
        </p:blipFill>
        <p:spPr bwMode="auto">
          <a:xfrm>
            <a:off x="1982537" y="1767221"/>
            <a:ext cx="5178926" cy="2410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D08AD7-38A4-EB1C-38A2-3DB0F8F2C5D4}"/>
              </a:ext>
            </a:extLst>
          </p:cNvPr>
          <p:cNvSpPr/>
          <p:nvPr/>
        </p:nvSpPr>
        <p:spPr>
          <a:xfrm>
            <a:off x="2570416" y="2588727"/>
            <a:ext cx="1900916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E7E0CB-0616-914F-9559-E46870015147}"/>
              </a:ext>
            </a:extLst>
          </p:cNvPr>
          <p:cNvSpPr/>
          <p:nvPr/>
        </p:nvSpPr>
        <p:spPr>
          <a:xfrm>
            <a:off x="2341117" y="3169079"/>
            <a:ext cx="4820346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60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C48EB-16DE-6796-D7B8-B89D6726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8B9C6-FF37-C7B9-CAB2-A483A675E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Conditional Loop (Do)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F721D-1055-FAD6-6A2E-68E75D668B2F}"/>
              </a:ext>
            </a:extLst>
          </p:cNvPr>
          <p:cNvSpPr txBox="1"/>
          <p:nvPr/>
        </p:nvSpPr>
        <p:spPr>
          <a:xfrm>
            <a:off x="1357631" y="1843950"/>
            <a:ext cx="65405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Another type of conditional loop you can do is a </a:t>
            </a:r>
            <a:r>
              <a:rPr lang="en-GB" b="1" dirty="0"/>
              <a:t>DO</a:t>
            </a:r>
            <a:r>
              <a:rPr lang="en-GB" dirty="0"/>
              <a:t> loop: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Works similar to a while loop – it will keep looping </a:t>
            </a:r>
            <a:r>
              <a:rPr lang="en-GB" b="1" dirty="0"/>
              <a:t>until</a:t>
            </a:r>
            <a:r>
              <a:rPr lang="en-GB" dirty="0"/>
              <a:t> a condition is met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A do-loop begins with </a:t>
            </a:r>
            <a:r>
              <a:rPr lang="en-GB" b="1" dirty="0"/>
              <a:t>DO </a:t>
            </a:r>
            <a:r>
              <a:rPr lang="en-GB" dirty="0"/>
              <a:t>and ends with </a:t>
            </a:r>
            <a:r>
              <a:rPr lang="en-GB" b="1" dirty="0"/>
              <a:t>LOOP UNTIL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7305"/>
            <a:r>
              <a:rPr lang="en-GB" dirty="0"/>
              <a:t>Below is the same program but using a do-loop instead of a while-loop: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2CDB1C0-61D0-15B2-0E2E-E2D7852B9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8" t="43601" r="33794" b="37932"/>
          <a:stretch>
            <a:fillRect/>
          </a:stretch>
        </p:blipFill>
        <p:spPr bwMode="auto">
          <a:xfrm>
            <a:off x="1861662" y="4576192"/>
            <a:ext cx="5420676" cy="2080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472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8A1E-D785-D008-1397-CC128EC1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F677-954B-94F7-1C0C-8AA1B4386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Do-loop vs. While-loop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CA114A9-4A1F-C502-5602-47A9DA1BB2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2444" r="62361" b="55111"/>
          <a:stretch/>
        </p:blipFill>
        <p:spPr bwMode="auto">
          <a:xfrm>
            <a:off x="88747" y="2814318"/>
            <a:ext cx="4586045" cy="2134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78F24E4-6FC6-4B46-8538-824171A33C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37" t="43506" r="34310" b="38027"/>
          <a:stretch>
            <a:fillRect/>
          </a:stretch>
        </p:blipFill>
        <p:spPr bwMode="auto">
          <a:xfrm>
            <a:off x="4946481" y="2910791"/>
            <a:ext cx="4108772" cy="1736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706B08-0766-58E1-F860-2511B77B7AB5}"/>
              </a:ext>
            </a:extLst>
          </p:cNvPr>
          <p:cNvSpPr txBox="1"/>
          <p:nvPr/>
        </p:nvSpPr>
        <p:spPr>
          <a:xfrm>
            <a:off x="1855471" y="2226680"/>
            <a:ext cx="105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DO</a:t>
            </a:r>
            <a:r>
              <a:rPr lang="en-GB" dirty="0"/>
              <a:t> loop: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EB06C-E04A-BFE0-7E26-42DDFAE19F14}"/>
              </a:ext>
            </a:extLst>
          </p:cNvPr>
          <p:cNvSpPr txBox="1"/>
          <p:nvPr/>
        </p:nvSpPr>
        <p:spPr>
          <a:xfrm>
            <a:off x="6293205" y="2226680"/>
            <a:ext cx="141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WHILE</a:t>
            </a:r>
            <a:r>
              <a:rPr lang="en-GB" dirty="0"/>
              <a:t> loop: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7170A5-F9B7-9258-CF5C-2DB1C44E9B66}"/>
              </a:ext>
            </a:extLst>
          </p:cNvPr>
          <p:cNvSpPr/>
          <p:nvPr/>
        </p:nvSpPr>
        <p:spPr>
          <a:xfrm>
            <a:off x="176758" y="3188176"/>
            <a:ext cx="4206490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471E80-F003-2E74-E04E-722F12E1FA35}"/>
              </a:ext>
            </a:extLst>
          </p:cNvPr>
          <p:cNvSpPr/>
          <p:nvPr/>
        </p:nvSpPr>
        <p:spPr>
          <a:xfrm>
            <a:off x="468302" y="4036062"/>
            <a:ext cx="4206490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288223-9334-F5D3-106F-B4196E291E84}"/>
              </a:ext>
            </a:extLst>
          </p:cNvPr>
          <p:cNvSpPr/>
          <p:nvPr/>
        </p:nvSpPr>
        <p:spPr>
          <a:xfrm>
            <a:off x="5406621" y="3571325"/>
            <a:ext cx="3682851" cy="434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067D35-D6E8-AD0B-EA8C-91E5F78CF4E9}"/>
              </a:ext>
            </a:extLst>
          </p:cNvPr>
          <p:cNvCxnSpPr>
            <a:cxnSpLocks/>
          </p:cNvCxnSpPr>
          <p:nvPr/>
        </p:nvCxnSpPr>
        <p:spPr>
          <a:xfrm flipH="1" flipV="1">
            <a:off x="3082954" y="4479721"/>
            <a:ext cx="58723" cy="80237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A6C69D-2827-D29B-3A06-C3E09DC66937}"/>
              </a:ext>
            </a:extLst>
          </p:cNvPr>
          <p:cNvCxnSpPr>
            <a:cxnSpLocks/>
          </p:cNvCxnSpPr>
          <p:nvPr/>
        </p:nvCxnSpPr>
        <p:spPr>
          <a:xfrm flipV="1">
            <a:off x="7776594" y="4191188"/>
            <a:ext cx="617990" cy="9596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4D5FE8C-9193-CF81-E82A-F2E49D5A71CC}"/>
              </a:ext>
            </a:extLst>
          </p:cNvPr>
          <p:cNvSpPr txBox="1"/>
          <p:nvPr/>
        </p:nvSpPr>
        <p:spPr>
          <a:xfrm>
            <a:off x="2048181" y="5322695"/>
            <a:ext cx="2460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With a while-loop, you need to ask for user input TWICE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ED7B38-BCF8-2DEB-F310-F55BA9A59E0E}"/>
              </a:ext>
            </a:extLst>
          </p:cNvPr>
          <p:cNvCxnSpPr>
            <a:cxnSpLocks/>
          </p:cNvCxnSpPr>
          <p:nvPr/>
        </p:nvCxnSpPr>
        <p:spPr>
          <a:xfrm flipV="1">
            <a:off x="3462510" y="3608664"/>
            <a:ext cx="456548" cy="17140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FEFD296-FD25-595D-F892-6BAF3CC0D66F}"/>
              </a:ext>
            </a:extLst>
          </p:cNvPr>
          <p:cNvSpPr txBox="1"/>
          <p:nvPr/>
        </p:nvSpPr>
        <p:spPr>
          <a:xfrm>
            <a:off x="6478078" y="5150840"/>
            <a:ext cx="2460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With a do-loop you only ask ONCE</a:t>
            </a:r>
          </a:p>
        </p:txBody>
      </p:sp>
    </p:spTree>
    <p:extLst>
      <p:ext uri="{BB962C8B-B14F-4D97-AF65-F5344CB8AC3E}">
        <p14:creationId xmlns:p14="http://schemas.microsoft.com/office/powerpoint/2010/main" val="32557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7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6C44-0E85-2AD7-57B9-CDBF0B3B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14FD-F797-B395-3BCF-DD2EF9B2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Do-loop vs. While-loop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5D9A328-EB86-90BA-7485-B538A667A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2444" r="62361" b="55111"/>
          <a:stretch/>
        </p:blipFill>
        <p:spPr bwMode="auto">
          <a:xfrm>
            <a:off x="88747" y="2814318"/>
            <a:ext cx="4586045" cy="2134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2A95BEB-186A-DA21-9831-2486EB4445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37" t="43506" r="34310" b="38027"/>
          <a:stretch>
            <a:fillRect/>
          </a:stretch>
        </p:blipFill>
        <p:spPr bwMode="auto">
          <a:xfrm>
            <a:off x="4946481" y="2910791"/>
            <a:ext cx="4108772" cy="1736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7FEFC3-2922-3D74-F1BC-8CE499FD87B6}"/>
              </a:ext>
            </a:extLst>
          </p:cNvPr>
          <p:cNvSpPr txBox="1"/>
          <p:nvPr/>
        </p:nvSpPr>
        <p:spPr>
          <a:xfrm>
            <a:off x="1855471" y="2226680"/>
            <a:ext cx="105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DO</a:t>
            </a:r>
            <a:r>
              <a:rPr lang="en-GB" dirty="0"/>
              <a:t> loop: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C1D7E-17E9-D22C-007F-2888CEAF5D2E}"/>
              </a:ext>
            </a:extLst>
          </p:cNvPr>
          <p:cNvSpPr txBox="1"/>
          <p:nvPr/>
        </p:nvSpPr>
        <p:spPr>
          <a:xfrm>
            <a:off x="6293205" y="2226680"/>
            <a:ext cx="141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WHILE</a:t>
            </a:r>
            <a:r>
              <a:rPr lang="en-GB" dirty="0"/>
              <a:t> loop: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4A0CAD-B215-22E8-EB58-7F8BD28E89E5}"/>
              </a:ext>
            </a:extLst>
          </p:cNvPr>
          <p:cNvSpPr/>
          <p:nvPr/>
        </p:nvSpPr>
        <p:spPr>
          <a:xfrm>
            <a:off x="628650" y="3507078"/>
            <a:ext cx="1648961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C6D30D-4702-772C-01D3-9505A6651AE6}"/>
              </a:ext>
            </a:extLst>
          </p:cNvPr>
          <p:cNvSpPr/>
          <p:nvPr/>
        </p:nvSpPr>
        <p:spPr>
          <a:xfrm>
            <a:off x="5935168" y="3973979"/>
            <a:ext cx="2017595" cy="434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784BD2-F09E-947A-B3CC-8F2ED270352B}"/>
              </a:ext>
            </a:extLst>
          </p:cNvPr>
          <p:cNvCxnSpPr>
            <a:cxnSpLocks/>
          </p:cNvCxnSpPr>
          <p:nvPr/>
        </p:nvCxnSpPr>
        <p:spPr>
          <a:xfrm flipH="1" flipV="1">
            <a:off x="2048181" y="3863130"/>
            <a:ext cx="617742" cy="1371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DEDC86-8F75-E625-A14A-7CEB7F67F28E}"/>
              </a:ext>
            </a:extLst>
          </p:cNvPr>
          <p:cNvCxnSpPr>
            <a:cxnSpLocks/>
          </p:cNvCxnSpPr>
          <p:nvPr/>
        </p:nvCxnSpPr>
        <p:spPr>
          <a:xfrm flipV="1">
            <a:off x="7095819" y="4501943"/>
            <a:ext cx="93546" cy="68245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8BEF91-EB42-BE8E-054B-48293911CA8A}"/>
              </a:ext>
            </a:extLst>
          </p:cNvPr>
          <p:cNvSpPr txBox="1"/>
          <p:nvPr/>
        </p:nvSpPr>
        <p:spPr>
          <a:xfrm>
            <a:off x="1523869" y="5251858"/>
            <a:ext cx="2460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With a while-loop, you keep looping </a:t>
            </a:r>
            <a:r>
              <a:rPr lang="en-GB" b="1" dirty="0">
                <a:solidFill>
                  <a:srgbClr val="FF0000"/>
                </a:solidFill>
              </a:rPr>
              <a:t>while</a:t>
            </a:r>
            <a:r>
              <a:rPr lang="en-GB" dirty="0">
                <a:solidFill>
                  <a:srgbClr val="FF0000"/>
                </a:solidFill>
              </a:rPr>
              <a:t> the condition is</a:t>
            </a:r>
            <a:r>
              <a:rPr lang="en-GB" b="1" dirty="0">
                <a:solidFill>
                  <a:srgbClr val="FF0000"/>
                </a:solidFill>
              </a:rPr>
              <a:t> not met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FE1500-0A4D-2291-0984-23915C8A653B}"/>
              </a:ext>
            </a:extLst>
          </p:cNvPr>
          <p:cNvSpPr txBox="1"/>
          <p:nvPr/>
        </p:nvSpPr>
        <p:spPr>
          <a:xfrm>
            <a:off x="5869877" y="5251858"/>
            <a:ext cx="2460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With a do-loop you keep looping </a:t>
            </a:r>
            <a:r>
              <a:rPr lang="en-GB" b="1" dirty="0">
                <a:solidFill>
                  <a:srgbClr val="FF0000"/>
                </a:solidFill>
              </a:rPr>
              <a:t>until</a:t>
            </a:r>
            <a:r>
              <a:rPr lang="en-GB" dirty="0">
                <a:solidFill>
                  <a:srgbClr val="FF0000"/>
                </a:solidFill>
              </a:rPr>
              <a:t> the condition </a:t>
            </a:r>
            <a:r>
              <a:rPr lang="en-GB" b="1" dirty="0">
                <a:solidFill>
                  <a:srgbClr val="FF0000"/>
                </a:solidFill>
              </a:rPr>
              <a:t>is met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4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7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7702-8EE8-6716-56A4-A620C735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82C3-0CC7-27F8-5046-49B7C4D7D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0" y="2571236"/>
            <a:ext cx="3257550" cy="1715531"/>
          </a:xfrm>
        </p:spPr>
        <p:txBody>
          <a:bodyPr/>
          <a:lstStyle/>
          <a:p>
            <a:r>
              <a:rPr lang="en-GB" dirty="0"/>
              <a:t>Conditional Loops Task</a:t>
            </a:r>
          </a:p>
        </p:txBody>
      </p:sp>
    </p:spTree>
    <p:extLst>
      <p:ext uri="{BB962C8B-B14F-4D97-AF65-F5344CB8AC3E}">
        <p14:creationId xmlns:p14="http://schemas.microsoft.com/office/powerpoint/2010/main" val="132706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CC31-EBCD-87E2-0E2B-72E39C61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80797-AC8A-7128-26C5-39775D742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1691D-0669-6C4D-B3B5-8DDC720E8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C643-E3A7-A813-C1AD-1BF83AAF7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iteration and loops in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write FOR, DO, and WHILE loops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4CF45-6244-E046-DE6C-0DE9EF401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E60F3-C2CB-B846-739B-68D3387C1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two types of loops in SDD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Write programs using FOR, DO, and WHILE loops</a:t>
            </a:r>
          </a:p>
        </p:txBody>
      </p:sp>
    </p:spTree>
    <p:extLst>
      <p:ext uri="{BB962C8B-B14F-4D97-AF65-F5344CB8AC3E}">
        <p14:creationId xmlns:p14="http://schemas.microsoft.com/office/powerpoint/2010/main" val="3743762353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c5f0b38251d317ab277e387d6b557b9b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921f147f580d21fb0753fb6d8f6b699d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5CD341-1871-4A41-B7EC-92963FB3AA56}"/>
</file>

<file path=customXml/itemProps2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customXml/itemProps3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2296</TotalTime>
  <Words>937</Words>
  <Application>Microsoft Office PowerPoint</Application>
  <PresentationFormat>On-screen Show (4:3)</PresentationFormat>
  <Paragraphs>198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Tenorite</vt:lpstr>
      <vt:lpstr>Monoline</vt:lpstr>
      <vt:lpstr>Starter Task</vt:lpstr>
      <vt:lpstr>Learning intentions and success criteria</vt:lpstr>
      <vt:lpstr>Loops Loops Loops</vt:lpstr>
      <vt:lpstr>Recap</vt:lpstr>
      <vt:lpstr>Recap</vt:lpstr>
      <vt:lpstr>Recap - AND</vt:lpstr>
      <vt:lpstr>Recap- OR</vt:lpstr>
      <vt:lpstr>Recap - NOT</vt:lpstr>
      <vt:lpstr>Iteration</vt:lpstr>
      <vt:lpstr>Fixed Loops (For)</vt:lpstr>
      <vt:lpstr>Fixed Loops (For)</vt:lpstr>
      <vt:lpstr>Fixed Loops (For)</vt:lpstr>
      <vt:lpstr>Fixed Loops Task</vt:lpstr>
      <vt:lpstr>Conditional Loop (While)</vt:lpstr>
      <vt:lpstr>Conditional Loop (While)</vt:lpstr>
      <vt:lpstr>Conditional Loop (Do)</vt:lpstr>
      <vt:lpstr>Do-loop vs. While-loop</vt:lpstr>
      <vt:lpstr>Do-loop vs. While-loop</vt:lpstr>
      <vt:lpstr>Conditional Loops Task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Mr Wang</cp:lastModifiedBy>
  <cp:revision>209</cp:revision>
  <cp:lastPrinted>2025-08-18T09:52:00Z</cp:lastPrinted>
  <dcterms:created xsi:type="dcterms:W3CDTF">2025-02-10T23:03:02Z</dcterms:created>
  <dcterms:modified xsi:type="dcterms:W3CDTF">2025-09-23T09:39:25Z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