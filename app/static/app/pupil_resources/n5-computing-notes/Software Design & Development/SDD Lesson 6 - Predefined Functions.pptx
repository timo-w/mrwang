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8"/>
  </p:notesMasterIdLst>
  <p:handoutMasterIdLst>
    <p:handoutMasterId r:id="rId19"/>
  </p:handoutMasterIdLst>
  <p:sldIdLst>
    <p:sldId id="358" r:id="rId5"/>
    <p:sldId id="296" r:id="rId6"/>
    <p:sldId id="256" r:id="rId7"/>
    <p:sldId id="420" r:id="rId8"/>
    <p:sldId id="425" r:id="rId9"/>
    <p:sldId id="426" r:id="rId10"/>
    <p:sldId id="422" r:id="rId11"/>
    <p:sldId id="423" r:id="rId12"/>
    <p:sldId id="424" r:id="rId13"/>
    <p:sldId id="427" r:id="rId14"/>
    <p:sldId id="429" r:id="rId15"/>
    <p:sldId id="428" r:id="rId16"/>
    <p:sldId id="421" r:id="rId17"/>
  </p:sldIdLst>
  <p:sldSz cx="9144000" cy="6858000" type="screen4x3"/>
  <p:notesSz cx="6805613" cy="9939338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55"/>
    <a:srgbClr val="375EBE"/>
    <a:srgbClr val="BE494D"/>
    <a:srgbClr val="E9E6DF"/>
    <a:srgbClr val="FFD14E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1992" y="150"/>
      </p:cViewPr>
      <p:guideLst>
        <p:guide orient="horz" pos="33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49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5C065-7973-41A8-A2CC-441A8BA3384C}" type="datetime1">
              <a:rPr lang="en-GB" smtClean="0"/>
              <a:t>02/10/2025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7A586-3225-45EC-B90F-43F9676D14C2}" type="datetime1">
              <a:rPr lang="en-GB" smtClean="0"/>
              <a:pPr/>
              <a:t>02/10/2025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A46AF-7FCE-630D-ED26-524719B27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AC160-7228-0BBC-5E12-3E3CC29B5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A796C-EE9F-1A69-F8C0-1510B0D03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844B8-64CE-3107-B352-1BBF3BA71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6313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D5024-95BC-4482-91E8-2F11D4924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5C296E-0EE5-C5B0-1009-70424FA1B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4D5B04-6989-9352-0E10-4D102CF68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0D056-14B3-EF39-50C5-FF78AA675D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87104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D935A-D518-0673-A7F4-BBFBF15B0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0DDCEC-1909-0C93-D75F-074E4521A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8B209B-3C74-038A-FF42-72142909BB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AAFB5-3F3B-2B48-B7ED-DCEA777996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64973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4DF9B-D3C7-584B-A9A6-D780A5701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FAE8D-05C6-8FF6-6669-11D0DE63A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22431-1532-49B3-F314-6FA923CE8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80C10-7FEE-965B-5821-E823372402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75271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10ADF-A431-C50B-256D-EA920D185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47B6C-1E6F-A773-4FD9-8EB0C84FC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FE814D-C70E-344C-D8C0-CD91E2ED3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0A194-F3F1-F85B-673C-230B3CEFD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4839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85575-FCD9-F190-781F-C847E45F6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0DABF5-A41A-8281-3596-F1A62F154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C4C1AC-D47D-4385-8015-38D476598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ADC51-DEF7-826F-6F33-31BB906F8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98537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971EB-8CFB-C70B-1AA3-987268D6D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43A3C-3A7E-CDAE-EED0-2AC35D15AF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9A5628-0435-1BCD-D107-46DDE6627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84C0C-111D-5203-AB7B-C4ABFFC4D0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77114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5A56A-E01C-197A-B21F-A810A0CB0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D4057-EA32-5273-77E7-B3FE6D0F8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50E674-AC16-8AB8-5A1E-CE17A7990C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599D6-F8E9-C89E-D016-5EA7D863C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30360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0F834-A32F-60E1-D314-8CE89E496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EB3B9E-7371-BCA7-FE44-283C09BFAE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3D2734-9ED6-4701-13B9-96590B904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8ECA0-EE62-1C5C-7F87-2B7546DD39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46988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031" y="4434840"/>
            <a:ext cx="3706328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031" y="5586890"/>
            <a:ext cx="3706328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1"/>
            <a:ext cx="7116234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116612" y="0"/>
            <a:ext cx="50273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125" y="1020446"/>
            <a:ext cx="2378869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25" y="2924176"/>
            <a:ext cx="2378869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0125" y="6356351"/>
            <a:ext cx="7388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414" y="6356350"/>
            <a:ext cx="186213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2229" y="6356351"/>
            <a:ext cx="74066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5413" y="0"/>
            <a:ext cx="7558587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5509419"/>
            <a:ext cx="3061607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239" y="148113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5781" y="2557463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363378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28750" y="4710114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1152" y="159447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39522" y="267332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82703" y="3755394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31460" y="4824430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265137" y="502393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19938" y="3948451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380090" y="2872686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39698" y="179608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1459" y="6356351"/>
            <a:ext cx="1356534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n-GB" noProof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08156" y="6356351"/>
            <a:ext cx="40719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425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14248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4753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4857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14425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4809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4473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4857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516291" y="1"/>
            <a:ext cx="2627709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90708" y="0"/>
            <a:ext cx="1853293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1570" y="4156406"/>
            <a:ext cx="235458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153063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186006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2630432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295985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373022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05965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40080" y="4830025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39761" y="5159449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3522" y="-1"/>
            <a:ext cx="3672551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5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556" y="3660774"/>
            <a:ext cx="3833813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6822282" y="1497012"/>
            <a:ext cx="23217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5214937" y="-25401"/>
            <a:ext cx="2843213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8348" y="6356351"/>
            <a:ext cx="130730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43512" y="2571236"/>
            <a:ext cx="3134678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4407694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1862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1657350" y="0"/>
            <a:ext cx="18288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32329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329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85749" y="2776936"/>
            <a:ext cx="2172503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85749" y="3834607"/>
            <a:ext cx="2172503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28688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678782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049816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49816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856" y="2358007"/>
            <a:ext cx="18288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0469" y="2531837"/>
            <a:ext cx="1643063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9206" y="2421056"/>
            <a:ext cx="1743075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47892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106636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665381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274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7274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94696" y="4824189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94696" y="5280764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53658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953658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0275" y="892178"/>
            <a:ext cx="6316266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00275" y="2776936"/>
            <a:ext cx="294322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834607"/>
            <a:ext cx="294322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557630" y="2776936"/>
            <a:ext cx="295772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834607"/>
            <a:ext cx="295772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19339" y="0"/>
            <a:ext cx="3276023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4081416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1562" y="1361938"/>
            <a:ext cx="5074444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2286002"/>
            <a:ext cx="4570703" cy="3542143"/>
          </a:xfrm>
        </p:spPr>
        <p:txBody>
          <a:bodyPr rtlCol="0"/>
          <a:lstStyle/>
          <a:p>
            <a:pPr rtl="0"/>
            <a:r>
              <a:rPr lang="en-GB" noProof="0"/>
              <a:t>Click icon to add chart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93594" y="2284624"/>
            <a:ext cx="2360499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93594" y="2779714"/>
            <a:ext cx="2361010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9143999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5799" y="3354712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744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654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563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72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382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291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201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110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019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29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838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74814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5800" y="4292468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77436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06820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65896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24973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84049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43126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02202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61279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0355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79432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385089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97585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" y="4034785"/>
            <a:ext cx="774954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628650" y="2139084"/>
            <a:ext cx="7886700" cy="3695338"/>
          </a:xfrm>
        </p:spPr>
        <p:txBody>
          <a:bodyPr rtlCol="0"/>
          <a:lstStyle/>
          <a:p>
            <a:pPr rtl="0"/>
            <a:r>
              <a:rPr lang="en-GB" noProof="0"/>
              <a:t>Click icon to add SmartArt graphic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19431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528638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53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83669" y="5084525"/>
            <a:ext cx="164746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115386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776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780706" y="5099207"/>
            <a:ext cx="1608787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77685" y="5478797"/>
            <a:ext cx="1391962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4568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648704" y="5099207"/>
            <a:ext cx="159973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745683" y="5478797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6059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63614" y="5084525"/>
            <a:ext cx="1599738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60593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5500687" y="0"/>
            <a:ext cx="3643313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15362" y="1"/>
            <a:ext cx="528638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70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07882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25126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042590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69703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886947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04411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3770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54945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663472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85261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69855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75824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07882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125126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042590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169703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2886947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04411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03770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754945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672409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85261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569855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475824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4"/>
            <a:ext cx="154305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6750" y="5180889"/>
            <a:ext cx="8572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928688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2843213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6585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650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8650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85854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671999" y="3788814"/>
            <a:ext cx="1756654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71999" y="4464811"/>
            <a:ext cx="1756654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71999" y="5120723"/>
            <a:ext cx="1756654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89328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23957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23957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23957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945241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767305" y="3788458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767305" y="4464455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767305" y="5120367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76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7656" y="3682546"/>
            <a:ext cx="3833813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1"/>
            <a:ext cx="3571875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1978819" y="1"/>
            <a:ext cx="1593057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1615737"/>
            <a:ext cx="3134678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3238104"/>
            <a:ext cx="3134678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382704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0401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9791" y="6356351"/>
            <a:ext cx="19961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84572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checklist-task-to-do-list-plan-1295319/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9.jpe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3366-FA68-AD0E-B6BF-16615D571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535A19-DF8F-282B-3A60-8C84C58CA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GB" dirty="0"/>
              <a:t>Starter Task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370197-473D-2B53-4477-3655C7E56C0F}"/>
              </a:ext>
            </a:extLst>
          </p:cNvPr>
          <p:cNvSpPr txBox="1"/>
          <p:nvPr/>
        </p:nvSpPr>
        <p:spPr>
          <a:xfrm>
            <a:off x="1303153" y="2089134"/>
            <a:ext cx="65376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i="1" dirty="0"/>
              <a:t>Complete the SDD implementation starter task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i="1" dirty="0"/>
              <a:t>Attempt both questions</a:t>
            </a:r>
          </a:p>
        </p:txBody>
      </p:sp>
      <p:pic>
        <p:nvPicPr>
          <p:cNvPr id="3" name="Picture 2" descr="A clipboard with a pencil and check marks&#10;&#10;AI-generated content may be incorrect.">
            <a:extLst>
              <a:ext uri="{FF2B5EF4-FFF2-40B4-BE49-F238E27FC236}">
                <a16:creationId xmlns:a16="http://schemas.microsoft.com/office/drawing/2014/main" id="{6123B080-2A82-F879-F166-0EDAC85CD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07290" y="4342665"/>
            <a:ext cx="1929420" cy="207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57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C21C1-B79D-AD03-4EAE-D2542FF3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CA64-873A-D0FF-B9BC-047C4A17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9065B-2239-5666-C525-8AC7E30D1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F8EBB-712D-FA69-3F85-6C3C4D916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the 3 predefined functions in National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How to use predefined functions in Visual Basic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2F969-28CF-3476-B018-2C72791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59522-523D-64B6-2A66-6AD09301A8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Describe the three predefined functions and what they are used for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Write programs using predefined functions</a:t>
            </a:r>
          </a:p>
        </p:txBody>
      </p:sp>
    </p:spTree>
    <p:extLst>
      <p:ext uri="{BB962C8B-B14F-4D97-AF65-F5344CB8AC3E}">
        <p14:creationId xmlns:p14="http://schemas.microsoft.com/office/powerpoint/2010/main" val="1017054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7698-A108-A789-FF04-5399523ED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2030" y="4434840"/>
            <a:ext cx="3984497" cy="1122202"/>
          </a:xfrm>
        </p:spPr>
        <p:txBody>
          <a:bodyPr/>
          <a:lstStyle/>
          <a:p>
            <a:r>
              <a:rPr lang="en-GB" dirty="0"/>
              <a:t>Predefined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8D7CA-3C16-0295-286D-6294A3D7BD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N5 - Software Design &amp; Development</a:t>
            </a:r>
          </a:p>
        </p:txBody>
      </p:sp>
      <p:pic>
        <p:nvPicPr>
          <p:cNvPr id="5" name="Graphic 4" descr="Programmer male with solid fill">
            <a:extLst>
              <a:ext uri="{FF2B5EF4-FFF2-40B4-BE49-F238E27FC236}">
                <a16:creationId xmlns:a16="http://schemas.microsoft.com/office/drawing/2014/main" id="{D19658CA-3BC1-9992-EF53-311BDAB64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2029" y="3097607"/>
            <a:ext cx="1233659" cy="123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65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206F9-A5A3-D3E5-7B5F-4D060174A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5D934-5BF1-BAA3-38C3-43D97626F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734506-E3F1-A6FC-808D-0E3420D058B9}"/>
              </a:ext>
            </a:extLst>
          </p:cNvPr>
          <p:cNvSpPr txBox="1"/>
          <p:nvPr/>
        </p:nvSpPr>
        <p:spPr>
          <a:xfrm>
            <a:off x="1357631" y="1843950"/>
            <a:ext cx="6540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A function is code which you </a:t>
            </a:r>
            <a:r>
              <a:rPr lang="en-GB" b="1" dirty="0"/>
              <a:t>put data into </a:t>
            </a:r>
            <a:r>
              <a:rPr lang="en-GB" dirty="0"/>
              <a:t>(</a:t>
            </a:r>
            <a:r>
              <a:rPr lang="en-GB" i="1" dirty="0"/>
              <a:t>called parameters</a:t>
            </a:r>
            <a:r>
              <a:rPr lang="en-GB" dirty="0"/>
              <a:t>), and it </a:t>
            </a:r>
            <a:r>
              <a:rPr lang="en-GB" b="1" dirty="0"/>
              <a:t>gives back</a:t>
            </a:r>
            <a:r>
              <a:rPr lang="en-GB" dirty="0"/>
              <a:t> some different data (</a:t>
            </a:r>
            <a:r>
              <a:rPr lang="en-GB" i="1" dirty="0"/>
              <a:t>output</a:t>
            </a:r>
            <a:r>
              <a:rPr lang="en-GB" dirty="0"/>
              <a:t>):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26" name="Picture 2" descr="Washing machine color filled vector illustration design | Premium Vector">
            <a:extLst>
              <a:ext uri="{FF2B5EF4-FFF2-40B4-BE49-F238E27FC236}">
                <a16:creationId xmlns:a16="http://schemas.microsoft.com/office/drawing/2014/main" id="{9CE4E207-2463-E21D-5436-DC9FF5931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3439" y="2822659"/>
            <a:ext cx="1717121" cy="1717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irty jacket or cardigan. Warm men clothes need washing. Stains and dirt.  Laundry Element. Flat cartoon illustration isolated on white background  23404148 Vector Art at Vecteezy">
            <a:extLst>
              <a:ext uri="{FF2B5EF4-FFF2-40B4-BE49-F238E27FC236}">
                <a16:creationId xmlns:a16="http://schemas.microsoft.com/office/drawing/2014/main" id="{C2D4AE2A-ED7A-BA0C-A767-CAEE4C976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014" y="2822659"/>
            <a:ext cx="1571368" cy="157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ree Vectors | green t-shirt icon">
            <a:extLst>
              <a:ext uri="{FF2B5EF4-FFF2-40B4-BE49-F238E27FC236}">
                <a16:creationId xmlns:a16="http://schemas.microsoft.com/office/drawing/2014/main" id="{A1B2D77E-82DA-8D90-8974-11EBB9549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9195" y="3368561"/>
            <a:ext cx="1230202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281FD8DB-1622-A4FB-45A3-DA2D77DE0602}"/>
              </a:ext>
            </a:extLst>
          </p:cNvPr>
          <p:cNvSpPr/>
          <p:nvPr/>
        </p:nvSpPr>
        <p:spPr>
          <a:xfrm>
            <a:off x="2841997" y="3509846"/>
            <a:ext cx="871442" cy="54004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2B2AFA3-26C9-825A-1E10-BDFAF2703F1F}"/>
              </a:ext>
            </a:extLst>
          </p:cNvPr>
          <p:cNvSpPr/>
          <p:nvPr/>
        </p:nvSpPr>
        <p:spPr>
          <a:xfrm>
            <a:off x="5568175" y="3509846"/>
            <a:ext cx="871442" cy="54004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CE558A-14FC-18BB-528C-38D66F9ECE43}"/>
              </a:ext>
            </a:extLst>
          </p:cNvPr>
          <p:cNvSpPr txBox="1"/>
          <p:nvPr/>
        </p:nvSpPr>
        <p:spPr>
          <a:xfrm>
            <a:off x="3506258" y="4459589"/>
            <a:ext cx="216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wash(</a:t>
            </a:r>
            <a:r>
              <a:rPr lang="en-GB" dirty="0" err="1"/>
              <a:t>dirty_clothes</a:t>
            </a:r>
            <a:r>
              <a:rPr lang="en-GB" b="1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2178F4-127A-E663-2340-5A25EDFA0E4B}"/>
              </a:ext>
            </a:extLst>
          </p:cNvPr>
          <p:cNvSpPr txBox="1"/>
          <p:nvPr/>
        </p:nvSpPr>
        <p:spPr>
          <a:xfrm>
            <a:off x="1212164" y="4459589"/>
            <a:ext cx="1460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dirty_clothes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D5AB41-2E85-A3E1-05F9-817967BEA3E3}"/>
              </a:ext>
            </a:extLst>
          </p:cNvPr>
          <p:cNvSpPr txBox="1"/>
          <p:nvPr/>
        </p:nvSpPr>
        <p:spPr>
          <a:xfrm>
            <a:off x="6646104" y="4459589"/>
            <a:ext cx="1536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clean_clothes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97B282-317F-61D6-2A62-FC7D4E984D82}"/>
              </a:ext>
            </a:extLst>
          </p:cNvPr>
          <p:cNvSpPr txBox="1"/>
          <p:nvPr/>
        </p:nvSpPr>
        <p:spPr>
          <a:xfrm>
            <a:off x="1357630" y="5458626"/>
            <a:ext cx="6540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In this example, the function is called </a:t>
            </a:r>
            <a:r>
              <a:rPr lang="en-GB" b="1" dirty="0"/>
              <a:t>wash()</a:t>
            </a:r>
            <a:r>
              <a:rPr lang="en-GB" dirty="0"/>
              <a:t>:</a:t>
            </a:r>
          </a:p>
          <a:p>
            <a:pPr marL="27305"/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It takes clothes, and makes them clean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54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11D4A-C4E3-DD47-F32A-FB23BA73D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1F36D7-3C2B-49FF-8C29-9937075FED3D}"/>
              </a:ext>
            </a:extLst>
          </p:cNvPr>
          <p:cNvSpPr txBox="1"/>
          <p:nvPr/>
        </p:nvSpPr>
        <p:spPr>
          <a:xfrm>
            <a:off x="1357631" y="518377"/>
            <a:ext cx="6540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You can put different things (parameters) into a function, and it will return data based on what you put inside: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26" name="Picture 2" descr="Washing machine color filled vector illustration design | Premium Vector">
            <a:extLst>
              <a:ext uri="{FF2B5EF4-FFF2-40B4-BE49-F238E27FC236}">
                <a16:creationId xmlns:a16="http://schemas.microsoft.com/office/drawing/2014/main" id="{C3728878-6A09-001B-986A-9E999B741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3439" y="1503225"/>
            <a:ext cx="1717121" cy="1717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48312CC4-0CF6-4537-BDDE-7F4604992875}"/>
              </a:ext>
            </a:extLst>
          </p:cNvPr>
          <p:cNvSpPr/>
          <p:nvPr/>
        </p:nvSpPr>
        <p:spPr>
          <a:xfrm>
            <a:off x="2841997" y="2190412"/>
            <a:ext cx="871442" cy="54004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4C60737-A759-8277-9E9C-C7BD9F44840B}"/>
              </a:ext>
            </a:extLst>
          </p:cNvPr>
          <p:cNvSpPr/>
          <p:nvPr/>
        </p:nvSpPr>
        <p:spPr>
          <a:xfrm>
            <a:off x="5568175" y="2190412"/>
            <a:ext cx="871442" cy="54004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CFCA77-F0DD-D37C-A389-C24F8FDCDA5C}"/>
              </a:ext>
            </a:extLst>
          </p:cNvPr>
          <p:cNvSpPr txBox="1"/>
          <p:nvPr/>
        </p:nvSpPr>
        <p:spPr>
          <a:xfrm>
            <a:off x="3506258" y="3140155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wash(</a:t>
            </a:r>
            <a:r>
              <a:rPr lang="en-GB" dirty="0" err="1"/>
              <a:t>dirty_jeans</a:t>
            </a:r>
            <a:r>
              <a:rPr lang="en-GB" b="1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4B0407-E7D7-5EA1-6954-D4D417A1B941}"/>
              </a:ext>
            </a:extLst>
          </p:cNvPr>
          <p:cNvSpPr txBox="1"/>
          <p:nvPr/>
        </p:nvSpPr>
        <p:spPr>
          <a:xfrm>
            <a:off x="1212164" y="3140155"/>
            <a:ext cx="1307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dirty_jeans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88FEA4-D883-EBE3-21A5-34F21485E7B4}"/>
              </a:ext>
            </a:extLst>
          </p:cNvPr>
          <p:cNvSpPr txBox="1"/>
          <p:nvPr/>
        </p:nvSpPr>
        <p:spPr>
          <a:xfrm>
            <a:off x="6627693" y="3140155"/>
            <a:ext cx="1383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clean_jeans</a:t>
            </a:r>
            <a:endParaRPr lang="en-GB" dirty="0"/>
          </a:p>
        </p:txBody>
      </p:sp>
      <p:pic>
        <p:nvPicPr>
          <p:cNvPr id="12" name="Picture 2" descr="Washing machine color filled vector illustration design | Premium Vector">
            <a:extLst>
              <a:ext uri="{FF2B5EF4-FFF2-40B4-BE49-F238E27FC236}">
                <a16:creationId xmlns:a16="http://schemas.microsoft.com/office/drawing/2014/main" id="{BB6D983D-D533-ABCF-0EF9-010E7B191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3439" y="4202444"/>
            <a:ext cx="1717121" cy="1717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DE072F9E-CC66-B7C7-0292-4D5EA08D3C61}"/>
              </a:ext>
            </a:extLst>
          </p:cNvPr>
          <p:cNvSpPr/>
          <p:nvPr/>
        </p:nvSpPr>
        <p:spPr>
          <a:xfrm>
            <a:off x="2841997" y="4889631"/>
            <a:ext cx="871442" cy="54004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96EC251-73CE-38EE-0BAF-CA740B164B72}"/>
              </a:ext>
            </a:extLst>
          </p:cNvPr>
          <p:cNvSpPr/>
          <p:nvPr/>
        </p:nvSpPr>
        <p:spPr>
          <a:xfrm>
            <a:off x="5568175" y="4889631"/>
            <a:ext cx="871442" cy="54004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A820CA-6CA6-A52F-7C20-7B02FFCD02AA}"/>
              </a:ext>
            </a:extLst>
          </p:cNvPr>
          <p:cNvSpPr txBox="1"/>
          <p:nvPr/>
        </p:nvSpPr>
        <p:spPr>
          <a:xfrm>
            <a:off x="3506258" y="5839374"/>
            <a:ext cx="2011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wash(</a:t>
            </a:r>
            <a:r>
              <a:rPr lang="en-GB" dirty="0" err="1"/>
              <a:t>dirty_socks</a:t>
            </a:r>
            <a:r>
              <a:rPr lang="en-GB" b="1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8A48CF-DE64-50DE-0CFB-05F1C766593C}"/>
              </a:ext>
            </a:extLst>
          </p:cNvPr>
          <p:cNvSpPr txBox="1"/>
          <p:nvPr/>
        </p:nvSpPr>
        <p:spPr>
          <a:xfrm>
            <a:off x="1212164" y="5839374"/>
            <a:ext cx="1297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dirty_socks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5A131A-6995-D189-D3BF-45ED207EF9F5}"/>
              </a:ext>
            </a:extLst>
          </p:cNvPr>
          <p:cNvSpPr txBox="1"/>
          <p:nvPr/>
        </p:nvSpPr>
        <p:spPr>
          <a:xfrm>
            <a:off x="6627693" y="5839374"/>
            <a:ext cx="1373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clean_socks</a:t>
            </a:r>
            <a:endParaRPr lang="en-GB" dirty="0"/>
          </a:p>
        </p:txBody>
      </p:sp>
      <p:pic>
        <p:nvPicPr>
          <p:cNvPr id="2050" name="Picture 2" descr="1,220 Dirty Pants Stock Vectors and Vector Art | Shutterstock">
            <a:extLst>
              <a:ext uri="{FF2B5EF4-FFF2-40B4-BE49-F238E27FC236}">
                <a16:creationId xmlns:a16="http://schemas.microsoft.com/office/drawing/2014/main" id="{8B89C066-3DF9-AD2C-2FB1-81DD896E9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822" y="1926093"/>
            <a:ext cx="1072073" cy="129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lue Jeans Stock Illustrations – 39,594 Blue Jeans Stock Illustrations,  Vectors &amp; Clipart - Dreamstime">
            <a:extLst>
              <a:ext uri="{FF2B5EF4-FFF2-40B4-BE49-F238E27FC236}">
                <a16:creationId xmlns:a16="http://schemas.microsoft.com/office/drawing/2014/main" id="{85FCD436-1A3B-54EF-2DC3-8488EC158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3360" y="1791879"/>
            <a:ext cx="1232441" cy="1232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750+ Smelly Socks Stock Illustrations, Royalty-Free Vector Graphics &amp; Clip  Art - iStock | Holding smelly socks">
            <a:extLst>
              <a:ext uri="{FF2B5EF4-FFF2-40B4-BE49-F238E27FC236}">
                <a16:creationId xmlns:a16="http://schemas.microsoft.com/office/drawing/2014/main" id="{0076D667-26F9-9952-16A4-DB8D3A985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779" y="4428268"/>
            <a:ext cx="1411106" cy="1411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Warm Socks Color Icon. Socks Pair. Isolated Vector Illustration Royalty  Free SVG, Cliparts, Vectors, and Stock Illustration. Image 81735982.">
            <a:extLst>
              <a:ext uri="{FF2B5EF4-FFF2-40B4-BE49-F238E27FC236}">
                <a16:creationId xmlns:a16="http://schemas.microsoft.com/office/drawing/2014/main" id="{D1B79749-4547-2D26-C624-9E841E331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124" y="4428268"/>
            <a:ext cx="1354257" cy="1354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4961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/>
      <p:bldP spid="15" grpId="0" animBg="1"/>
      <p:bldP spid="16" grpId="0" animBg="1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F139D-1108-75FF-21AF-452BBE0FF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0FBBF-ECCB-2096-D62C-E40AE624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Another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9C1BA5-81B8-687B-C483-ED01E6067A8A}"/>
              </a:ext>
            </a:extLst>
          </p:cNvPr>
          <p:cNvSpPr txBox="1"/>
          <p:nvPr/>
        </p:nvSpPr>
        <p:spPr>
          <a:xfrm>
            <a:off x="1357631" y="1843950"/>
            <a:ext cx="6540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Imagine a machine which you put </a:t>
            </a:r>
            <a:r>
              <a:rPr lang="en-GB" b="1" dirty="0"/>
              <a:t>a number </a:t>
            </a:r>
            <a:r>
              <a:rPr lang="en-GB" dirty="0"/>
              <a:t>into, and </a:t>
            </a:r>
            <a:r>
              <a:rPr lang="en-GB" b="1" dirty="0"/>
              <a:t>how many decimal places</a:t>
            </a:r>
            <a:r>
              <a:rPr lang="en-GB" dirty="0"/>
              <a:t> you want to round it to.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0BDDB58D-20B1-3DF3-819D-7F412BCDF281}"/>
              </a:ext>
            </a:extLst>
          </p:cNvPr>
          <p:cNvSpPr/>
          <p:nvPr/>
        </p:nvSpPr>
        <p:spPr>
          <a:xfrm>
            <a:off x="2841997" y="3442339"/>
            <a:ext cx="871442" cy="54004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C80B28B-9512-B1C2-0A78-22B4710B0547}"/>
              </a:ext>
            </a:extLst>
          </p:cNvPr>
          <p:cNvSpPr/>
          <p:nvPr/>
        </p:nvSpPr>
        <p:spPr>
          <a:xfrm>
            <a:off x="5568175" y="3442339"/>
            <a:ext cx="871442" cy="54004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6B4373-8D84-1F65-8B23-3E870E9F9BC7}"/>
              </a:ext>
            </a:extLst>
          </p:cNvPr>
          <p:cNvSpPr txBox="1"/>
          <p:nvPr/>
        </p:nvSpPr>
        <p:spPr>
          <a:xfrm>
            <a:off x="1077105" y="3257673"/>
            <a:ext cx="963341" cy="3693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3.14159</a:t>
            </a:r>
          </a:p>
        </p:txBody>
      </p:sp>
      <p:pic>
        <p:nvPicPr>
          <p:cNvPr id="3074" name="Picture 2" descr="Ideas Machine Cartoon PNG &amp; SVG Design For T-Shirts">
            <a:extLst>
              <a:ext uri="{FF2B5EF4-FFF2-40B4-BE49-F238E27FC236}">
                <a16:creationId xmlns:a16="http://schemas.microsoft.com/office/drawing/2014/main" id="{743E51B2-B49C-79B5-658A-6936EBA22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316" y="2755152"/>
            <a:ext cx="1571368" cy="157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6242E6-58AD-3F33-F3E1-A76EDAF65252}"/>
              </a:ext>
            </a:extLst>
          </p:cNvPr>
          <p:cNvSpPr txBox="1"/>
          <p:nvPr/>
        </p:nvSpPr>
        <p:spPr>
          <a:xfrm>
            <a:off x="628650" y="3860780"/>
            <a:ext cx="1860253" cy="369332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 decimal places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3C8533-0F7C-B39D-4D63-2F0DBEFCC9CF}"/>
              </a:ext>
            </a:extLst>
          </p:cNvPr>
          <p:cNvSpPr txBox="1"/>
          <p:nvPr/>
        </p:nvSpPr>
        <p:spPr>
          <a:xfrm>
            <a:off x="7004340" y="3522764"/>
            <a:ext cx="606256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3.14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EFED7AF-8C99-A640-F3C8-5E14BAAE8E51}"/>
              </a:ext>
            </a:extLst>
          </p:cNvPr>
          <p:cNvSpPr/>
          <p:nvPr/>
        </p:nvSpPr>
        <p:spPr>
          <a:xfrm>
            <a:off x="2848134" y="5306872"/>
            <a:ext cx="871442" cy="54004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B3BB65E-E11A-7699-BD7D-1D5E1BD70BA8}"/>
              </a:ext>
            </a:extLst>
          </p:cNvPr>
          <p:cNvSpPr/>
          <p:nvPr/>
        </p:nvSpPr>
        <p:spPr>
          <a:xfrm>
            <a:off x="5574312" y="5306872"/>
            <a:ext cx="871442" cy="54004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99D0AE-D1C9-2227-5461-F91030D458FE}"/>
              </a:ext>
            </a:extLst>
          </p:cNvPr>
          <p:cNvSpPr txBox="1"/>
          <p:nvPr/>
        </p:nvSpPr>
        <p:spPr>
          <a:xfrm>
            <a:off x="962665" y="5110078"/>
            <a:ext cx="1320746" cy="3693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12.3456789</a:t>
            </a:r>
          </a:p>
        </p:txBody>
      </p:sp>
      <p:pic>
        <p:nvPicPr>
          <p:cNvPr id="21" name="Picture 2" descr="Ideas Machine Cartoon PNG &amp; SVG Design For T-Shirts">
            <a:extLst>
              <a:ext uri="{FF2B5EF4-FFF2-40B4-BE49-F238E27FC236}">
                <a16:creationId xmlns:a16="http://schemas.microsoft.com/office/drawing/2014/main" id="{B8E9B4AE-4F25-F0D1-1B1C-09B28B9D4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2453" y="4619685"/>
            <a:ext cx="1571368" cy="157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D051845-32CD-FCB1-D86F-E72541B6DE67}"/>
              </a:ext>
            </a:extLst>
          </p:cNvPr>
          <p:cNvSpPr txBox="1"/>
          <p:nvPr/>
        </p:nvSpPr>
        <p:spPr>
          <a:xfrm>
            <a:off x="634787" y="5725313"/>
            <a:ext cx="1860253" cy="369332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 decimal places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A96B34-F35B-3066-25B3-B2A682201A3D}"/>
              </a:ext>
            </a:extLst>
          </p:cNvPr>
          <p:cNvSpPr txBox="1"/>
          <p:nvPr/>
        </p:nvSpPr>
        <p:spPr>
          <a:xfrm>
            <a:off x="7010477" y="5387297"/>
            <a:ext cx="846707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12.345</a:t>
            </a:r>
          </a:p>
        </p:txBody>
      </p:sp>
    </p:spTree>
    <p:extLst>
      <p:ext uri="{BB962C8B-B14F-4D97-AF65-F5344CB8AC3E}">
        <p14:creationId xmlns:p14="http://schemas.microsoft.com/office/powerpoint/2010/main" val="302603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11" grpId="0" animBg="1"/>
      <p:bldP spid="18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F6361-5286-047E-25CC-BBB0BCBC5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6277-7F8A-CF0C-72CF-629D3BD47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In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AF34B8-B593-A76E-A1A6-946B6CE8D746}"/>
              </a:ext>
            </a:extLst>
          </p:cNvPr>
          <p:cNvSpPr txBox="1"/>
          <p:nvPr/>
        </p:nvSpPr>
        <p:spPr>
          <a:xfrm>
            <a:off x="1357631" y="1843950"/>
            <a:ext cx="6540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The following Visual Basic program </a:t>
            </a:r>
            <a:r>
              <a:rPr lang="en-GB" b="1" dirty="0"/>
              <a:t>rounds</a:t>
            </a:r>
            <a:r>
              <a:rPr lang="en-GB" dirty="0"/>
              <a:t> </a:t>
            </a:r>
            <a:r>
              <a:rPr lang="en-GB" b="1" dirty="0"/>
              <a:t>a</a:t>
            </a:r>
            <a:r>
              <a:rPr lang="en-GB" dirty="0"/>
              <a:t> </a:t>
            </a:r>
            <a:r>
              <a:rPr lang="en-GB" b="1" dirty="0"/>
              <a:t>real number </a:t>
            </a:r>
            <a:r>
              <a:rPr lang="en-GB" dirty="0"/>
              <a:t>to the nearest two decimal places: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7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E491F8D-2329-C970-0EF9-AAE55224E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059" y="3060785"/>
            <a:ext cx="5245882" cy="1630795"/>
          </a:xfrm>
          <a:prstGeom prst="rect">
            <a:avLst/>
          </a:prstGeom>
        </p:spPr>
      </p:pic>
      <p:pic>
        <p:nvPicPr>
          <p:cNvPr id="7" name="Picture 2" descr="Ideas Machine Cartoon PNG &amp; SVG Design For T-Shirts">
            <a:extLst>
              <a:ext uri="{FF2B5EF4-FFF2-40B4-BE49-F238E27FC236}">
                <a16:creationId xmlns:a16="http://schemas.microsoft.com/office/drawing/2014/main" id="{DBB244A2-F7CF-2745-C080-650B81443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316" y="4856210"/>
            <a:ext cx="1571368" cy="157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395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848E7-92C8-C435-EEF2-1FC86B01B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F3C01-A4E4-089F-A74F-AF2019484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The </a:t>
            </a:r>
            <a:r>
              <a:rPr lang="en-GB" b="1" dirty="0"/>
              <a:t>Round </a:t>
            </a:r>
            <a:r>
              <a:rPr lang="en-GB" dirty="0"/>
              <a:t>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CBA84-0892-F19D-75BB-FD43D1FEAAA1}"/>
              </a:ext>
            </a:extLst>
          </p:cNvPr>
          <p:cNvSpPr txBox="1"/>
          <p:nvPr/>
        </p:nvSpPr>
        <p:spPr>
          <a:xfrm>
            <a:off x="2728385" y="5158126"/>
            <a:ext cx="36872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result = </a:t>
            </a:r>
            <a:r>
              <a:rPr lang="en-GB" dirty="0" err="1"/>
              <a:t>Math.Round</a:t>
            </a:r>
            <a:r>
              <a:rPr lang="en-GB" dirty="0"/>
              <a:t>(  </a:t>
            </a:r>
            <a:r>
              <a:rPr lang="en-GB" b="1" dirty="0">
                <a:solidFill>
                  <a:schemeClr val="accent5"/>
                </a:solidFill>
              </a:rPr>
              <a:t>3.14159 </a:t>
            </a:r>
            <a:r>
              <a:rPr lang="en-GB" dirty="0"/>
              <a:t>, </a:t>
            </a:r>
            <a:r>
              <a:rPr lang="en-GB" b="1" dirty="0">
                <a:solidFill>
                  <a:schemeClr val="accent6"/>
                </a:solidFill>
              </a:rPr>
              <a:t>2</a:t>
            </a:r>
            <a:r>
              <a:rPr lang="en-GB" dirty="0"/>
              <a:t>  )</a:t>
            </a:r>
          </a:p>
          <a:p>
            <a:endParaRPr lang="en-GB" dirty="0"/>
          </a:p>
          <a:p>
            <a:r>
              <a:rPr lang="en-GB" dirty="0"/>
              <a:t>result = </a:t>
            </a:r>
            <a:r>
              <a:rPr lang="en-GB" b="1" dirty="0">
                <a:solidFill>
                  <a:schemeClr val="accent2"/>
                </a:solidFill>
              </a:rPr>
              <a:t>3.14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1852C0-18DE-B441-8AA7-E77C13814453}"/>
              </a:ext>
            </a:extLst>
          </p:cNvPr>
          <p:cNvSpPr txBox="1"/>
          <p:nvPr/>
        </p:nvSpPr>
        <p:spPr>
          <a:xfrm>
            <a:off x="1301712" y="1849064"/>
            <a:ext cx="65405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Round has two “</a:t>
            </a:r>
            <a:r>
              <a:rPr lang="en-US" b="1" dirty="0"/>
              <a:t>Parameters</a:t>
            </a:r>
            <a:r>
              <a:rPr lang="en-US" dirty="0"/>
              <a:t>” - pieces of data you put between the brackets of a function: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first piece of information is </a:t>
            </a:r>
            <a:r>
              <a:rPr lang="en-US" b="1" dirty="0">
                <a:solidFill>
                  <a:schemeClr val="accent5"/>
                </a:solidFill>
              </a:rPr>
              <a:t>the number you want to 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second piece of information is the </a:t>
            </a:r>
            <a:r>
              <a:rPr lang="en-US" b="1" dirty="0">
                <a:solidFill>
                  <a:schemeClr val="accent6"/>
                </a:solidFill>
              </a:rPr>
              <a:t>number of decimal places </a:t>
            </a:r>
            <a:r>
              <a:rPr lang="en-US" dirty="0"/>
              <a:t>you want to round the number 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rounded number can be stored inside a </a:t>
            </a:r>
            <a:r>
              <a:rPr lang="en-US" b="1" dirty="0">
                <a:solidFill>
                  <a:schemeClr val="accent2"/>
                </a:solidFill>
              </a:rPr>
              <a:t>variable</a:t>
            </a:r>
          </a:p>
        </p:txBody>
      </p:sp>
    </p:spTree>
    <p:extLst>
      <p:ext uri="{BB962C8B-B14F-4D97-AF65-F5344CB8AC3E}">
        <p14:creationId xmlns:p14="http://schemas.microsoft.com/office/powerpoint/2010/main" val="2657930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F9F05-578B-2B48-1590-4984B5E71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F945-5202-6682-9A0F-F6495D390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Predefined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FB51CC-AA81-6417-5A41-552D2E2B519F}"/>
              </a:ext>
            </a:extLst>
          </p:cNvPr>
          <p:cNvSpPr txBox="1"/>
          <p:nvPr/>
        </p:nvSpPr>
        <p:spPr>
          <a:xfrm>
            <a:off x="1357631" y="1843950"/>
            <a:ext cx="654057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A block of code already written and built into a programming language or software:</a:t>
            </a:r>
          </a:p>
          <a:p>
            <a:pPr marL="27305"/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Like the </a:t>
            </a:r>
            <a:r>
              <a:rPr lang="en-GB" b="1" dirty="0"/>
              <a:t>Machine</a:t>
            </a:r>
            <a:r>
              <a:rPr lang="en-GB" dirty="0"/>
              <a:t> – you don’t have to </a:t>
            </a:r>
            <a:r>
              <a:rPr lang="en-GB" i="1" dirty="0"/>
              <a:t>make it</a:t>
            </a:r>
            <a:r>
              <a:rPr lang="en-GB" dirty="0"/>
              <a:t>, you just need to know how to </a:t>
            </a:r>
            <a:r>
              <a:rPr lang="en-GB" i="1" dirty="0"/>
              <a:t>use it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Designed to perform a specific common task without needing the programmer to make it from scratch</a:t>
            </a:r>
          </a:p>
          <a:p>
            <a:pPr marL="27305"/>
            <a:endParaRPr lang="en-GB" dirty="0"/>
          </a:p>
          <a:p>
            <a:pPr marL="27305"/>
            <a:r>
              <a:rPr lang="en-GB" dirty="0"/>
              <a:t>There are three you need to know in National 5:</a:t>
            </a:r>
          </a:p>
          <a:p>
            <a:pPr marL="27305"/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Round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Length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Random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2" descr="Ideas Machine Cartoon PNG &amp; SVG Design For T-Shirts">
            <a:extLst>
              <a:ext uri="{FF2B5EF4-FFF2-40B4-BE49-F238E27FC236}">
                <a16:creationId xmlns:a16="http://schemas.microsoft.com/office/drawing/2014/main" id="{A75980FC-031C-C73E-3742-A32C7DA26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3982" y="4769517"/>
            <a:ext cx="1571368" cy="157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1703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2738B-5987-492E-096A-172BF87CF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7B58D-159A-CC31-0DD3-69C6B061D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The </a:t>
            </a:r>
            <a:r>
              <a:rPr lang="en-GB" b="1" dirty="0"/>
              <a:t>Length </a:t>
            </a:r>
            <a:r>
              <a:rPr lang="en-GB" dirty="0"/>
              <a:t>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18B047-849E-59E7-2404-3E8135D9EA1C}"/>
              </a:ext>
            </a:extLst>
          </p:cNvPr>
          <p:cNvSpPr txBox="1"/>
          <p:nvPr/>
        </p:nvSpPr>
        <p:spPr>
          <a:xfrm>
            <a:off x="1301712" y="1849064"/>
            <a:ext cx="65405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Len() </a:t>
            </a:r>
            <a:r>
              <a:rPr lang="en-US" dirty="0"/>
              <a:t>function calculates how many characters there are in a string.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pPr lvl="1"/>
            <a:r>
              <a:rPr lang="en-US" dirty="0"/>
              <a:t>Dim </a:t>
            </a:r>
            <a:r>
              <a:rPr lang="en-US" b="1" dirty="0" err="1">
                <a:solidFill>
                  <a:schemeClr val="accent5"/>
                </a:solidFill>
              </a:rPr>
              <a:t>my_word</a:t>
            </a:r>
            <a:r>
              <a:rPr lang="en-US" b="1" dirty="0">
                <a:solidFill>
                  <a:schemeClr val="accent5"/>
                </a:solidFill>
              </a:rPr>
              <a:t> </a:t>
            </a:r>
            <a:r>
              <a:rPr lang="en-US" dirty="0"/>
              <a:t>As String</a:t>
            </a:r>
          </a:p>
          <a:p>
            <a:pPr lvl="1"/>
            <a:r>
              <a:rPr lang="en-US" dirty="0"/>
              <a:t>Dim </a:t>
            </a:r>
            <a:r>
              <a:rPr lang="en-US" b="1" dirty="0" err="1">
                <a:solidFill>
                  <a:schemeClr val="accent6"/>
                </a:solidFill>
              </a:rPr>
              <a:t>word_length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dirty="0"/>
              <a:t>As Integer</a:t>
            </a:r>
          </a:p>
          <a:p>
            <a:pPr lvl="1"/>
            <a:endParaRPr lang="en-US" dirty="0"/>
          </a:p>
          <a:p>
            <a:pPr lvl="1"/>
            <a:r>
              <a:rPr lang="en-US" b="1" dirty="0" err="1">
                <a:solidFill>
                  <a:schemeClr val="accent5"/>
                </a:solidFill>
              </a:rPr>
              <a:t>my_word</a:t>
            </a:r>
            <a:r>
              <a:rPr lang="en-US" b="1" dirty="0">
                <a:solidFill>
                  <a:schemeClr val="accent5"/>
                </a:solidFill>
              </a:rPr>
              <a:t> </a:t>
            </a:r>
            <a:r>
              <a:rPr lang="en-US" dirty="0"/>
              <a:t>= “</a:t>
            </a:r>
            <a:r>
              <a:rPr lang="en-US" b="1" dirty="0"/>
              <a:t>MrWang4Eva</a:t>
            </a:r>
            <a:r>
              <a:rPr lang="en-US" dirty="0"/>
              <a:t>”</a:t>
            </a:r>
          </a:p>
          <a:p>
            <a:pPr lvl="1"/>
            <a:endParaRPr lang="en-US" dirty="0"/>
          </a:p>
          <a:p>
            <a:pPr lvl="1"/>
            <a:r>
              <a:rPr lang="en-US" b="1" dirty="0" err="1">
                <a:solidFill>
                  <a:schemeClr val="accent6"/>
                </a:solidFill>
              </a:rPr>
              <a:t>word_length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dirty="0"/>
              <a:t>= </a:t>
            </a:r>
            <a:r>
              <a:rPr lang="en-US" b="1" dirty="0" err="1"/>
              <a:t>len</a:t>
            </a:r>
            <a:r>
              <a:rPr lang="en-US" b="1" dirty="0"/>
              <a:t>(</a:t>
            </a:r>
            <a:r>
              <a:rPr lang="en-US" b="1" dirty="0" err="1">
                <a:solidFill>
                  <a:schemeClr val="accent5"/>
                </a:solidFill>
              </a:rPr>
              <a:t>my_word</a:t>
            </a:r>
            <a:r>
              <a:rPr lang="en-US" b="1" dirty="0"/>
              <a:t>)</a:t>
            </a:r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b="1" dirty="0" err="1">
                <a:solidFill>
                  <a:srgbClr val="C00000"/>
                </a:solidFill>
              </a:rPr>
              <a:t>word_length</a:t>
            </a:r>
            <a:r>
              <a:rPr lang="en-US" b="1" dirty="0">
                <a:solidFill>
                  <a:srgbClr val="C00000"/>
                </a:solidFill>
              </a:rPr>
              <a:t> will have a value of 10</a:t>
            </a:r>
          </a:p>
        </p:txBody>
      </p:sp>
    </p:spTree>
    <p:extLst>
      <p:ext uri="{BB962C8B-B14F-4D97-AF65-F5344CB8AC3E}">
        <p14:creationId xmlns:p14="http://schemas.microsoft.com/office/powerpoint/2010/main" val="1430797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C7DA9-2A4B-1C93-81EA-1888D7B9A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54ED-5F1B-3C4C-C8DA-9C9ADA9B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The </a:t>
            </a:r>
            <a:r>
              <a:rPr lang="en-GB" b="1" dirty="0"/>
              <a:t>Length </a:t>
            </a:r>
            <a:r>
              <a:rPr lang="en-GB" dirty="0"/>
              <a:t>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657D7-1FD7-EE01-5978-7141AE9BE34D}"/>
              </a:ext>
            </a:extLst>
          </p:cNvPr>
          <p:cNvSpPr txBox="1"/>
          <p:nvPr/>
        </p:nvSpPr>
        <p:spPr>
          <a:xfrm>
            <a:off x="1301712" y="1849064"/>
            <a:ext cx="65405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example below asks the user to create a username that is </a:t>
            </a:r>
            <a:r>
              <a:rPr lang="en-GB" b="1" dirty="0"/>
              <a:t>6 or more characters in length</a:t>
            </a:r>
            <a:r>
              <a:rPr lang="en-GB" dirty="0"/>
              <a:t>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It will then check if this is true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IF NOT then it will provide an error message and then ask them to re-enter</a:t>
            </a:r>
          </a:p>
        </p:txBody>
      </p:sp>
      <p:pic>
        <p:nvPicPr>
          <p:cNvPr id="3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31CBB5F-49E7-4D94-1232-2F8B9678C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36" y="3909084"/>
            <a:ext cx="7672725" cy="226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169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7CFC8-7B96-DE07-B545-4AABACEAF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578A0-8284-CD54-2E63-C3FACBE39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The </a:t>
            </a:r>
            <a:r>
              <a:rPr lang="en-GB" b="1" dirty="0"/>
              <a:t>Random </a:t>
            </a:r>
            <a:r>
              <a:rPr lang="en-GB" dirty="0"/>
              <a:t>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00CD25-7467-D038-45D8-DEE8675CB828}"/>
              </a:ext>
            </a:extLst>
          </p:cNvPr>
          <p:cNvSpPr txBox="1"/>
          <p:nvPr/>
        </p:nvSpPr>
        <p:spPr>
          <a:xfrm>
            <a:off x="1301712" y="1849064"/>
            <a:ext cx="6540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 err="1"/>
              <a:t>Rnd</a:t>
            </a:r>
            <a:r>
              <a:rPr lang="en-US" b="1" dirty="0"/>
              <a:t>() </a:t>
            </a:r>
            <a:r>
              <a:rPr lang="en-US" dirty="0"/>
              <a:t>function generates a random number between 0-1: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FA399B8D-E4F5-2E9D-2C7B-B8B33FE50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847" y="2487536"/>
            <a:ext cx="3630304" cy="15980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412275-F0C7-AD72-4CED-F686FE03BAD0}"/>
              </a:ext>
            </a:extLst>
          </p:cNvPr>
          <p:cNvSpPr txBox="1"/>
          <p:nvPr/>
        </p:nvSpPr>
        <p:spPr>
          <a:xfrm>
            <a:off x="1301712" y="4443192"/>
            <a:ext cx="6540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above program generates a number between 1 and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also use the </a:t>
            </a:r>
            <a:r>
              <a:rPr lang="en-US" b="1" dirty="0"/>
              <a:t>Int()</a:t>
            </a:r>
            <a:r>
              <a:rPr lang="en-US" dirty="0"/>
              <a:t> function to convert the a real number to an integer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/>
              <a:t>The formula to use is: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GB" dirty="0">
                <a:solidFill>
                  <a:srgbClr val="00B050"/>
                </a:solidFill>
                <a:latin typeface="Calibri"/>
                <a:ea typeface="+mn-lt"/>
                <a:cs typeface="Calibri"/>
              </a:rPr>
              <a:t>Variable </a:t>
            </a:r>
            <a:r>
              <a:rPr lang="en-GB" dirty="0">
                <a:solidFill>
                  <a:srgbClr val="7030A0"/>
                </a:solidFill>
                <a:latin typeface="Calibri"/>
                <a:ea typeface="+mn-lt"/>
                <a:cs typeface="Calibri"/>
              </a:rPr>
              <a:t>=  </a:t>
            </a:r>
            <a:r>
              <a:rPr lang="en-GB" dirty="0">
                <a:solidFill>
                  <a:srgbClr val="FF0000"/>
                </a:solidFill>
                <a:latin typeface="Calibri"/>
                <a:ea typeface="+mn-lt"/>
                <a:cs typeface="Calibri"/>
              </a:rPr>
              <a:t>Int</a:t>
            </a:r>
            <a:r>
              <a:rPr lang="en-GB" dirty="0">
                <a:solidFill>
                  <a:srgbClr val="7030A0"/>
                </a:solidFill>
                <a:latin typeface="Calibri"/>
                <a:ea typeface="+mn-lt"/>
                <a:cs typeface="Calibri"/>
              </a:rPr>
              <a:t>(</a:t>
            </a:r>
            <a:r>
              <a:rPr lang="en-GB" dirty="0">
                <a:solidFill>
                  <a:srgbClr val="0070C0"/>
                </a:solidFill>
                <a:latin typeface="Calibri"/>
                <a:ea typeface="+mn-lt"/>
                <a:cs typeface="Calibri"/>
              </a:rPr>
              <a:t>RND()</a:t>
            </a:r>
            <a:r>
              <a:rPr lang="en-GB" dirty="0">
                <a:solidFill>
                  <a:srgbClr val="7030A0"/>
                </a:solidFill>
                <a:latin typeface="Calibri"/>
                <a:ea typeface="+mn-lt"/>
                <a:cs typeface="Calibri"/>
              </a:rPr>
              <a:t> * Possibilities) 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  <a:latin typeface="Calibri"/>
                <a:ea typeface="+mn-lt"/>
                <a:cs typeface="Calibri"/>
              </a:rPr>
              <a:t>+ Lowest</a:t>
            </a:r>
            <a:endParaRPr lang="en-GB" dirty="0">
              <a:solidFill>
                <a:schemeClr val="accent3">
                  <a:lumMod val="75000"/>
                </a:schemeClr>
              </a:solidFill>
              <a:ea typeface="+mn-lt"/>
              <a:cs typeface="+mn-lt"/>
            </a:endParaRPr>
          </a:p>
          <a:p>
            <a:endParaRPr 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446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F30E2-94CB-235D-DC9C-3A0189602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F514D-9E1B-5F9A-6283-154AE1B27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3E5A30-B654-695A-C59B-BA8EB58E9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99A911-B7B5-B864-1C44-4688C439E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the 3 predefined functions in National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How to use predefined functions in Visual Basic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0EBBE3-D299-F503-C901-308C8B234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ADFDDE-1DE2-F330-CC45-64E5666B4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Describe the three predefined functions and what they are used for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Write programs using predefined functions</a:t>
            </a:r>
          </a:p>
        </p:txBody>
      </p:sp>
    </p:spTree>
    <p:extLst>
      <p:ext uri="{BB962C8B-B14F-4D97-AF65-F5344CB8AC3E}">
        <p14:creationId xmlns:p14="http://schemas.microsoft.com/office/powerpoint/2010/main" val="4183322327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419047_TF22318419_Win32" id="{DA6E7C03-7C07-46B9-8D9D-F061C4AB5C28}" vid="{0874F78C-8308-4EE6-8F19-85387B8691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3074FC08804A458A8C8F0DC4C1E099" ma:contentTypeVersion="3" ma:contentTypeDescription="Create a new document." ma:contentTypeScope="" ma:versionID="c5f0b38251d317ab277e387d6b557b9b">
  <xsd:schema xmlns:xsd="http://www.w3.org/2001/XMLSchema" xmlns:xs="http://www.w3.org/2001/XMLSchema" xmlns:p="http://schemas.microsoft.com/office/2006/metadata/properties" xmlns:ns2="3f9ddf9c-6903-432b-b7b2-793712443b9a" targetNamespace="http://schemas.microsoft.com/office/2006/metadata/properties" ma:root="true" ma:fieldsID="921f147f580d21fb0753fb6d8f6b699d" ns2:_="">
    <xsd:import namespace="3f9ddf9c-6903-432b-b7b2-793712443b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9ddf9c-6903-432b-b7b2-793712443b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BA3906-9696-4247-AC0D-DD5C26B2A70A}">
  <ds:schemaRefs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sharepoint/v3"/>
    <ds:schemaRef ds:uri="http://schemas.microsoft.com/office/infopath/2007/PartnerControls"/>
    <ds:schemaRef ds:uri="http://purl.org/dc/terms/"/>
    <ds:schemaRef ds:uri="230e9df3-be65-4c73-a93b-d1236ebd677e"/>
    <ds:schemaRef ds:uri="71af3243-3dd4-4a8d-8c0d-dd76da1f02a5"/>
    <ds:schemaRef ds:uri="http://www.w3.org/XML/1998/namespace"/>
    <ds:schemaRef ds:uri="934cf7c4-a8c2-490a-9333-978f88a726af"/>
    <ds:schemaRef ds:uri="48e28243-b2f4-431c-814c-64330afb3e26"/>
  </ds:schemaRefs>
</ds:datastoreItem>
</file>

<file path=customXml/itemProps2.xml><?xml version="1.0" encoding="utf-8"?>
<ds:datastoreItem xmlns:ds="http://schemas.openxmlformats.org/officeDocument/2006/customXml" ds:itemID="{FFD54F6A-530C-409C-9B13-869A0502D0D5}"/>
</file>

<file path=customXml/itemProps3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2348</TotalTime>
  <Words>570</Words>
  <Application>Microsoft Office PowerPoint</Application>
  <PresentationFormat>On-screen Show (4:3)</PresentationFormat>
  <Paragraphs>108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Tenorite</vt:lpstr>
      <vt:lpstr>Monoline</vt:lpstr>
      <vt:lpstr>Starter Task</vt:lpstr>
      <vt:lpstr>Learning intentions and success criteria</vt:lpstr>
      <vt:lpstr>Predefined Functions</vt:lpstr>
      <vt:lpstr>Functions</vt:lpstr>
      <vt:lpstr>PowerPoint Presentation</vt:lpstr>
      <vt:lpstr>Another Example</vt:lpstr>
      <vt:lpstr>In Code</vt:lpstr>
      <vt:lpstr>The Round Function</vt:lpstr>
      <vt:lpstr>Predefined Functions</vt:lpstr>
      <vt:lpstr>The Length Function</vt:lpstr>
      <vt:lpstr>The Length Function</vt:lpstr>
      <vt:lpstr>The Random Function</vt:lpstr>
      <vt:lpstr>Learning intentions and success criteria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Wang (student)</dc:creator>
  <cp:lastModifiedBy>Timothy Wang (student)</cp:lastModifiedBy>
  <cp:revision>212</cp:revision>
  <cp:lastPrinted>2025-08-18T09:52:00Z</cp:lastPrinted>
  <dcterms:created xsi:type="dcterms:W3CDTF">2025-02-10T23:03:02Z</dcterms:created>
  <dcterms:modified xsi:type="dcterms:W3CDTF">2025-10-01T23:55:03Z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0x010100CE3074FC08804A458A8C8F0DC4C1E099</vt:lpwstr>
  </property>
</Properties>
</file>