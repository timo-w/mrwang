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2"/>
  </p:notesMasterIdLst>
  <p:handoutMasterIdLst>
    <p:handoutMasterId r:id="rId13"/>
  </p:handoutMasterIdLst>
  <p:sldIdLst>
    <p:sldId id="296" r:id="rId5"/>
    <p:sldId id="431" r:id="rId6"/>
    <p:sldId id="441" r:id="rId7"/>
    <p:sldId id="442" r:id="rId8"/>
    <p:sldId id="443" r:id="rId9"/>
    <p:sldId id="444" r:id="rId10"/>
    <p:sldId id="427" r:id="rId11"/>
  </p:sldIdLst>
  <p:sldSz cx="9144000" cy="6858000" type="screen4x3"/>
  <p:notesSz cx="6805613" cy="9939338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8000"/>
    <a:srgbClr val="990055"/>
    <a:srgbClr val="375EBE"/>
    <a:srgbClr val="BE494D"/>
    <a:srgbClr val="E9E6DF"/>
    <a:srgbClr val="FFD1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0024" autoAdjust="0"/>
  </p:normalViewPr>
  <p:slideViewPr>
    <p:cSldViewPr snapToGrid="0">
      <p:cViewPr varScale="1">
        <p:scale>
          <a:sx n="100" d="100"/>
          <a:sy n="100" d="100"/>
        </p:scale>
        <p:origin x="1950" y="72"/>
      </p:cViewPr>
      <p:guideLst>
        <p:guide orient="horz" pos="33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49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5C065-7973-41A8-A2CC-441A8BA3384C}" type="datetime1">
              <a:rPr lang="en-GB" smtClean="0"/>
              <a:t>09/09/2025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7A586-3225-45EC-B90F-43F9676D14C2}" type="datetime1">
              <a:rPr lang="en-GB" smtClean="0"/>
              <a:pPr/>
              <a:t>09/09/2025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3B5C7-834B-4703-CE9A-AE81D36BD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AA0BCE-7690-F084-2488-ACC31B37CE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6BEECB-0300-6DAB-170C-98A9FF0B9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7D7B0-2EB6-698A-F4BA-CCDBCE52F8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96263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DD2BA-F006-83F6-39E6-D23DDF174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AD0655-2434-F4C9-FFF2-E4B314E1D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DA835C-264C-9F08-275C-97766988A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FEADE-8CEC-ABCF-3A84-FF167573F7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08011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F72E1-5290-EBB5-C09A-6BDFB51D3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A7FB71-8F8F-55DA-F05C-3CF78C9BDC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DD270-6959-9255-DC08-43CD8B41F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5591C-46DC-052A-38B0-3C52C480A5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70622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55C97-0498-CD25-2AED-188A5C362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64444C-0C1E-8AF3-27D1-03B1AC77CE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F1B417-E240-5659-7EF6-3DE0720E0B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74E39-CEE0-21C5-0FA2-273C440BEF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61669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ACAFD-0275-7DA4-498F-D1E339B02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AB503F-4AA0-4DC7-63AE-2D8B5F891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7C2AF9-4EAB-6985-20BF-7FE82B383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67091-260D-B3D3-A016-A26E722F6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25494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031" y="4434840"/>
            <a:ext cx="3706328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031" y="5586890"/>
            <a:ext cx="3706328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1"/>
            <a:ext cx="7116234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116612" y="0"/>
            <a:ext cx="50273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125" y="1020446"/>
            <a:ext cx="2378869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25" y="2924176"/>
            <a:ext cx="2378869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0125" y="6356351"/>
            <a:ext cx="7388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414" y="6356350"/>
            <a:ext cx="186213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52229" y="6356351"/>
            <a:ext cx="74066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5413" y="0"/>
            <a:ext cx="7558587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5509419"/>
            <a:ext cx="3061607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239" y="148113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5781" y="2557463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363378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28750" y="4710114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01152" y="159447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39522" y="267332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82703" y="3755394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31460" y="4824430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265137" y="502393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819938" y="3948451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380090" y="2872686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39698" y="179608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1459" y="6356351"/>
            <a:ext cx="1356534" cy="365125"/>
          </a:xfrm>
        </p:spPr>
        <p:txBody>
          <a:bodyPr rtlCol="0"/>
          <a:lstStyle>
            <a:lvl1pPr>
              <a:defRPr sz="900"/>
            </a:lvl1pPr>
          </a:lstStyle>
          <a:p>
            <a:pPr algn="l" rtl="0"/>
            <a:r>
              <a:rPr lang="en-GB" noProof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08156" y="6356351"/>
            <a:ext cx="40719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425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14248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4753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4857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14425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4809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4473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04857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516291" y="1"/>
            <a:ext cx="2627709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90708" y="0"/>
            <a:ext cx="1853293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1570" y="4156406"/>
            <a:ext cx="235458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153063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186006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2630432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295985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373022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05965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40080" y="4830025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39761" y="5159449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3522" y="-1"/>
            <a:ext cx="3672551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5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556" y="3660774"/>
            <a:ext cx="3833813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6822282" y="1497012"/>
            <a:ext cx="23217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5214937" y="-25401"/>
            <a:ext cx="2843213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8348" y="6356351"/>
            <a:ext cx="130730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43512" y="2571236"/>
            <a:ext cx="3134678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4407694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1862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1657350" y="0"/>
            <a:ext cx="18288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32329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329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85749" y="2776936"/>
            <a:ext cx="2172503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85749" y="3834607"/>
            <a:ext cx="2172503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28688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678782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049816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49816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856" y="2358007"/>
            <a:ext cx="18288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0469" y="2531837"/>
            <a:ext cx="1643063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9206" y="2421056"/>
            <a:ext cx="1743075" cy="2057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47892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106636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665381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7274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7274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94696" y="4824189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94696" y="5280764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53658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953658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0275" y="892178"/>
            <a:ext cx="6316266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00275" y="2776936"/>
            <a:ext cx="294322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834607"/>
            <a:ext cx="294322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557630" y="2776936"/>
            <a:ext cx="295772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834607"/>
            <a:ext cx="295772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19339" y="0"/>
            <a:ext cx="3276023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4081416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1562" y="1361938"/>
            <a:ext cx="5074444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2286002"/>
            <a:ext cx="4570703" cy="3542143"/>
          </a:xfrm>
        </p:spPr>
        <p:txBody>
          <a:bodyPr rtlCol="0"/>
          <a:lstStyle/>
          <a:p>
            <a:pPr rtl="0"/>
            <a:r>
              <a:rPr lang="en-GB" noProof="0"/>
              <a:t>Click icon to add chart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93594" y="2284624"/>
            <a:ext cx="2360499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93594" y="2779714"/>
            <a:ext cx="2361010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9143999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5799" y="3354712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744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654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563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72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382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291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201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110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019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29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838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74814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5800" y="4292468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477436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06820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65896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24973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84049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43126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02202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61279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0355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79432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385089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97585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" y="4034785"/>
            <a:ext cx="774954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628650" y="2139084"/>
            <a:ext cx="7886700" cy="3695338"/>
          </a:xfrm>
        </p:spPr>
        <p:txBody>
          <a:bodyPr rtlCol="0"/>
          <a:lstStyle/>
          <a:p>
            <a:pPr rtl="0"/>
            <a:r>
              <a:rPr lang="en-GB" noProof="0"/>
              <a:t>Click icon to add SmartArt graphic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19431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528638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53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83669" y="5084525"/>
            <a:ext cx="164746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115386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776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780706" y="5099207"/>
            <a:ext cx="1608787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77685" y="5478797"/>
            <a:ext cx="1391962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4568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lvl="1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648704" y="5099207"/>
            <a:ext cx="159973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745683" y="5478797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6059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63614" y="5084525"/>
            <a:ext cx="1599738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60593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5500687" y="0"/>
            <a:ext cx="3643313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15362" y="1"/>
            <a:ext cx="528638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70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07882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25126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042590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169703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886947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04411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3770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54945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663472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85261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69855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75824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07882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125126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042590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169703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2886947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04411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03770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754945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4672409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85261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569855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475824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4"/>
            <a:ext cx="154305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6750" y="5180889"/>
            <a:ext cx="8572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928688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2843213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6585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650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8650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85854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671999" y="3788814"/>
            <a:ext cx="1756654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71999" y="4464811"/>
            <a:ext cx="1756654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71999" y="5120723"/>
            <a:ext cx="1756654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89328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23957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23957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23957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945241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767305" y="3788458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767305" y="4464455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767305" y="5120367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76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7656" y="3682546"/>
            <a:ext cx="3833813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1"/>
            <a:ext cx="3571875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1978819" y="1"/>
            <a:ext cx="1593057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1615737"/>
            <a:ext cx="3134678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3238104"/>
            <a:ext cx="3134678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382704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0401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9791" y="6356351"/>
            <a:ext cx="19961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84572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79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blog.patentology.com.au/2017/11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C21C1-B79D-AD03-4EAE-D2542FF3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DCA64-873A-D0FF-B9BC-047C4A17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9065B-2239-5666-C525-8AC7E30D1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F8EBB-712D-FA69-3F85-6C3C4D916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the design stage of software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How to read and create pseudocode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A2F969-28CF-3476-B018-2C72791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659522-523D-64B6-2A66-6AD09301A8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279023"/>
            <a:ext cx="2957720" cy="34424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Describe the design phase and the aspects of software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Design pseudocode according to a program specification</a:t>
            </a:r>
          </a:p>
        </p:txBody>
      </p:sp>
    </p:spTree>
    <p:extLst>
      <p:ext uri="{BB962C8B-B14F-4D97-AF65-F5344CB8AC3E}">
        <p14:creationId xmlns:p14="http://schemas.microsoft.com/office/powerpoint/2010/main" val="1017054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B5C50-B00A-F5A8-9669-0121CE6DD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F0B19-75CA-6696-1787-53B67574A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B2CB91-BC34-5A13-FA8F-7ECB06387026}"/>
              </a:ext>
            </a:extLst>
          </p:cNvPr>
          <p:cNvSpPr txBox="1"/>
          <p:nvPr/>
        </p:nvSpPr>
        <p:spPr>
          <a:xfrm>
            <a:off x="1357632" y="1843950"/>
            <a:ext cx="6428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Pseudocode is an informal </a:t>
            </a:r>
            <a:r>
              <a:rPr lang="en-GB" b="1" dirty="0"/>
              <a:t>high-level description </a:t>
            </a:r>
            <a:r>
              <a:rPr lang="en-GB" dirty="0"/>
              <a:t>of the of a computer program: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C6150D-CC31-E5EC-2422-936D81912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525" y="3097981"/>
            <a:ext cx="3362810" cy="23677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594A25-0CDA-7F1E-8CA1-9B9BF411536F}"/>
              </a:ext>
            </a:extLst>
          </p:cNvPr>
          <p:cNvSpPr txBox="1"/>
          <p:nvPr/>
        </p:nvSpPr>
        <p:spPr>
          <a:xfrm>
            <a:off x="1357632" y="2850714"/>
            <a:ext cx="37477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It uses the structural conventions of a programming language but is </a:t>
            </a:r>
            <a:r>
              <a:rPr lang="en-GB" b="1" dirty="0"/>
              <a:t>intended for human reading </a:t>
            </a:r>
            <a:r>
              <a:rPr lang="en-GB" dirty="0"/>
              <a:t>and so uses words similar to English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Pseudocode is </a:t>
            </a:r>
            <a:r>
              <a:rPr lang="en-GB" b="1" dirty="0"/>
              <a:t>programming language independent </a:t>
            </a:r>
            <a:r>
              <a:rPr lang="en-GB" dirty="0"/>
              <a:t>meaning it doesn’t shouldn’t use syntax from a specific language</a:t>
            </a:r>
          </a:p>
        </p:txBody>
      </p:sp>
    </p:spTree>
    <p:extLst>
      <p:ext uri="{BB962C8B-B14F-4D97-AF65-F5344CB8AC3E}">
        <p14:creationId xmlns:p14="http://schemas.microsoft.com/office/powerpoint/2010/main" val="419283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162F1-0BDF-094E-1D37-981E5F5E7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89AB0-B5D0-298A-DE65-11EBFB9D1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Features of Pseudocode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F19FEE-A531-C658-3F90-0527B4A59649}"/>
              </a:ext>
            </a:extLst>
          </p:cNvPr>
          <p:cNvSpPr txBox="1"/>
          <p:nvPr/>
        </p:nvSpPr>
        <p:spPr>
          <a:xfrm>
            <a:off x="1357632" y="1843950"/>
            <a:ext cx="642873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Describes in detail </a:t>
            </a:r>
            <a:r>
              <a:rPr lang="en-GB" b="1" dirty="0"/>
              <a:t>the steps required to carry out the program</a:t>
            </a:r>
            <a:r>
              <a:rPr lang="en-GB" dirty="0"/>
              <a:t> without the need for a specified programming language</a:t>
            </a:r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r>
              <a:rPr lang="en-GB" dirty="0"/>
              <a:t>Shows the </a:t>
            </a:r>
            <a:r>
              <a:rPr lang="en-GB" b="1" dirty="0"/>
              <a:t>control constructs </a:t>
            </a:r>
            <a:r>
              <a:rPr lang="en-GB" dirty="0"/>
              <a:t>of the algorithm i.e. </a:t>
            </a:r>
            <a:r>
              <a:rPr lang="en-GB" b="1" dirty="0"/>
              <a:t>Loops</a:t>
            </a:r>
            <a:r>
              <a:rPr lang="en-GB" dirty="0"/>
              <a:t>, </a:t>
            </a:r>
            <a:r>
              <a:rPr lang="en-GB" b="1" dirty="0"/>
              <a:t>Conditions</a:t>
            </a:r>
            <a:r>
              <a:rPr lang="en-GB" dirty="0"/>
              <a:t>, etc</a:t>
            </a:r>
            <a:endParaRPr lang="en-GB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endParaRPr lang="en-GB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GB" b="1" dirty="0"/>
              <a:t>Breaks the problem down </a:t>
            </a:r>
            <a:r>
              <a:rPr lang="en-GB" dirty="0"/>
              <a:t>into simpler more manageable steps. </a:t>
            </a:r>
          </a:p>
        </p:txBody>
      </p:sp>
      <p:pic>
        <p:nvPicPr>
          <p:cNvPr id="5" name="Picture 4" descr="A person standing next to several gears&#10;&#10;AI-generated content may be incorrect.">
            <a:extLst>
              <a:ext uri="{FF2B5EF4-FFF2-40B4-BE49-F238E27FC236}">
                <a16:creationId xmlns:a16="http://schemas.microsoft.com/office/drawing/2014/main" id="{2C6F6A92-B534-2C67-9DE5-F084504B1F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576637" y="4517838"/>
            <a:ext cx="1990725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748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4D62A-ABFD-86D2-F601-F5219FBD9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A82DA-905E-EB03-BA17-2063FD993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Basic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C6641A-750E-292E-A831-75E9D4986D5F}"/>
              </a:ext>
            </a:extLst>
          </p:cNvPr>
          <p:cNvSpPr txBox="1"/>
          <p:nvPr/>
        </p:nvSpPr>
        <p:spPr>
          <a:xfrm>
            <a:off x="1357632" y="1843950"/>
            <a:ext cx="6428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cs typeface="Calibri"/>
              </a:rPr>
              <a:t>A program is to be created that calculates the volume of a cuboid.</a:t>
            </a:r>
          </a:p>
          <a:p>
            <a:endParaRPr lang="en-GB" dirty="0">
              <a:cs typeface="Calibri"/>
            </a:endParaRPr>
          </a:p>
          <a:p>
            <a:r>
              <a:rPr lang="en-GB" dirty="0">
                <a:cs typeface="Calibri"/>
              </a:rPr>
              <a:t>Using Pseudocode, create a design for this solution.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687F29-3EE7-80F4-F413-1B2B455E00B1}"/>
              </a:ext>
            </a:extLst>
          </p:cNvPr>
          <p:cNvSpPr txBox="1"/>
          <p:nvPr/>
        </p:nvSpPr>
        <p:spPr>
          <a:xfrm>
            <a:off x="929007" y="3580447"/>
            <a:ext cx="32143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Analysis</a:t>
            </a:r>
          </a:p>
          <a:p>
            <a:endParaRPr lang="en-GB" dirty="0"/>
          </a:p>
          <a:p>
            <a:r>
              <a:rPr lang="en-GB" b="1" dirty="0">
                <a:solidFill>
                  <a:schemeClr val="accent2"/>
                </a:solidFill>
              </a:rPr>
              <a:t>Input</a:t>
            </a:r>
            <a:r>
              <a:rPr lang="en-GB" dirty="0"/>
              <a:t>: Length, Breadth, Height</a:t>
            </a:r>
          </a:p>
          <a:p>
            <a:endParaRPr lang="en-GB" dirty="0"/>
          </a:p>
          <a:p>
            <a:r>
              <a:rPr lang="en-GB" b="1" dirty="0">
                <a:solidFill>
                  <a:schemeClr val="accent5"/>
                </a:solidFill>
              </a:rPr>
              <a:t>Process</a:t>
            </a:r>
            <a:r>
              <a:rPr lang="en-GB" dirty="0"/>
              <a:t>: Calculate volume (l*b*h)</a:t>
            </a:r>
          </a:p>
          <a:p>
            <a:endParaRPr lang="en-GB" dirty="0"/>
          </a:p>
          <a:p>
            <a:r>
              <a:rPr lang="en-GB" b="1" dirty="0">
                <a:solidFill>
                  <a:schemeClr val="accent6"/>
                </a:solidFill>
              </a:rPr>
              <a:t>Output</a:t>
            </a:r>
            <a:r>
              <a:rPr lang="en-GB" dirty="0"/>
              <a:t>: Display volume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591353-8E14-9793-03D0-CC1DF29B1679}"/>
              </a:ext>
            </a:extLst>
          </p:cNvPr>
          <p:cNvSpPr txBox="1"/>
          <p:nvPr/>
        </p:nvSpPr>
        <p:spPr>
          <a:xfrm>
            <a:off x="4429125" y="3550919"/>
            <a:ext cx="378586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Pseudocode</a:t>
            </a:r>
          </a:p>
          <a:p>
            <a:endParaRPr lang="en-GB" dirty="0"/>
          </a:p>
          <a:p>
            <a:r>
              <a:rPr lang="en-GB" b="1" dirty="0">
                <a:solidFill>
                  <a:schemeClr val="accent2"/>
                </a:solidFill>
              </a:rPr>
              <a:t>1</a:t>
            </a:r>
            <a:r>
              <a:rPr lang="en-GB" dirty="0"/>
              <a:t> GET length from KEYBOARD</a:t>
            </a:r>
          </a:p>
          <a:p>
            <a:r>
              <a:rPr lang="en-GB" b="1" dirty="0">
                <a:solidFill>
                  <a:schemeClr val="accent2"/>
                </a:solidFill>
              </a:rPr>
              <a:t>2</a:t>
            </a:r>
            <a:r>
              <a:rPr lang="en-GB" dirty="0"/>
              <a:t> GET breadth from KEYBOARD</a:t>
            </a:r>
          </a:p>
          <a:p>
            <a:r>
              <a:rPr lang="en-GB" b="1" dirty="0">
                <a:solidFill>
                  <a:schemeClr val="accent2"/>
                </a:solidFill>
              </a:rPr>
              <a:t>3</a:t>
            </a:r>
            <a:r>
              <a:rPr lang="en-GB" dirty="0"/>
              <a:t> GET height from KEYBOARD</a:t>
            </a:r>
          </a:p>
          <a:p>
            <a:endParaRPr lang="en-GB" dirty="0"/>
          </a:p>
          <a:p>
            <a:r>
              <a:rPr lang="en-GB" b="1" dirty="0">
                <a:solidFill>
                  <a:schemeClr val="accent5"/>
                </a:solidFill>
              </a:rPr>
              <a:t>4</a:t>
            </a:r>
            <a:r>
              <a:rPr lang="en-GB" dirty="0"/>
              <a:t> volume = length*breadth*height</a:t>
            </a:r>
          </a:p>
          <a:p>
            <a:endParaRPr lang="en-GB" dirty="0"/>
          </a:p>
          <a:p>
            <a:r>
              <a:rPr lang="en-GB" b="1" dirty="0">
                <a:solidFill>
                  <a:schemeClr val="accent6"/>
                </a:solidFill>
              </a:rPr>
              <a:t>5</a:t>
            </a:r>
            <a:r>
              <a:rPr lang="en-GB" dirty="0"/>
              <a:t> SEND volume to DISPLAY</a:t>
            </a:r>
          </a:p>
        </p:txBody>
      </p:sp>
    </p:spTree>
    <p:extLst>
      <p:ext uri="{BB962C8B-B14F-4D97-AF65-F5344CB8AC3E}">
        <p14:creationId xmlns:p14="http://schemas.microsoft.com/office/powerpoint/2010/main" val="1624252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3992C-0247-161C-E054-9AD31B652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8EFBA-8EA3-D37A-E767-447584A30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Condition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C6B3B5-179C-5322-EBDF-216DB9E7B0ED}"/>
              </a:ext>
            </a:extLst>
          </p:cNvPr>
          <p:cNvSpPr txBox="1"/>
          <p:nvPr/>
        </p:nvSpPr>
        <p:spPr>
          <a:xfrm>
            <a:off x="1357632" y="1843950"/>
            <a:ext cx="6428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cs typeface="Calibri"/>
              </a:rPr>
              <a:t>This program will enter a pupil’s name and test score.</a:t>
            </a:r>
          </a:p>
          <a:p>
            <a:endParaRPr lang="en-GB" dirty="0">
              <a:cs typeface="Calibri"/>
            </a:endParaRPr>
          </a:p>
          <a:p>
            <a:r>
              <a:rPr lang="en-GB" dirty="0">
                <a:cs typeface="Calibri"/>
              </a:rPr>
              <a:t>It will then check if its 50 marks or more to determine if the pupil has passed the test or not and display the result.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8C7D7A-5E25-AD85-424D-D0B173A68CEE}"/>
              </a:ext>
            </a:extLst>
          </p:cNvPr>
          <p:cNvSpPr txBox="1"/>
          <p:nvPr/>
        </p:nvSpPr>
        <p:spPr>
          <a:xfrm>
            <a:off x="929007" y="3123247"/>
            <a:ext cx="32143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Analysis</a:t>
            </a:r>
          </a:p>
          <a:p>
            <a:endParaRPr lang="en-GB" dirty="0"/>
          </a:p>
          <a:p>
            <a:r>
              <a:rPr lang="en-GB" b="1" dirty="0">
                <a:solidFill>
                  <a:schemeClr val="accent2"/>
                </a:solidFill>
              </a:rPr>
              <a:t>Input</a:t>
            </a:r>
            <a:r>
              <a:rPr lang="en-GB" dirty="0"/>
              <a:t>: Name, Score</a:t>
            </a:r>
          </a:p>
          <a:p>
            <a:endParaRPr lang="en-GB" dirty="0"/>
          </a:p>
          <a:p>
            <a:r>
              <a:rPr lang="en-GB" b="1" dirty="0">
                <a:solidFill>
                  <a:schemeClr val="accent5"/>
                </a:solidFill>
              </a:rPr>
              <a:t>Process</a:t>
            </a:r>
            <a:r>
              <a:rPr lang="en-GB" dirty="0"/>
              <a:t>: Check if test score is 50 or more to find result.</a:t>
            </a:r>
          </a:p>
          <a:p>
            <a:endParaRPr lang="en-GB" dirty="0"/>
          </a:p>
          <a:p>
            <a:r>
              <a:rPr lang="en-GB" b="1" dirty="0">
                <a:solidFill>
                  <a:schemeClr val="accent6"/>
                </a:solidFill>
              </a:rPr>
              <a:t>Output</a:t>
            </a:r>
            <a:r>
              <a:rPr lang="en-GB" dirty="0"/>
              <a:t>: Display result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140BC6-3E58-3B41-C999-7C351B6A592A}"/>
              </a:ext>
            </a:extLst>
          </p:cNvPr>
          <p:cNvSpPr txBox="1"/>
          <p:nvPr/>
        </p:nvSpPr>
        <p:spPr>
          <a:xfrm>
            <a:off x="4429125" y="3093719"/>
            <a:ext cx="378586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Pseudocode</a:t>
            </a:r>
          </a:p>
          <a:p>
            <a:endParaRPr lang="en-GB" dirty="0"/>
          </a:p>
          <a:p>
            <a:r>
              <a:rPr lang="en-GB" b="1" dirty="0">
                <a:solidFill>
                  <a:schemeClr val="accent2"/>
                </a:solidFill>
              </a:rPr>
              <a:t>1</a:t>
            </a:r>
            <a:r>
              <a:rPr lang="en-GB" dirty="0"/>
              <a:t> GET name from KEYBOARD</a:t>
            </a:r>
          </a:p>
          <a:p>
            <a:r>
              <a:rPr lang="en-GB" b="1" dirty="0">
                <a:solidFill>
                  <a:schemeClr val="accent2"/>
                </a:solidFill>
              </a:rPr>
              <a:t>2</a:t>
            </a:r>
            <a:r>
              <a:rPr lang="en-GB" dirty="0"/>
              <a:t> GET score from KEYBOARD</a:t>
            </a:r>
          </a:p>
          <a:p>
            <a:endParaRPr lang="en-GB" dirty="0"/>
          </a:p>
          <a:p>
            <a:r>
              <a:rPr lang="en-GB" b="1" dirty="0">
                <a:solidFill>
                  <a:schemeClr val="accent5"/>
                </a:solidFill>
              </a:rPr>
              <a:t>3</a:t>
            </a:r>
            <a:r>
              <a:rPr lang="en-GB" dirty="0"/>
              <a:t> IF score &gt;= 50 THEN</a:t>
            </a:r>
          </a:p>
          <a:p>
            <a:r>
              <a:rPr lang="en-GB" b="1" dirty="0">
                <a:solidFill>
                  <a:schemeClr val="accent5"/>
                </a:solidFill>
              </a:rPr>
              <a:t>4</a:t>
            </a:r>
            <a:r>
              <a:rPr lang="en-GB" dirty="0"/>
              <a:t>     result = “Test passed”</a:t>
            </a:r>
          </a:p>
          <a:p>
            <a:r>
              <a:rPr lang="en-GB" b="1" dirty="0">
                <a:solidFill>
                  <a:schemeClr val="accent5"/>
                </a:solidFill>
              </a:rPr>
              <a:t>5</a:t>
            </a:r>
            <a:r>
              <a:rPr lang="en-GB" dirty="0"/>
              <a:t> ELSE</a:t>
            </a:r>
          </a:p>
          <a:p>
            <a:r>
              <a:rPr lang="en-GB" b="1" dirty="0">
                <a:solidFill>
                  <a:schemeClr val="accent5"/>
                </a:solidFill>
              </a:rPr>
              <a:t>6</a:t>
            </a:r>
            <a:r>
              <a:rPr lang="en-GB" dirty="0"/>
              <a:t>     result = “Test failed”</a:t>
            </a:r>
          </a:p>
          <a:p>
            <a:r>
              <a:rPr lang="en-GB" b="1" dirty="0">
                <a:solidFill>
                  <a:schemeClr val="accent5"/>
                </a:solidFill>
              </a:rPr>
              <a:t>7</a:t>
            </a:r>
            <a:r>
              <a:rPr lang="en-GB" dirty="0"/>
              <a:t> END IF</a:t>
            </a:r>
          </a:p>
          <a:p>
            <a:endParaRPr lang="en-GB" dirty="0"/>
          </a:p>
          <a:p>
            <a:r>
              <a:rPr lang="en-GB" b="1" dirty="0">
                <a:solidFill>
                  <a:schemeClr val="accent6"/>
                </a:solidFill>
              </a:rPr>
              <a:t>8</a:t>
            </a:r>
            <a:r>
              <a:rPr lang="en-GB" dirty="0"/>
              <a:t> SEND result to DISPLAY</a:t>
            </a:r>
          </a:p>
        </p:txBody>
      </p:sp>
    </p:spTree>
    <p:extLst>
      <p:ext uri="{BB962C8B-B14F-4D97-AF65-F5344CB8AC3E}">
        <p14:creationId xmlns:p14="http://schemas.microsoft.com/office/powerpoint/2010/main" val="4111532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E230B-22B7-F14B-5F3F-B3F68AE23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12A12-D2C6-1CEE-0B3D-517323D42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Loop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DD7498-A863-F722-2D6E-66EDD4529D18}"/>
              </a:ext>
            </a:extLst>
          </p:cNvPr>
          <p:cNvSpPr txBox="1"/>
          <p:nvPr/>
        </p:nvSpPr>
        <p:spPr>
          <a:xfrm>
            <a:off x="1357632" y="1843950"/>
            <a:ext cx="6428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John wants to create a program to calculate his total tips from his job in the last 4 weeks. He gets his tips once per week.</a:t>
            </a:r>
          </a:p>
          <a:p>
            <a:endParaRPr lang="en-GB" dirty="0"/>
          </a:p>
          <a:p>
            <a:r>
              <a:rPr lang="en-GB" dirty="0"/>
              <a:t>A month is considered good for tips if £100 or more is made.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C175D3-4EB5-8D55-80A3-CB5776AD0613}"/>
              </a:ext>
            </a:extLst>
          </p:cNvPr>
          <p:cNvSpPr txBox="1"/>
          <p:nvPr/>
        </p:nvSpPr>
        <p:spPr>
          <a:xfrm>
            <a:off x="929007" y="3123247"/>
            <a:ext cx="32143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Analysis</a:t>
            </a:r>
          </a:p>
          <a:p>
            <a:endParaRPr lang="en-GB" dirty="0"/>
          </a:p>
          <a:p>
            <a:r>
              <a:rPr lang="en-GB" b="1" dirty="0">
                <a:solidFill>
                  <a:schemeClr val="accent2"/>
                </a:solidFill>
              </a:rPr>
              <a:t>Input</a:t>
            </a:r>
            <a:r>
              <a:rPr lang="en-GB" dirty="0"/>
              <a:t>: Weekly tips (4 times)</a:t>
            </a:r>
          </a:p>
          <a:p>
            <a:endParaRPr lang="en-GB" dirty="0"/>
          </a:p>
          <a:p>
            <a:r>
              <a:rPr lang="en-GB" b="1" dirty="0">
                <a:solidFill>
                  <a:schemeClr val="accent5"/>
                </a:solidFill>
              </a:rPr>
              <a:t>Process</a:t>
            </a:r>
            <a:r>
              <a:rPr lang="en-GB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 weekly tips to total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Calculate if total is 100 or greater</a:t>
            </a:r>
          </a:p>
          <a:p>
            <a:endParaRPr lang="en-GB" dirty="0"/>
          </a:p>
          <a:p>
            <a:r>
              <a:rPr lang="en-GB" b="1" dirty="0">
                <a:solidFill>
                  <a:schemeClr val="accent6"/>
                </a:solidFill>
              </a:rPr>
              <a:t>Output</a:t>
            </a:r>
            <a:r>
              <a:rPr lang="en-GB" dirty="0"/>
              <a:t>: Display result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B2F2B8-0D9A-EDD4-8D47-4DD6737FB76F}"/>
              </a:ext>
            </a:extLst>
          </p:cNvPr>
          <p:cNvSpPr txBox="1"/>
          <p:nvPr/>
        </p:nvSpPr>
        <p:spPr>
          <a:xfrm>
            <a:off x="4429125" y="3093719"/>
            <a:ext cx="378586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Pseudocode</a:t>
            </a:r>
          </a:p>
          <a:p>
            <a:endParaRPr lang="en-GB" dirty="0"/>
          </a:p>
          <a:p>
            <a:r>
              <a:rPr lang="en-GB" b="1" dirty="0">
                <a:solidFill>
                  <a:schemeClr val="accent2"/>
                </a:solidFill>
              </a:rPr>
              <a:t>1</a:t>
            </a:r>
            <a:r>
              <a:rPr lang="en-GB" dirty="0"/>
              <a:t> LOOP 4 TIMES</a:t>
            </a:r>
          </a:p>
          <a:p>
            <a:r>
              <a:rPr lang="en-GB" b="1" dirty="0">
                <a:solidFill>
                  <a:schemeClr val="accent2"/>
                </a:solidFill>
              </a:rPr>
              <a:t>2</a:t>
            </a:r>
            <a:r>
              <a:rPr lang="en-GB" dirty="0"/>
              <a:t>     GET </a:t>
            </a:r>
            <a:r>
              <a:rPr lang="en-GB" dirty="0" err="1"/>
              <a:t>weekly_tip</a:t>
            </a:r>
            <a:r>
              <a:rPr lang="en-GB" dirty="0"/>
              <a:t> from KEYBOARD</a:t>
            </a:r>
          </a:p>
          <a:p>
            <a:r>
              <a:rPr lang="en-GB" b="1" dirty="0">
                <a:solidFill>
                  <a:schemeClr val="accent2"/>
                </a:solidFill>
              </a:rPr>
              <a:t>3</a:t>
            </a:r>
            <a:r>
              <a:rPr lang="en-GB" dirty="0"/>
              <a:t>     total = total + </a:t>
            </a:r>
            <a:r>
              <a:rPr lang="en-GB" dirty="0" err="1"/>
              <a:t>weekly_tip</a:t>
            </a:r>
            <a:endParaRPr lang="en-GB" dirty="0"/>
          </a:p>
          <a:p>
            <a:r>
              <a:rPr lang="en-GB" b="1" dirty="0">
                <a:solidFill>
                  <a:schemeClr val="accent2"/>
                </a:solidFill>
              </a:rPr>
              <a:t>4</a:t>
            </a:r>
            <a:r>
              <a:rPr lang="en-GB" dirty="0"/>
              <a:t> END LOOP</a:t>
            </a:r>
          </a:p>
          <a:p>
            <a:endParaRPr lang="en-GB" dirty="0"/>
          </a:p>
          <a:p>
            <a:r>
              <a:rPr lang="en-GB" b="1" dirty="0">
                <a:solidFill>
                  <a:schemeClr val="accent5"/>
                </a:solidFill>
              </a:rPr>
              <a:t>3</a:t>
            </a:r>
            <a:r>
              <a:rPr lang="en-GB" dirty="0"/>
              <a:t> IF total &gt;= 100 THEN</a:t>
            </a:r>
          </a:p>
          <a:p>
            <a:r>
              <a:rPr lang="en-GB" b="1" dirty="0">
                <a:solidFill>
                  <a:schemeClr val="accent6"/>
                </a:solidFill>
              </a:rPr>
              <a:t>4</a:t>
            </a:r>
            <a:r>
              <a:rPr lang="en-GB" dirty="0"/>
              <a:t>     SEND “Good month” to DISPLAY</a:t>
            </a:r>
          </a:p>
          <a:p>
            <a:r>
              <a:rPr lang="en-GB" b="1" dirty="0">
                <a:solidFill>
                  <a:schemeClr val="accent5"/>
                </a:solidFill>
              </a:rPr>
              <a:t>5</a:t>
            </a:r>
            <a:r>
              <a:rPr lang="en-GB" dirty="0"/>
              <a:t> ELSE</a:t>
            </a:r>
          </a:p>
          <a:p>
            <a:r>
              <a:rPr lang="en-GB" b="1" dirty="0">
                <a:solidFill>
                  <a:schemeClr val="accent6"/>
                </a:solidFill>
              </a:rPr>
              <a:t>6</a:t>
            </a:r>
            <a:r>
              <a:rPr lang="en-GB" dirty="0"/>
              <a:t>     SEND “Bad month” to DISPLAY</a:t>
            </a:r>
          </a:p>
          <a:p>
            <a:r>
              <a:rPr lang="en-GB" b="1" dirty="0">
                <a:solidFill>
                  <a:schemeClr val="accent5"/>
                </a:solidFill>
              </a:rPr>
              <a:t>7</a:t>
            </a:r>
            <a:r>
              <a:rPr lang="en-GB" dirty="0"/>
              <a:t> END IF</a:t>
            </a:r>
          </a:p>
        </p:txBody>
      </p:sp>
    </p:spTree>
    <p:extLst>
      <p:ext uri="{BB962C8B-B14F-4D97-AF65-F5344CB8AC3E}">
        <p14:creationId xmlns:p14="http://schemas.microsoft.com/office/powerpoint/2010/main" val="300361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6D392-DB7F-01D7-BB37-837E9E38C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A0261-0D5C-9285-1A38-2471C9CC4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4137C-F0DF-5696-D7C4-0A614259B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0B3A8-A99A-C459-1A21-382A8636F7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the design stage of software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How to read and create structure diagrams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E77E6C-EC39-3D21-7C3C-79FCF82250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74A7D0-43BC-5191-DC85-3B8F3BAB60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279023"/>
            <a:ext cx="2957720" cy="34424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Describe the design phase and the aspects of software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Design structure diagrams according to a program specification</a:t>
            </a:r>
          </a:p>
        </p:txBody>
      </p:sp>
    </p:spTree>
    <p:extLst>
      <p:ext uri="{BB962C8B-B14F-4D97-AF65-F5344CB8AC3E}">
        <p14:creationId xmlns:p14="http://schemas.microsoft.com/office/powerpoint/2010/main" val="2709378173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419047_TF22318419_Win32" id="{DA6E7C03-7C07-46B9-8D9D-F061C4AB5C28}" vid="{0874F78C-8308-4EE6-8F19-85387B8691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3074FC08804A458A8C8F0DC4C1E099" ma:contentTypeVersion="3" ma:contentTypeDescription="Create a new document." ma:contentTypeScope="" ma:versionID="c5f0b38251d317ab277e387d6b557b9b">
  <xsd:schema xmlns:xsd="http://www.w3.org/2001/XMLSchema" xmlns:xs="http://www.w3.org/2001/XMLSchema" xmlns:p="http://schemas.microsoft.com/office/2006/metadata/properties" xmlns:ns2="3f9ddf9c-6903-432b-b7b2-793712443b9a" targetNamespace="http://schemas.microsoft.com/office/2006/metadata/properties" ma:root="true" ma:fieldsID="921f147f580d21fb0753fb6d8f6b699d" ns2:_="">
    <xsd:import namespace="3f9ddf9c-6903-432b-b7b2-793712443b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9ddf9c-6903-432b-b7b2-793712443b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FB4CAEF-938A-4492-97F5-640F5E26EC4F}"/>
</file>

<file path=customXml/itemProps2.xml><?xml version="1.0" encoding="utf-8"?>
<ds:datastoreItem xmlns:ds="http://schemas.openxmlformats.org/officeDocument/2006/customXml" ds:itemID="{B5BA3906-9696-4247-AC0D-DD5C26B2A70A}">
  <ds:schemaRefs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sharepoint/v3"/>
    <ds:schemaRef ds:uri="http://schemas.microsoft.com/office/infopath/2007/PartnerControls"/>
    <ds:schemaRef ds:uri="http://purl.org/dc/terms/"/>
    <ds:schemaRef ds:uri="230e9df3-be65-4c73-a93b-d1236ebd677e"/>
    <ds:schemaRef ds:uri="71af3243-3dd4-4a8d-8c0d-dd76da1f02a5"/>
    <ds:schemaRef ds:uri="http://www.w3.org/XML/1998/namespace"/>
    <ds:schemaRef ds:uri="934cf7c4-a8c2-490a-9333-978f88a726af"/>
    <ds:schemaRef ds:uri="48e28243-b2f4-431c-814c-64330afb3e26"/>
  </ds:schemaRefs>
</ds:datastoreItem>
</file>

<file path=customXml/itemProps3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2516</TotalTime>
  <Words>494</Words>
  <Application>Microsoft Office PowerPoint</Application>
  <PresentationFormat>On-screen Show (4:3)</PresentationFormat>
  <Paragraphs>102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Tenorite</vt:lpstr>
      <vt:lpstr>Monoline</vt:lpstr>
      <vt:lpstr>Learning intentions and success criteria</vt:lpstr>
      <vt:lpstr>Introduction</vt:lpstr>
      <vt:lpstr>Features of Pseudocode</vt:lpstr>
      <vt:lpstr>Basic Example</vt:lpstr>
      <vt:lpstr>Condition Example</vt:lpstr>
      <vt:lpstr>Loop Example</vt:lpstr>
      <vt:lpstr>Learning intentions and success criteria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Wang (student)</dc:creator>
  <cp:lastModifiedBy>TWang (Bellahouston)</cp:lastModifiedBy>
  <cp:revision>200</cp:revision>
  <cp:lastPrinted>2025-08-18T09:52:00Z</cp:lastPrinted>
  <dcterms:created xsi:type="dcterms:W3CDTF">2025-02-10T23:03:02Z</dcterms:created>
  <dcterms:modified xsi:type="dcterms:W3CDTF">2025-09-09T12:14:48Z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0x010100CE3074FC08804A458A8C8F0DC4C1E099</vt:lpwstr>
  </property>
</Properties>
</file>