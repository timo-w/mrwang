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425" r:id="rId5"/>
    <p:sldId id="296" r:id="rId6"/>
    <p:sldId id="431" r:id="rId7"/>
    <p:sldId id="428" r:id="rId8"/>
    <p:sldId id="420" r:id="rId9"/>
    <p:sldId id="432" r:id="rId10"/>
    <p:sldId id="422" r:id="rId11"/>
    <p:sldId id="430" r:id="rId12"/>
    <p:sldId id="256" r:id="rId13"/>
    <p:sldId id="433" r:id="rId14"/>
    <p:sldId id="434" r:id="rId15"/>
    <p:sldId id="435" r:id="rId16"/>
    <p:sldId id="438" r:id="rId17"/>
    <p:sldId id="437" r:id="rId18"/>
    <p:sldId id="436" r:id="rId19"/>
    <p:sldId id="439" r:id="rId20"/>
    <p:sldId id="440" r:id="rId21"/>
    <p:sldId id="441" r:id="rId22"/>
    <p:sldId id="427" r:id="rId23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8000"/>
    <a:srgbClr val="990055"/>
    <a:srgbClr val="375EBE"/>
    <a:srgbClr val="BE494D"/>
    <a:srgbClr val="E9E6DF"/>
    <a:srgbClr val="FFD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024" autoAdjust="0"/>
  </p:normalViewPr>
  <p:slideViewPr>
    <p:cSldViewPr snapToGrid="0">
      <p:cViewPr varScale="1">
        <p:scale>
          <a:sx n="100" d="100"/>
          <a:sy n="100" d="100"/>
        </p:scale>
        <p:origin x="1950" y="72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09/09/2025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09/09/2025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D620-3E90-E7E2-E3AC-8BC09DC06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EE5E7-83B4-FBDA-4178-CDA343A66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471B3-136F-C921-66DD-C61E13A32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F57B9-E8D3-A3B6-A0CC-CEE93D783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2189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3B5C7-834B-4703-CE9A-AE81D36B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A0BCE-7690-F084-2488-ACC31B37C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BEECB-0300-6DAB-170C-98A9FF0B9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7D7B0-2EB6-698A-F4BA-CCDBCE52F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96263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0CF77-4546-6E19-276A-D32B8E02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53530-258B-7822-3A4E-FB02D3191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46B79-0826-EFB0-0E43-7E1790285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59C39-A0BD-1A9D-E77C-C38755EEA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522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9F294-0F7A-908B-5FB7-51F02A2B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5745A-679B-6364-0366-231715409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91A56-4BF9-6712-F153-8D00CB80F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38736-E822-24AF-CEBC-150A6ECAB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8504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D79B-B0E5-A85A-4737-CCF5EE2D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737C5-DB8C-A28B-2948-F9DC47B8F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E31B1-8F1C-4401-967E-6073DC3C9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4D44A-6C31-9112-EF52-18B2B3AB6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6569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96B8-2C3A-BA6B-9713-7A1D0C6E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66235-BFFA-435F-1142-0180FEA33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B785B-CAF2-4A0C-5EE1-89CC93F88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313B8-5DFA-FAFE-2D2B-CFB889D4E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83003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24AC-7333-4DBC-D228-C07E2E10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AFB21-FF1A-0063-854E-C67AA4DB2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42905-CF56-810B-2B9A-DE46E2CF2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B8441-6399-1094-11FA-85A75CB61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97479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11D2-530E-C272-615E-BF4EC3BF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00A95-4FC3-7A8C-A2D7-91178B80B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374FF-E38C-825C-31A8-03CEC5810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8A8D9-77BA-AA39-CAE6-B80795F05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95536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3F3C8-B668-A64E-EC96-BAEAE2F4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216A8-DAE3-1228-87CF-9ED938B41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A896F-5D11-DADC-7337-B2A4DF071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ECAD0-65FF-12FE-F978-F3673DAD7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46088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DEC6-E2DA-1421-D9D5-25265393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62F3B-52DF-EB25-E502-DD887D5FD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EBD1D-388C-B313-C469-598B43C88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7940B-0AF5-68C0-984C-F68D230C5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03532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F8400-7907-7C89-2FDD-4454E35B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E36C9-C7DC-53DA-E394-4A02679B1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3463B-2E00-F7FD-2E9D-6C43C3DCF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64DEF-CB67-C523-8079-AA1C2DECA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423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2AEA-6DB0-C23D-24B2-1514C535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6BC80-A5BD-D338-4815-B79E6E6C4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131AB-E139-9A1D-5D29-E76C2388B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B24E0-24E0-C2AE-21FD-F67D27198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0963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B83D-8522-D4A2-013F-4FE18291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2FFBB-C787-C15A-6214-927ABB864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81E95-414F-8445-713C-7685D5DF1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08011-7097-0D5D-EAED-B17C46D53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7656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C122-872E-D86F-1638-A2CF93ED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B88AF-CF31-75A9-ED84-97CED808A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55D8F-A9DF-5226-170E-B3ACA29C2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6DC21-8A7A-1FBC-5D46-62A324159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08633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912B-0009-677C-8661-FE138616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2AB4-D5B4-0690-F621-63D6BF397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D4A8F-7F5B-5002-E8BA-392AE37E4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78885-A192-214B-D826-054BC8380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6038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FCACD-E95E-F871-E6EC-31B86B82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B8ABF-6164-E9A0-CE97-8C2D178FF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73302-FF61-8D3B-1DAF-665A5BF45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265C-941D-2D13-2EDE-27FFAEB16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40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8ECC-CC29-47E9-E44F-F573FB90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B6B9-7FA4-C1C5-EF01-29A50C3F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2078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C7E9A-3303-A0B5-67D2-4CB41950A8E1}"/>
              </a:ext>
            </a:extLst>
          </p:cNvPr>
          <p:cNvSpPr txBox="1"/>
          <p:nvPr/>
        </p:nvSpPr>
        <p:spPr>
          <a:xfrm>
            <a:off x="1357632" y="1273216"/>
            <a:ext cx="642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Complete the </a:t>
            </a:r>
            <a:r>
              <a:rPr lang="en-US" b="1" dirty="0"/>
              <a:t>two tasks </a:t>
            </a:r>
            <a:r>
              <a:rPr lang="en-US" dirty="0"/>
              <a:t>on your worksheet.</a:t>
            </a:r>
            <a:endParaRPr lang="en-GB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4315A5-FDFA-D708-F990-044A61248BDD}"/>
              </a:ext>
            </a:extLst>
          </p:cNvPr>
          <p:cNvGrpSpPr/>
          <p:nvPr/>
        </p:nvGrpSpPr>
        <p:grpSpPr>
          <a:xfrm>
            <a:off x="628493" y="2261815"/>
            <a:ext cx="3219351" cy="3635758"/>
            <a:chOff x="4897925" y="1740177"/>
            <a:chExt cx="3422598" cy="42385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284A97-5E8E-4B8F-8599-44885FC6DFDD}"/>
                </a:ext>
              </a:extLst>
            </p:cNvPr>
            <p:cNvSpPr/>
            <p:nvPr/>
          </p:nvSpPr>
          <p:spPr>
            <a:xfrm>
              <a:off x="4897925" y="1740177"/>
              <a:ext cx="3422598" cy="42385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09C087-5B8F-BF81-6F8B-49513F70EEC5}"/>
                </a:ext>
              </a:extLst>
            </p:cNvPr>
            <p:cNvSpPr/>
            <p:nvPr/>
          </p:nvSpPr>
          <p:spPr>
            <a:xfrm>
              <a:off x="6382883" y="2498756"/>
              <a:ext cx="1819752" cy="3078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D18768-DCF6-D945-427D-25B4F8FFF6ED}"/>
                </a:ext>
              </a:extLst>
            </p:cNvPr>
            <p:cNvSpPr txBox="1"/>
            <p:nvPr/>
          </p:nvSpPr>
          <p:spPr>
            <a:xfrm>
              <a:off x="5011097" y="2467999"/>
              <a:ext cx="1258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Username: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42EC03-4B42-798D-9AB2-780E256A26FB}"/>
                </a:ext>
              </a:extLst>
            </p:cNvPr>
            <p:cNvSpPr/>
            <p:nvPr/>
          </p:nvSpPr>
          <p:spPr>
            <a:xfrm>
              <a:off x="6382883" y="2911831"/>
              <a:ext cx="1819752" cy="3078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F8A5A6-C5E0-EBEC-B9DF-E7E4247B7F80}"/>
                </a:ext>
              </a:extLst>
            </p:cNvPr>
            <p:cNvSpPr txBox="1"/>
            <p:nvPr/>
          </p:nvSpPr>
          <p:spPr>
            <a:xfrm>
              <a:off x="5011097" y="2881074"/>
              <a:ext cx="1210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Password: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18770F-38A5-100B-BD30-70F53C74CA10}"/>
                </a:ext>
              </a:extLst>
            </p:cNvPr>
            <p:cNvSpPr/>
            <p:nvPr/>
          </p:nvSpPr>
          <p:spPr>
            <a:xfrm>
              <a:off x="6870645" y="3324906"/>
              <a:ext cx="1331990" cy="3078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8D8239-C05A-86D1-DB5E-29B8A6CF60D0}"/>
                </a:ext>
              </a:extLst>
            </p:cNvPr>
            <p:cNvSpPr txBox="1"/>
            <p:nvPr/>
          </p:nvSpPr>
          <p:spPr>
            <a:xfrm>
              <a:off x="5011097" y="3294149"/>
              <a:ext cx="1746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Amount to add: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668B720-F3A5-0E7D-AFBB-510703E245C1}"/>
                </a:ext>
              </a:extLst>
            </p:cNvPr>
            <p:cNvSpPr/>
            <p:nvPr/>
          </p:nvSpPr>
          <p:spPr>
            <a:xfrm>
              <a:off x="5835151" y="4018057"/>
              <a:ext cx="1548143" cy="525101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Add Money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4D41422-7238-EF03-14ED-848195317B00}"/>
                </a:ext>
              </a:extLst>
            </p:cNvPr>
            <p:cNvSpPr/>
            <p:nvPr/>
          </p:nvSpPr>
          <p:spPr>
            <a:xfrm>
              <a:off x="5269124" y="4849626"/>
              <a:ext cx="2680198" cy="92507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chemeClr val="tx1"/>
                  </a:solidFill>
                </a:rPr>
                <a:t>Your new balance is:</a:t>
              </a: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AF678C-495F-712D-48F0-5CD2F93FEC3D}"/>
                </a:ext>
              </a:extLst>
            </p:cNvPr>
            <p:cNvSpPr txBox="1"/>
            <p:nvPr/>
          </p:nvSpPr>
          <p:spPr>
            <a:xfrm>
              <a:off x="5133625" y="1906001"/>
              <a:ext cx="2951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/>
                <a:t>Add money to your account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A921077-1BA4-3170-836B-772241290227}"/>
              </a:ext>
            </a:extLst>
          </p:cNvPr>
          <p:cNvSpPr txBox="1"/>
          <p:nvPr/>
        </p:nvSpPr>
        <p:spPr>
          <a:xfrm>
            <a:off x="1148316" y="6026080"/>
            <a:ext cx="217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Wireframe Example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3156C35-7CE8-811F-D9F5-575FB3BE6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36" y="2971570"/>
            <a:ext cx="4482290" cy="1957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CAD95C6-DBB2-1B58-E263-BAB1A34211C1}"/>
              </a:ext>
            </a:extLst>
          </p:cNvPr>
          <p:cNvSpPr txBox="1"/>
          <p:nvPr/>
        </p:nvSpPr>
        <p:spPr>
          <a:xfrm>
            <a:off x="5006523" y="6026080"/>
            <a:ext cx="296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Structure Diagram Example</a:t>
            </a:r>
          </a:p>
        </p:txBody>
      </p:sp>
    </p:spTree>
    <p:extLst>
      <p:ext uri="{BB962C8B-B14F-4D97-AF65-F5344CB8AC3E}">
        <p14:creationId xmlns:p14="http://schemas.microsoft.com/office/powerpoint/2010/main" val="118212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design stage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read and create flowcharts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design phase and the aspects of software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Design flowcharts according to a program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5C50-B00A-F5A8-9669-0121CE6D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0B19-75CA-6696-1787-53B67574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Basic Worked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2CB91-BC34-5A13-FA8F-7ECB06387026}"/>
              </a:ext>
            </a:extLst>
          </p:cNvPr>
          <p:cNvSpPr txBox="1"/>
          <p:nvPr/>
        </p:nvSpPr>
        <p:spPr>
          <a:xfrm>
            <a:off x="1357632" y="1843950"/>
            <a:ext cx="6428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program which asks the user for a temperature in Celsius, converts it to Fahrenheit, and displays the converted temperature to the user.</a:t>
            </a:r>
            <a:endParaRPr lang="en-GB" dirty="0"/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5FCD65F4-5F98-4E9E-E85B-067849572563}"/>
              </a:ext>
            </a:extLst>
          </p:cNvPr>
          <p:cNvSpPr/>
          <p:nvPr/>
        </p:nvSpPr>
        <p:spPr>
          <a:xfrm>
            <a:off x="3635514" y="3289538"/>
            <a:ext cx="1928891" cy="796705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Temperature Converter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9BB1B1A6-609D-B689-4DCA-0388BF4F7A1B}"/>
              </a:ext>
            </a:extLst>
          </p:cNvPr>
          <p:cNvSpPr/>
          <p:nvPr/>
        </p:nvSpPr>
        <p:spPr>
          <a:xfrm>
            <a:off x="2265676" y="4510308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temperature in Celsius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27E30E9-F365-3C21-EEE7-D612D4C124ED}"/>
              </a:ext>
            </a:extLst>
          </p:cNvPr>
          <p:cNvSpPr/>
          <p:nvPr/>
        </p:nvSpPr>
        <p:spPr>
          <a:xfrm>
            <a:off x="3901082" y="4510310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Convert Celsius to Fahrenheit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AEFECA5-6C0A-C6A9-8761-83AC041E1609}"/>
              </a:ext>
            </a:extLst>
          </p:cNvPr>
          <p:cNvSpPr/>
          <p:nvPr/>
        </p:nvSpPr>
        <p:spPr>
          <a:xfrm>
            <a:off x="5545543" y="4510308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temperature in Fahrenheit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7287BA-BE6E-F00B-794D-59D417D9A42E}"/>
              </a:ext>
            </a:extLst>
          </p:cNvPr>
          <p:cNvCxnSpPr>
            <a:cxnSpLocks/>
          </p:cNvCxnSpPr>
          <p:nvPr/>
        </p:nvCxnSpPr>
        <p:spPr>
          <a:xfrm flipH="1">
            <a:off x="2981654" y="4280892"/>
            <a:ext cx="32158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F754B6-20CC-81A6-AFAA-73ACD69FAF79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2977127" y="4280892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26D045-BC28-C040-0E32-88C675F4F992}"/>
              </a:ext>
            </a:extLst>
          </p:cNvPr>
          <p:cNvCxnSpPr>
            <a:cxnSpLocks/>
          </p:cNvCxnSpPr>
          <p:nvPr/>
        </p:nvCxnSpPr>
        <p:spPr>
          <a:xfrm flipV="1">
            <a:off x="4594011" y="4280892"/>
            <a:ext cx="594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BB9B6F-BD30-56A0-8EA8-066FF2ABA5E8}"/>
              </a:ext>
            </a:extLst>
          </p:cNvPr>
          <p:cNvCxnSpPr>
            <a:cxnSpLocks/>
          </p:cNvCxnSpPr>
          <p:nvPr/>
        </p:nvCxnSpPr>
        <p:spPr>
          <a:xfrm flipH="1" flipV="1">
            <a:off x="6188601" y="4280892"/>
            <a:ext cx="8883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CEF38D-F499-A1FE-57B5-F901DD89D58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599959" y="4086243"/>
            <a:ext cx="1" cy="194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3DD1-8638-203A-A610-82C8E941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7EAA-016B-F605-FCB6-BD91C61C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Worked Example with Condition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C94BF-5C18-8F1D-D68C-642DBC45A287}"/>
              </a:ext>
            </a:extLst>
          </p:cNvPr>
          <p:cNvSpPr txBox="1"/>
          <p:nvPr/>
        </p:nvSpPr>
        <p:spPr>
          <a:xfrm>
            <a:off x="1357632" y="1843950"/>
            <a:ext cx="6428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program for an English teacher to </a:t>
            </a:r>
            <a:r>
              <a:rPr lang="en-US" b="1" dirty="0"/>
              <a:t>enter the last 3 essay scores</a:t>
            </a:r>
            <a:r>
              <a:rPr lang="en-US" dirty="0"/>
              <a:t> for a pupil, </a:t>
            </a:r>
            <a:r>
              <a:rPr lang="en-US" b="1" dirty="0"/>
              <a:t>calculate the average </a:t>
            </a:r>
            <a:r>
              <a:rPr lang="en-US" dirty="0"/>
              <a:t>and then </a:t>
            </a:r>
            <a:r>
              <a:rPr lang="en-US" b="1" dirty="0"/>
              <a:t>display the pass/fail result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If the average is over 40</a:t>
            </a:r>
            <a:r>
              <a:rPr lang="en-US" dirty="0"/>
              <a:t>, then student will achieve a pass for this work.</a:t>
            </a:r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808DC067-21FE-111F-2335-386E3154312A}"/>
              </a:ext>
            </a:extLst>
          </p:cNvPr>
          <p:cNvSpPr/>
          <p:nvPr/>
        </p:nvSpPr>
        <p:spPr>
          <a:xfrm>
            <a:off x="3236614" y="3381594"/>
            <a:ext cx="1928891" cy="796705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Essay Marking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9A307640-1EE9-51A0-4E0D-0B720E67BC18}"/>
              </a:ext>
            </a:extLst>
          </p:cNvPr>
          <p:cNvSpPr/>
          <p:nvPr/>
        </p:nvSpPr>
        <p:spPr>
          <a:xfrm>
            <a:off x="617397" y="4602364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essay scores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7422A452-0640-39C4-BBC1-E5A9DE8EC87B}"/>
              </a:ext>
            </a:extLst>
          </p:cNvPr>
          <p:cNvSpPr/>
          <p:nvPr/>
        </p:nvSpPr>
        <p:spPr>
          <a:xfrm>
            <a:off x="3032136" y="4602363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Calculate average score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B5FBFA3A-E9F8-C3EA-BB60-EDC5A6973E06}"/>
              </a:ext>
            </a:extLst>
          </p:cNvPr>
          <p:cNvSpPr/>
          <p:nvPr/>
        </p:nvSpPr>
        <p:spPr>
          <a:xfrm>
            <a:off x="5576933" y="4602365"/>
            <a:ext cx="1928891" cy="796705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If average score greater than 40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4E049987-729D-5C85-2B65-9B2C0A96807F}"/>
              </a:ext>
            </a:extLst>
          </p:cNvPr>
          <p:cNvSpPr/>
          <p:nvPr/>
        </p:nvSpPr>
        <p:spPr>
          <a:xfrm>
            <a:off x="4770420" y="5967082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pass message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254729E3-36DC-F1AE-49C8-6A0183F1EA20}"/>
              </a:ext>
            </a:extLst>
          </p:cNvPr>
          <p:cNvSpPr/>
          <p:nvPr/>
        </p:nvSpPr>
        <p:spPr>
          <a:xfrm>
            <a:off x="6962112" y="5967081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fail message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267707-9D3A-67E5-2E9B-C1DF6F208A9A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5486399" y="5399069"/>
            <a:ext cx="814813" cy="568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7D0CD1-878C-9713-9EB6-CED1AC011A7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891197" y="5399069"/>
            <a:ext cx="786894" cy="5680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E38525-DA51-48E5-4511-66803A471FA5}"/>
              </a:ext>
            </a:extLst>
          </p:cNvPr>
          <p:cNvSpPr txBox="1"/>
          <p:nvPr/>
        </p:nvSpPr>
        <p:spPr>
          <a:xfrm>
            <a:off x="5357161" y="5529185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C5EFA2-1424-3505-F76D-A1C60A5F21B3}"/>
              </a:ext>
            </a:extLst>
          </p:cNvPr>
          <p:cNvSpPr txBox="1"/>
          <p:nvPr/>
        </p:nvSpPr>
        <p:spPr>
          <a:xfrm>
            <a:off x="7366934" y="5535591"/>
            <a:ext cx="401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4A123E-A74B-0F1E-8FBF-5ADB9E14A24C}"/>
              </a:ext>
            </a:extLst>
          </p:cNvPr>
          <p:cNvCxnSpPr>
            <a:cxnSpLocks/>
          </p:cNvCxnSpPr>
          <p:nvPr/>
        </p:nvCxnSpPr>
        <p:spPr>
          <a:xfrm flipH="1">
            <a:off x="1333375" y="4372948"/>
            <a:ext cx="520800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B4108D-4409-E44C-A0F6-E35AC889BFB0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1328848" y="4372948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F9BF02-FA3A-1961-9266-B37F2FB7A050}"/>
              </a:ext>
            </a:extLst>
          </p:cNvPr>
          <p:cNvCxnSpPr>
            <a:cxnSpLocks/>
          </p:cNvCxnSpPr>
          <p:nvPr/>
        </p:nvCxnSpPr>
        <p:spPr>
          <a:xfrm flipH="1" flipV="1">
            <a:off x="3667551" y="4395179"/>
            <a:ext cx="8883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16DC0F-F1E7-0154-D1FD-0F9EE63010A8}"/>
              </a:ext>
            </a:extLst>
          </p:cNvPr>
          <p:cNvCxnSpPr>
            <a:cxnSpLocks/>
          </p:cNvCxnSpPr>
          <p:nvPr/>
        </p:nvCxnSpPr>
        <p:spPr>
          <a:xfrm flipH="1" flipV="1">
            <a:off x="6532495" y="4372948"/>
            <a:ext cx="8883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8B772C-7004-205E-F876-87040A6B27AF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201059" y="4178299"/>
            <a:ext cx="1" cy="194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66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EE2A-B156-BF53-C4C1-30CF9B90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65D3-A3E3-3CDC-4665-C8A8F927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Structure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AD83B-51DF-5D72-6CC5-B03526E0768F}"/>
              </a:ext>
            </a:extLst>
          </p:cNvPr>
          <p:cNvSpPr txBox="1"/>
          <p:nvPr/>
        </p:nvSpPr>
        <p:spPr>
          <a:xfrm>
            <a:off x="1357632" y="1843950"/>
            <a:ext cx="642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31F20"/>
                </a:solidFill>
                <a:latin typeface="ReithSans"/>
              </a:rPr>
              <a:t>The following symbols are used in structure diagrams: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F5729-0A7B-75E6-2C81-0E01BA9F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63"/>
          <a:stretch>
            <a:fillRect/>
          </a:stretch>
        </p:blipFill>
        <p:spPr>
          <a:xfrm>
            <a:off x="1300162" y="2308632"/>
            <a:ext cx="6543676" cy="434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6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18AA-6E58-683A-4E85-8FCCB86C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B514-B4D1-B54C-0F0A-6B4E3047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11"/>
            <a:ext cx="7886700" cy="1325563"/>
          </a:xfrm>
        </p:spPr>
        <p:txBody>
          <a:bodyPr/>
          <a:lstStyle/>
          <a:p>
            <a:r>
              <a:rPr lang="en-GB" dirty="0"/>
              <a:t>Example with Conditional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3A9C1-1A1C-700C-05A1-585DD4132C53}"/>
              </a:ext>
            </a:extLst>
          </p:cNvPr>
          <p:cNvSpPr txBox="1"/>
          <p:nvPr/>
        </p:nvSpPr>
        <p:spPr>
          <a:xfrm>
            <a:off x="1357632" y="1164949"/>
            <a:ext cx="6428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travel program which </a:t>
            </a:r>
            <a:r>
              <a:rPr lang="en-US" b="1" dirty="0"/>
              <a:t>asks the user for the number of guests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program </a:t>
            </a:r>
            <a:r>
              <a:rPr lang="en-US" b="1" dirty="0"/>
              <a:t>loops until </a:t>
            </a:r>
            <a:r>
              <a:rPr lang="en-US" dirty="0"/>
              <a:t>all guests’ names are entered.</a:t>
            </a:r>
          </a:p>
          <a:p>
            <a:endParaRPr lang="en-US" dirty="0"/>
          </a:p>
          <a:p>
            <a:r>
              <a:rPr lang="en-US" b="1" dirty="0"/>
              <a:t>Display the list </a:t>
            </a:r>
            <a:r>
              <a:rPr lang="en-US" dirty="0"/>
              <a:t>of guests at the end.</a:t>
            </a:r>
            <a:endParaRPr lang="en-GB" dirty="0"/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1BAADF1B-CA6A-1BCF-036A-4C09BCA876F6}"/>
              </a:ext>
            </a:extLst>
          </p:cNvPr>
          <p:cNvSpPr/>
          <p:nvPr/>
        </p:nvSpPr>
        <p:spPr>
          <a:xfrm>
            <a:off x="3716444" y="3426735"/>
            <a:ext cx="1928891" cy="796705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Travel Program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E0FD7575-640E-6D34-4795-7A73041F6EBC}"/>
              </a:ext>
            </a:extLst>
          </p:cNvPr>
          <p:cNvSpPr/>
          <p:nvPr/>
        </p:nvSpPr>
        <p:spPr>
          <a:xfrm>
            <a:off x="1778422" y="4647505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number of guests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1FBEE9-8533-608F-2D81-A77F25B2EA01}"/>
              </a:ext>
            </a:extLst>
          </p:cNvPr>
          <p:cNvCxnSpPr>
            <a:cxnSpLocks/>
          </p:cNvCxnSpPr>
          <p:nvPr/>
        </p:nvCxnSpPr>
        <p:spPr>
          <a:xfrm flipH="1">
            <a:off x="2494400" y="4418089"/>
            <a:ext cx="43972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4BA7D5-A92A-2DBA-D1F6-95759B212C8D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2489873" y="4418089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1CCCCA2-BB24-5997-F414-A5E953184D9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680889" y="4223440"/>
            <a:ext cx="1" cy="194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BD9382A-94FF-0659-6EAF-6D3E4B0E5185}"/>
              </a:ext>
            </a:extLst>
          </p:cNvPr>
          <p:cNvSpPr/>
          <p:nvPr/>
        </p:nvSpPr>
        <p:spPr>
          <a:xfrm>
            <a:off x="3642253" y="4621794"/>
            <a:ext cx="2072746" cy="796701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Repeat until no guests left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110314-579B-F04C-BB38-E606F3A8A363}"/>
              </a:ext>
            </a:extLst>
          </p:cNvPr>
          <p:cNvCxnSpPr>
            <a:cxnSpLocks/>
          </p:cNvCxnSpPr>
          <p:nvPr/>
        </p:nvCxnSpPr>
        <p:spPr>
          <a:xfrm flipH="1" flipV="1">
            <a:off x="6891681" y="4418089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35F3BB-E7EB-7A19-A878-117C37E9B987}"/>
              </a:ext>
            </a:extLst>
          </p:cNvPr>
          <p:cNvCxnSpPr>
            <a:cxnSpLocks/>
          </p:cNvCxnSpPr>
          <p:nvPr/>
        </p:nvCxnSpPr>
        <p:spPr>
          <a:xfrm flipH="1" flipV="1">
            <a:off x="4678625" y="5418495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E080A664-27D5-3097-03A9-A73B30070AC9}"/>
              </a:ext>
            </a:extLst>
          </p:cNvPr>
          <p:cNvSpPr/>
          <p:nvPr/>
        </p:nvSpPr>
        <p:spPr>
          <a:xfrm>
            <a:off x="3962647" y="5647914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name of guests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C35499-CFF6-4C9D-732F-9FC692198223}"/>
              </a:ext>
            </a:extLst>
          </p:cNvPr>
          <p:cNvCxnSpPr>
            <a:cxnSpLocks/>
          </p:cNvCxnSpPr>
          <p:nvPr/>
        </p:nvCxnSpPr>
        <p:spPr>
          <a:xfrm flipV="1">
            <a:off x="4678626" y="4418089"/>
            <a:ext cx="1" cy="194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65D2510-7F3A-D5C6-2D44-99BC21AD422A}"/>
              </a:ext>
            </a:extLst>
          </p:cNvPr>
          <p:cNvSpPr/>
          <p:nvPr/>
        </p:nvSpPr>
        <p:spPr>
          <a:xfrm>
            <a:off x="6175702" y="4647504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list of names</a:t>
            </a:r>
          </a:p>
        </p:txBody>
      </p:sp>
    </p:spTree>
    <p:extLst>
      <p:ext uri="{BB962C8B-B14F-4D97-AF65-F5344CB8AC3E}">
        <p14:creationId xmlns:p14="http://schemas.microsoft.com/office/powerpoint/2010/main" val="125055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1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2E28E-C130-4D58-CCC0-102EA6A5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1A7D-FB60-B67C-054D-A95E768B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11"/>
            <a:ext cx="7886700" cy="1325563"/>
          </a:xfrm>
        </p:spPr>
        <p:txBody>
          <a:bodyPr/>
          <a:lstStyle/>
          <a:p>
            <a:r>
              <a:rPr lang="en-GB" dirty="0"/>
              <a:t>Example with Fixed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5194B-ED3D-2C24-DEF5-F9C53E9EE47F}"/>
              </a:ext>
            </a:extLst>
          </p:cNvPr>
          <p:cNvSpPr txBox="1"/>
          <p:nvPr/>
        </p:nvSpPr>
        <p:spPr>
          <a:xfrm>
            <a:off x="1357632" y="1164949"/>
            <a:ext cx="6428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program for a nursery class that will help with their counting.</a:t>
            </a:r>
          </a:p>
          <a:p>
            <a:endParaRPr lang="en-US" dirty="0"/>
          </a:p>
          <a:p>
            <a:r>
              <a:rPr lang="en-US" dirty="0"/>
              <a:t>It will </a:t>
            </a:r>
            <a:r>
              <a:rPr lang="en-US" b="1" dirty="0"/>
              <a:t>ask the pupil to type their name</a:t>
            </a:r>
            <a:r>
              <a:rPr lang="en-US" dirty="0"/>
              <a:t> and then </a:t>
            </a:r>
            <a:r>
              <a:rPr lang="en-US" b="1" dirty="0"/>
              <a:t>type the number of times </a:t>
            </a:r>
            <a:r>
              <a:rPr lang="en-US" dirty="0"/>
              <a:t>it is to be repeated.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name will then be displayed that number of times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69135665-7D10-AF5C-6DE7-F2466D5601E9}"/>
              </a:ext>
            </a:extLst>
          </p:cNvPr>
          <p:cNvSpPr/>
          <p:nvPr/>
        </p:nvSpPr>
        <p:spPr>
          <a:xfrm>
            <a:off x="3716444" y="3426735"/>
            <a:ext cx="1928891" cy="796705"/>
          </a:xfrm>
          <a:prstGeom prst="flowChartPredefined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Counting Program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B2AFBC2E-3B09-5608-0C74-E04D4EA2DF3C}"/>
              </a:ext>
            </a:extLst>
          </p:cNvPr>
          <p:cNvSpPr/>
          <p:nvPr/>
        </p:nvSpPr>
        <p:spPr>
          <a:xfrm>
            <a:off x="1778422" y="4647505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name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BE32B8AE-120C-B553-915E-4E40F92C8C47}"/>
              </a:ext>
            </a:extLst>
          </p:cNvPr>
          <p:cNvSpPr/>
          <p:nvPr/>
        </p:nvSpPr>
        <p:spPr>
          <a:xfrm>
            <a:off x="3616342" y="4647507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number of times to repeat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33A6DD-0740-C59C-8309-ED27EEFE0E4B}"/>
              </a:ext>
            </a:extLst>
          </p:cNvPr>
          <p:cNvCxnSpPr>
            <a:cxnSpLocks/>
          </p:cNvCxnSpPr>
          <p:nvPr/>
        </p:nvCxnSpPr>
        <p:spPr>
          <a:xfrm flipH="1">
            <a:off x="2494400" y="4418089"/>
            <a:ext cx="41279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4D4BA4-1567-C670-0F46-AD6318066FBA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2489873" y="4418089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501526-B5A7-167B-87F9-5B1E9DC5670D}"/>
              </a:ext>
            </a:extLst>
          </p:cNvPr>
          <p:cNvCxnSpPr>
            <a:cxnSpLocks/>
          </p:cNvCxnSpPr>
          <p:nvPr/>
        </p:nvCxnSpPr>
        <p:spPr>
          <a:xfrm flipH="1" flipV="1">
            <a:off x="4300388" y="4418089"/>
            <a:ext cx="8883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B7F71FA-57BA-5A1E-0FA2-3F8BCA7D8F93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680889" y="4223440"/>
            <a:ext cx="1" cy="194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04BC848-F58C-0B9F-7CE7-013C40AAEDAB}"/>
              </a:ext>
            </a:extLst>
          </p:cNvPr>
          <p:cNvSpPr/>
          <p:nvPr/>
        </p:nvSpPr>
        <p:spPr>
          <a:xfrm>
            <a:off x="5585934" y="4647509"/>
            <a:ext cx="2072746" cy="796701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Repeat number of times entered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E332CA-ED4F-0843-FD57-61185AD3860D}"/>
              </a:ext>
            </a:extLst>
          </p:cNvPr>
          <p:cNvCxnSpPr>
            <a:cxnSpLocks/>
          </p:cNvCxnSpPr>
          <p:nvPr/>
        </p:nvCxnSpPr>
        <p:spPr>
          <a:xfrm flipH="1" flipV="1">
            <a:off x="6615516" y="4418089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89AD4F-741F-94E5-BDF3-0207B9E90DF7}"/>
              </a:ext>
            </a:extLst>
          </p:cNvPr>
          <p:cNvCxnSpPr>
            <a:cxnSpLocks/>
          </p:cNvCxnSpPr>
          <p:nvPr/>
        </p:nvCxnSpPr>
        <p:spPr>
          <a:xfrm flipH="1" flipV="1">
            <a:off x="6622307" y="5444213"/>
            <a:ext cx="4528" cy="229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B92E4C5E-682D-88FB-2BAB-3AFCEA32ABAF}"/>
              </a:ext>
            </a:extLst>
          </p:cNvPr>
          <p:cNvSpPr/>
          <p:nvPr/>
        </p:nvSpPr>
        <p:spPr>
          <a:xfrm>
            <a:off x="5906328" y="5673629"/>
            <a:ext cx="1431957" cy="79670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name</a:t>
            </a:r>
          </a:p>
        </p:txBody>
      </p:sp>
    </p:spTree>
    <p:extLst>
      <p:ext uri="{BB962C8B-B14F-4D97-AF65-F5344CB8AC3E}">
        <p14:creationId xmlns:p14="http://schemas.microsoft.com/office/powerpoint/2010/main" val="302701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02E9-396A-DA54-294E-2C5BCD3C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3967-A7E8-DC7F-2F9B-D9D4BA27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Worksheet Part 3: Loops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1D30D-9728-8A5D-6369-647385469A19}"/>
              </a:ext>
            </a:extLst>
          </p:cNvPr>
          <p:cNvSpPr txBox="1"/>
          <p:nvPr/>
        </p:nvSpPr>
        <p:spPr>
          <a:xfrm>
            <a:off x="1357632" y="1823709"/>
            <a:ext cx="64287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Identify the </a:t>
            </a:r>
            <a:r>
              <a:rPr lang="en-US" b="1" dirty="0">
                <a:solidFill>
                  <a:srgbClr val="C00000"/>
                </a:solidFill>
              </a:rPr>
              <a:t>Inputs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Processes</a:t>
            </a:r>
            <a:r>
              <a:rPr lang="en-US" dirty="0"/>
              <a:t>, and </a:t>
            </a:r>
            <a:r>
              <a:rPr lang="en-US" b="1" dirty="0">
                <a:solidFill>
                  <a:srgbClr val="0070C0"/>
                </a:solidFill>
              </a:rPr>
              <a:t>Outputs</a:t>
            </a:r>
            <a:r>
              <a:rPr lang="en-US" dirty="0"/>
              <a:t>, then design the following programs using structure diagrams: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program which counts down from a number. </a:t>
            </a:r>
            <a:r>
              <a:rPr lang="en-GB" b="1" dirty="0">
                <a:solidFill>
                  <a:srgbClr val="C00000"/>
                </a:solidFill>
              </a:rPr>
              <a:t>The user enters a number </a:t>
            </a:r>
            <a:r>
              <a:rPr lang="en-GB" dirty="0"/>
              <a:t>to count down from, then </a:t>
            </a:r>
            <a:r>
              <a:rPr lang="en-GB" b="1" dirty="0">
                <a:solidFill>
                  <a:srgbClr val="00B050"/>
                </a:solidFill>
              </a:rPr>
              <a:t>the program loops</a:t>
            </a:r>
            <a:r>
              <a:rPr lang="en-GB" dirty="0"/>
              <a:t>, starting from the user’s number and </a:t>
            </a:r>
            <a:r>
              <a:rPr lang="en-GB" b="1" dirty="0">
                <a:solidFill>
                  <a:srgbClr val="0070C0"/>
                </a:solidFill>
              </a:rPr>
              <a:t>displaying it</a:t>
            </a:r>
            <a:r>
              <a:rPr lang="en-GB" dirty="0"/>
              <a:t>, until it reaches zero.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program which asks the user to enter a number, then loops, displaying a times table for that number up to times 12.</a:t>
            </a:r>
          </a:p>
        </p:txBody>
      </p:sp>
    </p:spTree>
    <p:extLst>
      <p:ext uri="{BB962C8B-B14F-4D97-AF65-F5344CB8AC3E}">
        <p14:creationId xmlns:p14="http://schemas.microsoft.com/office/powerpoint/2010/main" val="3371090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Flowcharts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5195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CFEB7-33CE-A842-14CB-3EE77DDA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0547-7FD1-AE77-AE2F-8349CF53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5F1A7-E92E-EF96-806A-755D9CD619CC}"/>
              </a:ext>
            </a:extLst>
          </p:cNvPr>
          <p:cNvSpPr txBox="1"/>
          <p:nvPr/>
        </p:nvSpPr>
        <p:spPr>
          <a:xfrm>
            <a:off x="1357632" y="1823709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31F20"/>
                </a:solidFill>
              </a:rPr>
              <a:t>During the design phase, flowcharts can be used </a:t>
            </a:r>
            <a:r>
              <a:rPr lang="en-GB" b="1" i="1" dirty="0">
                <a:solidFill>
                  <a:srgbClr val="231F20"/>
                </a:solidFill>
              </a:rPr>
              <a:t>instead of structure diagrams</a:t>
            </a:r>
            <a:r>
              <a:rPr lang="en-GB" dirty="0">
                <a:solidFill>
                  <a:srgbClr val="231F20"/>
                </a:solidFill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DC81F-EA7B-9DF4-AAF8-61D4EB51DA67}"/>
              </a:ext>
            </a:extLst>
          </p:cNvPr>
          <p:cNvSpPr txBox="1"/>
          <p:nvPr/>
        </p:nvSpPr>
        <p:spPr>
          <a:xfrm>
            <a:off x="1357632" y="2993898"/>
            <a:ext cx="33923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31F20"/>
                </a:solidFill>
              </a:rPr>
              <a:t>Flowcharts are another example of a </a:t>
            </a:r>
            <a:r>
              <a:rPr lang="en-GB" b="1" dirty="0">
                <a:solidFill>
                  <a:srgbClr val="231F20"/>
                </a:solidFill>
              </a:rPr>
              <a:t>visual design technique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231F2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Different shaped boxes </a:t>
            </a:r>
            <a:r>
              <a:rPr lang="en-GB" dirty="0"/>
              <a:t>connected with arrows to show each step in a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231F2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Reads from </a:t>
            </a:r>
            <a:r>
              <a:rPr lang="en-GB" b="1" dirty="0"/>
              <a:t>Start to End</a:t>
            </a:r>
            <a:r>
              <a:rPr lang="en-GB" dirty="0"/>
              <a:t>, from </a:t>
            </a:r>
            <a:r>
              <a:rPr lang="en-GB" b="1" dirty="0"/>
              <a:t>top</a:t>
            </a:r>
            <a:r>
              <a:rPr lang="en-GB" dirty="0"/>
              <a:t> to </a:t>
            </a:r>
            <a:r>
              <a:rPr lang="en-GB" b="1" dirty="0"/>
              <a:t>bottom</a:t>
            </a:r>
            <a:endParaRPr lang="en-GB" b="1" dirty="0">
              <a:cs typeface="Calibri"/>
            </a:endParaRPr>
          </a:p>
        </p:txBody>
      </p:sp>
      <p:pic>
        <p:nvPicPr>
          <p:cNvPr id="1026" name="Picture 2" descr="Flowchart example - Design - National 5 Computing Science Revision - BBC  Bitesize">
            <a:extLst>
              <a:ext uri="{FF2B5EF4-FFF2-40B4-BE49-F238E27FC236}">
                <a16:creationId xmlns:a16="http://schemas.microsoft.com/office/drawing/2014/main" id="{F8B56A03-1AD1-C414-99D4-1412BD59C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628" y="2470040"/>
            <a:ext cx="2213364" cy="409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0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CB85-1F19-B744-4623-C71A463B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1E28-36CF-3EEE-84AD-8DB7CFC1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Symbols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37D88-E5ED-F9AB-4AAE-EBC55C528827}"/>
              </a:ext>
            </a:extLst>
          </p:cNvPr>
          <p:cNvSpPr txBox="1"/>
          <p:nvPr/>
        </p:nvSpPr>
        <p:spPr>
          <a:xfrm>
            <a:off x="1363769" y="1823709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31F20"/>
                </a:solidFill>
              </a:rPr>
              <a:t>Different shapes in a flowchart indicate different concepts in a computer program:</a:t>
            </a:r>
          </a:p>
        </p:txBody>
      </p:sp>
      <p:pic>
        <p:nvPicPr>
          <p:cNvPr id="2052" name="Picture 4" descr="N5 Computing Science flowcharts">
            <a:extLst>
              <a:ext uri="{FF2B5EF4-FFF2-40B4-BE49-F238E27FC236}">
                <a16:creationId xmlns:a16="http://schemas.microsoft.com/office/drawing/2014/main" id="{137981F9-408E-957B-11C4-DA51BD841C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71"/>
          <a:stretch>
            <a:fillRect/>
          </a:stretch>
        </p:blipFill>
        <p:spPr bwMode="auto">
          <a:xfrm>
            <a:off x="1031512" y="2772781"/>
            <a:ext cx="3540488" cy="368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5 Computing Science flowcharts">
            <a:extLst>
              <a:ext uri="{FF2B5EF4-FFF2-40B4-BE49-F238E27FC236}">
                <a16:creationId xmlns:a16="http://schemas.microsoft.com/office/drawing/2014/main" id="{EB7FB38F-32B3-7622-1210-CBA1927D7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0"/>
          <a:stretch>
            <a:fillRect/>
          </a:stretch>
        </p:blipFill>
        <p:spPr bwMode="auto">
          <a:xfrm>
            <a:off x="4657404" y="2763760"/>
            <a:ext cx="3400361" cy="369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10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6F54-1445-6521-0F92-31D4E660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8E72-A632-7F2F-A21C-13EFC68FA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Basic 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14551-D4B7-CB5F-98B8-949B0A354D1E}"/>
              </a:ext>
            </a:extLst>
          </p:cNvPr>
          <p:cNvSpPr txBox="1"/>
          <p:nvPr/>
        </p:nvSpPr>
        <p:spPr>
          <a:xfrm>
            <a:off x="1357632" y="1823709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31F20"/>
                </a:solidFill>
              </a:rPr>
              <a:t>A program which asks the user for their name and displays “Hello” and their name.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77AE2-2874-3F32-633B-55E50D7136E7}"/>
              </a:ext>
            </a:extLst>
          </p:cNvPr>
          <p:cNvSpPr txBox="1"/>
          <p:nvPr/>
        </p:nvSpPr>
        <p:spPr>
          <a:xfrm>
            <a:off x="1357632" y="2993898"/>
            <a:ext cx="33923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31F20"/>
                </a:solidFill>
              </a:rPr>
              <a:t>Begin with </a:t>
            </a:r>
            <a:r>
              <a:rPr lang="en-GB" b="1" dirty="0">
                <a:solidFill>
                  <a:srgbClr val="231F20"/>
                </a:solidFill>
              </a:rPr>
              <a:t>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cs typeface="Calibri"/>
              </a:rPr>
              <a:t>Initialise</a:t>
            </a:r>
            <a:r>
              <a:rPr lang="en-GB" dirty="0">
                <a:cs typeface="Calibri"/>
              </a:rPr>
              <a:t> a name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Get the user’s name (input/output)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Display message (input/output)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Finish with </a:t>
            </a:r>
            <a:r>
              <a:rPr lang="en-GB" b="1" dirty="0">
                <a:cs typeface="Calibri"/>
              </a:rPr>
              <a:t>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cs typeface="Calibri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2861E17C-BE1A-FA0E-1238-16BDDE92969A}"/>
              </a:ext>
            </a:extLst>
          </p:cNvPr>
          <p:cNvSpPr/>
          <p:nvPr/>
        </p:nvSpPr>
        <p:spPr>
          <a:xfrm>
            <a:off x="6054064" y="2586087"/>
            <a:ext cx="1521954" cy="40781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764F5BD7-18B4-159C-1E4A-8C2374EFEDDE}"/>
              </a:ext>
            </a:extLst>
          </p:cNvPr>
          <p:cNvSpPr/>
          <p:nvPr/>
        </p:nvSpPr>
        <p:spPr>
          <a:xfrm>
            <a:off x="5658234" y="3333818"/>
            <a:ext cx="2313616" cy="664250"/>
          </a:xfrm>
          <a:prstGeom prst="flowChartPrepa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Set </a:t>
            </a:r>
            <a:r>
              <a:rPr lang="en-GB" sz="1400" b="1" dirty="0">
                <a:solidFill>
                  <a:schemeClr val="accent2"/>
                </a:solidFill>
              </a:rPr>
              <a:t>name</a:t>
            </a:r>
            <a:r>
              <a:rPr lang="en-GB" sz="1400" dirty="0">
                <a:solidFill>
                  <a:schemeClr val="tx1"/>
                </a:solidFill>
              </a:rPr>
              <a:t> initially “”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5B31D4F7-C4D1-8FA5-6105-B2DC48F0E959}"/>
              </a:ext>
            </a:extLst>
          </p:cNvPr>
          <p:cNvSpPr/>
          <p:nvPr/>
        </p:nvSpPr>
        <p:spPr>
          <a:xfrm>
            <a:off x="5658234" y="4203294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</a:t>
            </a:r>
            <a:r>
              <a:rPr lang="en-GB" sz="1400" b="1" dirty="0">
                <a:solidFill>
                  <a:schemeClr val="accent2"/>
                </a:solidFill>
              </a:rPr>
              <a:t>name</a:t>
            </a:r>
            <a:r>
              <a:rPr lang="en-GB" sz="1400" dirty="0">
                <a:solidFill>
                  <a:schemeClr val="tx1"/>
                </a:solidFill>
              </a:rPr>
              <a:t> from keyboard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853ECDBE-0870-6935-BD14-C631B715E100}"/>
              </a:ext>
            </a:extLst>
          </p:cNvPr>
          <p:cNvSpPr/>
          <p:nvPr/>
        </p:nvSpPr>
        <p:spPr>
          <a:xfrm>
            <a:off x="5658233" y="5072771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“Hello” + </a:t>
            </a:r>
            <a:r>
              <a:rPr lang="en-GB" sz="1400" b="1" dirty="0">
                <a:solidFill>
                  <a:schemeClr val="accent2"/>
                </a:solidFill>
              </a:rPr>
              <a:t>name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995B129-46B4-6B11-E453-5531AC410801}"/>
              </a:ext>
            </a:extLst>
          </p:cNvPr>
          <p:cNvSpPr/>
          <p:nvPr/>
        </p:nvSpPr>
        <p:spPr>
          <a:xfrm>
            <a:off x="6054064" y="6076967"/>
            <a:ext cx="1521954" cy="40781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6D86E1-FA5D-F977-4994-3030C4C3C93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815041" y="2993898"/>
            <a:ext cx="1" cy="339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E863A9-3649-9EFB-DCA5-A9CC4F5E97DF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6815042" y="3998068"/>
            <a:ext cx="0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C8955E-10BD-718C-AE6A-D1E48473F002}"/>
              </a:ext>
            </a:extLst>
          </p:cNvPr>
          <p:cNvCxnSpPr>
            <a:cxnSpLocks/>
            <a:stCxn id="7" idx="4"/>
            <a:endCxn id="8" idx="1"/>
          </p:cNvCxnSpPr>
          <p:nvPr/>
        </p:nvCxnSpPr>
        <p:spPr>
          <a:xfrm flipH="1">
            <a:off x="6815041" y="4867545"/>
            <a:ext cx="1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4EB72-84FD-FDF5-E603-1DF09E1A24D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815041" y="5737022"/>
            <a:ext cx="0" cy="3399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577C-D3B5-6145-4E03-D18F8386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40088-3E14-F176-5B0B-4F3CB6FF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631" y="606080"/>
            <a:ext cx="4896115" cy="1325563"/>
          </a:xfrm>
        </p:spPr>
        <p:txBody>
          <a:bodyPr/>
          <a:lstStyle/>
          <a:p>
            <a:pPr algn="l"/>
            <a:r>
              <a:rPr lang="en-GB" dirty="0"/>
              <a:t>Basic 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3744F-5EF8-5B2F-65A3-EE4A79D87300}"/>
              </a:ext>
            </a:extLst>
          </p:cNvPr>
          <p:cNvSpPr txBox="1"/>
          <p:nvPr/>
        </p:nvSpPr>
        <p:spPr>
          <a:xfrm>
            <a:off x="1357631" y="1823709"/>
            <a:ext cx="4098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31F20"/>
                </a:solidFill>
              </a:rPr>
              <a:t>A program which asks the user for 2 numbers, then adds them together and displays the total to the user.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C90A4-20E9-0BDB-3F72-B40B011ED6B2}"/>
              </a:ext>
            </a:extLst>
          </p:cNvPr>
          <p:cNvSpPr txBox="1"/>
          <p:nvPr/>
        </p:nvSpPr>
        <p:spPr>
          <a:xfrm>
            <a:off x="1357632" y="2993898"/>
            <a:ext cx="33923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31F20"/>
                </a:solidFill>
              </a:rPr>
              <a:t>Initialise the variables we need (</a:t>
            </a:r>
            <a:r>
              <a:rPr lang="en-GB" b="1" dirty="0">
                <a:solidFill>
                  <a:schemeClr val="accent6"/>
                </a:solidFill>
              </a:rPr>
              <a:t>num1</a:t>
            </a:r>
            <a:r>
              <a:rPr lang="en-GB" dirty="0">
                <a:solidFill>
                  <a:srgbClr val="231F20"/>
                </a:solidFill>
              </a:rPr>
              <a:t>, </a:t>
            </a:r>
            <a:r>
              <a:rPr lang="en-GB" b="1" dirty="0">
                <a:solidFill>
                  <a:schemeClr val="accent5"/>
                </a:solidFill>
              </a:rPr>
              <a:t>num2</a:t>
            </a:r>
            <a:r>
              <a:rPr lang="en-GB" dirty="0">
                <a:solidFill>
                  <a:srgbClr val="231F20"/>
                </a:solidFill>
              </a:rPr>
              <a:t> and </a:t>
            </a:r>
            <a:r>
              <a:rPr lang="en-GB" b="1" dirty="0">
                <a:solidFill>
                  <a:schemeClr val="accent2"/>
                </a:solidFill>
              </a:rPr>
              <a:t>total</a:t>
            </a:r>
            <a:r>
              <a:rPr lang="en-GB" dirty="0">
                <a:solidFill>
                  <a:srgbClr val="231F2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231F20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Get </a:t>
            </a:r>
            <a:r>
              <a:rPr lang="en-GB" b="1" dirty="0">
                <a:solidFill>
                  <a:schemeClr val="accent6"/>
                </a:solidFill>
                <a:cs typeface="Calibri"/>
              </a:rPr>
              <a:t>num1</a:t>
            </a:r>
            <a:r>
              <a:rPr lang="en-GB" dirty="0">
                <a:cs typeface="Calibri"/>
              </a:rPr>
              <a:t> and </a:t>
            </a:r>
            <a:r>
              <a:rPr lang="en-GB" b="1" dirty="0">
                <a:solidFill>
                  <a:schemeClr val="accent5"/>
                </a:solidFill>
                <a:cs typeface="Calibri"/>
              </a:rPr>
              <a:t>num2</a:t>
            </a:r>
            <a:r>
              <a:rPr lang="en-GB" dirty="0">
                <a:cs typeface="Calibri"/>
              </a:rPr>
              <a:t> from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Set </a:t>
            </a:r>
            <a:r>
              <a:rPr lang="en-GB" b="1" dirty="0">
                <a:solidFill>
                  <a:schemeClr val="accent2"/>
                </a:solidFill>
                <a:cs typeface="Calibri"/>
              </a:rPr>
              <a:t>total</a:t>
            </a:r>
            <a:r>
              <a:rPr lang="en-GB" dirty="0">
                <a:cs typeface="Calibri"/>
              </a:rPr>
              <a:t> (</a:t>
            </a:r>
            <a:r>
              <a:rPr lang="en-GB" b="1" dirty="0">
                <a:solidFill>
                  <a:schemeClr val="accent6"/>
                </a:solidFill>
                <a:cs typeface="Calibri"/>
              </a:rPr>
              <a:t>num1</a:t>
            </a:r>
            <a:r>
              <a:rPr lang="en-GB" dirty="0">
                <a:cs typeface="Calibri"/>
              </a:rPr>
              <a:t> + </a:t>
            </a:r>
            <a:r>
              <a:rPr lang="en-GB" b="1" dirty="0">
                <a:solidFill>
                  <a:schemeClr val="accent5"/>
                </a:solidFill>
                <a:cs typeface="Calibri"/>
              </a:rPr>
              <a:t>num2</a:t>
            </a:r>
            <a:r>
              <a:rPr lang="en-GB" dirty="0">
                <a:cs typeface="Calibri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Display </a:t>
            </a:r>
            <a:r>
              <a:rPr lang="en-GB" b="1" dirty="0">
                <a:solidFill>
                  <a:schemeClr val="accent2"/>
                </a:solidFill>
                <a:cs typeface="Calibri"/>
              </a:rPr>
              <a:t>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cs typeface="Calibri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517CABB8-7E1B-1E00-6459-54C849D25D29}"/>
              </a:ext>
            </a:extLst>
          </p:cNvPr>
          <p:cNvSpPr/>
          <p:nvPr/>
        </p:nvSpPr>
        <p:spPr>
          <a:xfrm>
            <a:off x="6821178" y="138974"/>
            <a:ext cx="1521954" cy="40781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85FAD117-861A-8747-1F54-C4A82E2CD8E7}"/>
              </a:ext>
            </a:extLst>
          </p:cNvPr>
          <p:cNvSpPr/>
          <p:nvPr/>
        </p:nvSpPr>
        <p:spPr>
          <a:xfrm>
            <a:off x="6425348" y="1756181"/>
            <a:ext cx="2313616" cy="664250"/>
          </a:xfrm>
          <a:prstGeom prst="flowChartPrepa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Set </a:t>
            </a:r>
            <a:r>
              <a:rPr lang="en-GB" sz="1400" b="1" dirty="0">
                <a:solidFill>
                  <a:schemeClr val="accent2"/>
                </a:solidFill>
              </a:rPr>
              <a:t>total</a:t>
            </a:r>
            <a:r>
              <a:rPr lang="en-GB" sz="1400" dirty="0">
                <a:solidFill>
                  <a:schemeClr val="tx1"/>
                </a:solidFill>
              </a:rPr>
              <a:t> initially 0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03310C81-7BF3-13B3-6385-FAF4CF9F24E0}"/>
              </a:ext>
            </a:extLst>
          </p:cNvPr>
          <p:cNvSpPr/>
          <p:nvPr/>
        </p:nvSpPr>
        <p:spPr>
          <a:xfrm>
            <a:off x="6425348" y="2625657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</a:t>
            </a:r>
            <a:r>
              <a:rPr lang="en-GB" sz="1400" b="1" dirty="0">
                <a:solidFill>
                  <a:schemeClr val="accent6"/>
                </a:solidFill>
              </a:rPr>
              <a:t>num1</a:t>
            </a:r>
            <a:r>
              <a:rPr lang="en-GB" sz="1400" dirty="0">
                <a:solidFill>
                  <a:schemeClr val="tx1"/>
                </a:solidFill>
              </a:rPr>
              <a:t> from keyboard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DD7866A6-83F4-8F0A-523F-ADBA5ED5FAED}"/>
              </a:ext>
            </a:extLst>
          </p:cNvPr>
          <p:cNvSpPr/>
          <p:nvPr/>
        </p:nvSpPr>
        <p:spPr>
          <a:xfrm>
            <a:off x="6425347" y="3495134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</a:t>
            </a:r>
            <a:r>
              <a:rPr lang="en-GB" sz="1400" b="1" dirty="0">
                <a:solidFill>
                  <a:schemeClr val="accent5"/>
                </a:solidFill>
              </a:rPr>
              <a:t>num2</a:t>
            </a:r>
            <a:r>
              <a:rPr lang="en-GB" sz="1400" dirty="0">
                <a:solidFill>
                  <a:schemeClr val="tx1"/>
                </a:solidFill>
              </a:rPr>
              <a:t> from keyboard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A0632E06-0693-903F-3D0E-4035E8415CCF}"/>
              </a:ext>
            </a:extLst>
          </p:cNvPr>
          <p:cNvSpPr/>
          <p:nvPr/>
        </p:nvSpPr>
        <p:spPr>
          <a:xfrm>
            <a:off x="6821178" y="6206312"/>
            <a:ext cx="1521954" cy="40781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1550ED-8001-52E4-7BC4-7632A7BA21C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582155" y="546785"/>
            <a:ext cx="1" cy="339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3BE735-EF5C-E8C3-8F12-55D4A92F9C0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7582156" y="2420431"/>
            <a:ext cx="0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E23B8E-8CF6-9B8C-08E3-1C8B0F9045D1}"/>
              </a:ext>
            </a:extLst>
          </p:cNvPr>
          <p:cNvCxnSpPr>
            <a:cxnSpLocks/>
            <a:stCxn id="7" idx="4"/>
            <a:endCxn id="8" idx="1"/>
          </p:cNvCxnSpPr>
          <p:nvPr/>
        </p:nvCxnSpPr>
        <p:spPr>
          <a:xfrm flipH="1">
            <a:off x="7582155" y="3289908"/>
            <a:ext cx="1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AD285E-E240-42B1-EA46-825FC4927360}"/>
              </a:ext>
            </a:extLst>
          </p:cNvPr>
          <p:cNvCxnSpPr>
            <a:cxnSpLocks/>
            <a:stCxn id="20" idx="4"/>
            <a:endCxn id="9" idx="0"/>
          </p:cNvCxnSpPr>
          <p:nvPr/>
        </p:nvCxnSpPr>
        <p:spPr>
          <a:xfrm>
            <a:off x="7582155" y="5898338"/>
            <a:ext cx="0" cy="307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A031258A-A3EF-8C88-E715-34411666F0C1}"/>
              </a:ext>
            </a:extLst>
          </p:cNvPr>
          <p:cNvSpPr/>
          <p:nvPr/>
        </p:nvSpPr>
        <p:spPr>
          <a:xfrm>
            <a:off x="6425347" y="886705"/>
            <a:ext cx="2313616" cy="664250"/>
          </a:xfrm>
          <a:prstGeom prst="flowChartPrepa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Set </a:t>
            </a:r>
            <a:r>
              <a:rPr lang="en-GB" sz="1400" b="1" dirty="0">
                <a:solidFill>
                  <a:schemeClr val="accent6"/>
                </a:solidFill>
              </a:rPr>
              <a:t>num1</a:t>
            </a:r>
            <a:r>
              <a:rPr lang="en-GB" sz="1400" dirty="0">
                <a:solidFill>
                  <a:schemeClr val="tx1"/>
                </a:solidFill>
              </a:rPr>
              <a:t>, </a:t>
            </a:r>
            <a:r>
              <a:rPr lang="en-GB" sz="1400" b="1" dirty="0">
                <a:solidFill>
                  <a:schemeClr val="accent5"/>
                </a:solidFill>
              </a:rPr>
              <a:t>num2</a:t>
            </a:r>
            <a:r>
              <a:rPr lang="en-GB" sz="1400" dirty="0">
                <a:solidFill>
                  <a:schemeClr val="tx1"/>
                </a:solidFill>
              </a:rPr>
              <a:t> initially 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A29241-2733-C47F-1EE8-86842AE05AB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582155" y="1550955"/>
            <a:ext cx="0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1EB6363F-451E-3616-13A4-296DF9B13E15}"/>
              </a:ext>
            </a:extLst>
          </p:cNvPr>
          <p:cNvSpPr/>
          <p:nvPr/>
        </p:nvSpPr>
        <p:spPr>
          <a:xfrm>
            <a:off x="6425347" y="4364611"/>
            <a:ext cx="2313616" cy="66425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Set </a:t>
            </a:r>
            <a:r>
              <a:rPr lang="en-GB" sz="1400" b="1" dirty="0">
                <a:solidFill>
                  <a:schemeClr val="accent2"/>
                </a:solidFill>
              </a:rPr>
              <a:t>total</a:t>
            </a:r>
            <a:r>
              <a:rPr lang="en-GB" sz="1400" dirty="0">
                <a:solidFill>
                  <a:schemeClr val="tx1"/>
                </a:solidFill>
              </a:rPr>
              <a:t> to </a:t>
            </a:r>
            <a:r>
              <a:rPr lang="en-GB" sz="1400" b="1" dirty="0">
                <a:solidFill>
                  <a:schemeClr val="accent6"/>
                </a:solidFill>
              </a:rPr>
              <a:t>num1</a:t>
            </a:r>
            <a:r>
              <a:rPr lang="en-GB" sz="1400" dirty="0">
                <a:solidFill>
                  <a:schemeClr val="tx1"/>
                </a:solidFill>
              </a:rPr>
              <a:t> + </a:t>
            </a:r>
            <a:r>
              <a:rPr lang="en-GB" sz="1400" b="1" dirty="0">
                <a:solidFill>
                  <a:schemeClr val="accent5"/>
                </a:solidFill>
              </a:rPr>
              <a:t>num2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BE3C86-8DB9-35BD-A313-0929DCAB858F}"/>
              </a:ext>
            </a:extLst>
          </p:cNvPr>
          <p:cNvCxnSpPr>
            <a:cxnSpLocks/>
            <a:stCxn id="8" idx="4"/>
            <a:endCxn id="14" idx="0"/>
          </p:cNvCxnSpPr>
          <p:nvPr/>
        </p:nvCxnSpPr>
        <p:spPr>
          <a:xfrm>
            <a:off x="7582155" y="4159385"/>
            <a:ext cx="0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A3CBBF2D-032B-BE28-B81C-38A243B227CC}"/>
              </a:ext>
            </a:extLst>
          </p:cNvPr>
          <p:cNvSpPr/>
          <p:nvPr/>
        </p:nvSpPr>
        <p:spPr>
          <a:xfrm>
            <a:off x="6425347" y="5234087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</a:t>
            </a:r>
            <a:r>
              <a:rPr lang="en-GB" sz="1400" b="1" dirty="0">
                <a:solidFill>
                  <a:schemeClr val="accent2"/>
                </a:solidFill>
              </a:rPr>
              <a:t>total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15D5BD-C439-B80C-9516-9B48F4449FF2}"/>
              </a:ext>
            </a:extLst>
          </p:cNvPr>
          <p:cNvCxnSpPr>
            <a:cxnSpLocks/>
            <a:endCxn id="20" idx="1"/>
          </p:cNvCxnSpPr>
          <p:nvPr/>
        </p:nvCxnSpPr>
        <p:spPr>
          <a:xfrm flipH="1">
            <a:off x="7582155" y="5028861"/>
            <a:ext cx="1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15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9A46-0B53-186E-FDF0-CA940FAE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23AF-8522-B7C8-6E43-2DB66F9A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Basic Flowchart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39413-352C-0D8F-AD40-FA4EEF365B28}"/>
              </a:ext>
            </a:extLst>
          </p:cNvPr>
          <p:cNvSpPr txBox="1"/>
          <p:nvPr/>
        </p:nvSpPr>
        <p:spPr>
          <a:xfrm>
            <a:off x="1357632" y="1823709"/>
            <a:ext cx="64287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the following programs using </a:t>
            </a:r>
            <a:r>
              <a:rPr lang="en-US" b="1" dirty="0"/>
              <a:t>Flowcharts</a:t>
            </a:r>
            <a:r>
              <a:rPr lang="en-US" dirty="0"/>
              <a:t>: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program which asks the user for the length and width of a rectangle, then calculates its area and displays it to the user.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program which asks for 2 numbers and calculates the average of the two.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program which asks for the user’s name and age, then displays “Your name is” + name + “and you are” + age.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730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CE67-B141-E374-B1ED-524B2B411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75BC-C2EC-4B01-8504-679FDCA2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631" y="606080"/>
            <a:ext cx="4896115" cy="1325563"/>
          </a:xfrm>
        </p:spPr>
        <p:txBody>
          <a:bodyPr/>
          <a:lstStyle/>
          <a:p>
            <a:pPr algn="l"/>
            <a:r>
              <a:rPr lang="en-GB" dirty="0"/>
              <a:t>Conditions in Flowcharts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4548F-C6BF-3965-82AD-41E2FCE1C709}"/>
              </a:ext>
            </a:extLst>
          </p:cNvPr>
          <p:cNvSpPr txBox="1"/>
          <p:nvPr/>
        </p:nvSpPr>
        <p:spPr>
          <a:xfrm>
            <a:off x="1357631" y="1823709"/>
            <a:ext cx="4098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31F20"/>
                </a:solidFill>
              </a:rPr>
              <a:t>A program which asks the user for their age.</a:t>
            </a:r>
          </a:p>
          <a:p>
            <a:r>
              <a:rPr lang="en-GB" dirty="0">
                <a:solidFill>
                  <a:srgbClr val="231F20"/>
                </a:solidFill>
              </a:rPr>
              <a:t>If over 18, display “You are an adult”, otherwise display “You are a child”.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9EE47-C51A-D152-C038-0BF026A0C716}"/>
              </a:ext>
            </a:extLst>
          </p:cNvPr>
          <p:cNvSpPr txBox="1"/>
          <p:nvPr/>
        </p:nvSpPr>
        <p:spPr>
          <a:xfrm>
            <a:off x="1357632" y="3281646"/>
            <a:ext cx="26900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31F20"/>
                </a:solidFill>
              </a:rPr>
              <a:t>Initialise the variables we need (</a:t>
            </a:r>
            <a:r>
              <a:rPr lang="en-GB" b="1" dirty="0">
                <a:solidFill>
                  <a:schemeClr val="accent2"/>
                </a:solidFill>
              </a:rPr>
              <a:t>age</a:t>
            </a:r>
            <a:r>
              <a:rPr lang="en-GB" dirty="0">
                <a:solidFill>
                  <a:srgbClr val="231F2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231F20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Get </a:t>
            </a:r>
            <a:r>
              <a:rPr lang="en-GB" b="1" dirty="0">
                <a:solidFill>
                  <a:schemeClr val="accent2"/>
                </a:solidFill>
                <a:cs typeface="Calibri"/>
              </a:rPr>
              <a:t>age</a:t>
            </a:r>
            <a:r>
              <a:rPr lang="en-GB" dirty="0">
                <a:cs typeface="Calibri"/>
              </a:rPr>
              <a:t> from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Check if </a:t>
            </a:r>
            <a:r>
              <a:rPr lang="en-GB" b="1" dirty="0">
                <a:solidFill>
                  <a:schemeClr val="accent2"/>
                </a:solidFill>
                <a:cs typeface="Calibri"/>
              </a:rPr>
              <a:t>age</a:t>
            </a:r>
            <a:r>
              <a:rPr lang="en-GB" dirty="0">
                <a:cs typeface="Calibri"/>
              </a:rPr>
              <a:t> </a:t>
            </a:r>
            <a:r>
              <a:rPr lang="en-GB" b="1" dirty="0">
                <a:cs typeface="Calibri"/>
              </a:rPr>
              <a:t>&gt; 18</a:t>
            </a: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If </a:t>
            </a:r>
            <a:r>
              <a:rPr lang="en-GB" b="1" dirty="0">
                <a:cs typeface="Calibri"/>
              </a:rPr>
              <a:t>yes</a:t>
            </a:r>
            <a:r>
              <a:rPr lang="en-GB" dirty="0">
                <a:cs typeface="Calibri"/>
              </a:rPr>
              <a:t>, display adult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If </a:t>
            </a:r>
            <a:r>
              <a:rPr lang="en-GB" b="1" dirty="0">
                <a:cs typeface="Calibri"/>
              </a:rPr>
              <a:t>no</a:t>
            </a:r>
            <a:r>
              <a:rPr lang="en-GB" dirty="0">
                <a:cs typeface="Calibri"/>
              </a:rPr>
              <a:t>, display child message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FBCDA4CE-4EC9-A21F-A2A5-6D89010B0196}"/>
              </a:ext>
            </a:extLst>
          </p:cNvPr>
          <p:cNvSpPr/>
          <p:nvPr/>
        </p:nvSpPr>
        <p:spPr>
          <a:xfrm>
            <a:off x="5934627" y="1117318"/>
            <a:ext cx="1521954" cy="40781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04EAF500-C23E-765D-10E3-8C062BCAD0F7}"/>
              </a:ext>
            </a:extLst>
          </p:cNvPr>
          <p:cNvSpPr/>
          <p:nvPr/>
        </p:nvSpPr>
        <p:spPr>
          <a:xfrm>
            <a:off x="5538796" y="2734525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Get </a:t>
            </a:r>
            <a:r>
              <a:rPr lang="en-GB" sz="1400" b="1" dirty="0">
                <a:solidFill>
                  <a:schemeClr val="accent2"/>
                </a:solidFill>
              </a:rPr>
              <a:t>age</a:t>
            </a:r>
            <a:r>
              <a:rPr lang="en-GB" sz="1400" dirty="0">
                <a:solidFill>
                  <a:schemeClr val="tx1"/>
                </a:solidFill>
              </a:rPr>
              <a:t> from keyboard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83EA04FE-EAF2-CAE8-3E6D-461A275BA9E7}"/>
              </a:ext>
            </a:extLst>
          </p:cNvPr>
          <p:cNvSpPr/>
          <p:nvPr/>
        </p:nvSpPr>
        <p:spPr>
          <a:xfrm>
            <a:off x="5956364" y="5684988"/>
            <a:ext cx="1521954" cy="407811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370A78-0FA2-9443-61E5-77E936FC5DD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695604" y="1525129"/>
            <a:ext cx="1" cy="339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DCBC08-84B7-CAB3-F759-41A1F3FAD1AD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6695603" y="3398776"/>
            <a:ext cx="1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EA4F4F-FF51-FCFC-1DD2-0D03C2273698}"/>
              </a:ext>
            </a:extLst>
          </p:cNvPr>
          <p:cNvCxnSpPr>
            <a:cxnSpLocks/>
          </p:cNvCxnSpPr>
          <p:nvPr/>
        </p:nvCxnSpPr>
        <p:spPr>
          <a:xfrm>
            <a:off x="6717341" y="5377014"/>
            <a:ext cx="0" cy="307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184973E4-A907-2E6F-8569-D9ACAB31ED2E}"/>
              </a:ext>
            </a:extLst>
          </p:cNvPr>
          <p:cNvSpPr/>
          <p:nvPr/>
        </p:nvSpPr>
        <p:spPr>
          <a:xfrm>
            <a:off x="5538796" y="1865049"/>
            <a:ext cx="2313616" cy="664250"/>
          </a:xfrm>
          <a:prstGeom prst="flowChartPrepa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Set </a:t>
            </a:r>
            <a:r>
              <a:rPr lang="en-GB" sz="1400" b="1" dirty="0">
                <a:solidFill>
                  <a:schemeClr val="accent2"/>
                </a:solidFill>
              </a:rPr>
              <a:t>age</a:t>
            </a:r>
            <a:r>
              <a:rPr lang="en-GB" sz="1400" dirty="0">
                <a:solidFill>
                  <a:schemeClr val="tx1"/>
                </a:solidFill>
              </a:rPr>
              <a:t> initially 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798E85-B6EF-4449-9B79-E8F1B9F9F3C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695604" y="2529299"/>
            <a:ext cx="0" cy="2052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ata 19">
            <a:extLst>
              <a:ext uri="{FF2B5EF4-FFF2-40B4-BE49-F238E27FC236}">
                <a16:creationId xmlns:a16="http://schemas.microsoft.com/office/drawing/2014/main" id="{C56AAB6E-F01D-A4EB-EA8D-9AB387D84C2D}"/>
              </a:ext>
            </a:extLst>
          </p:cNvPr>
          <p:cNvSpPr/>
          <p:nvPr/>
        </p:nvSpPr>
        <p:spPr>
          <a:xfrm>
            <a:off x="4047658" y="4569619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“You are an adult”</a:t>
            </a:r>
            <a:endParaRPr lang="en-GB" sz="1400" b="1" dirty="0">
              <a:solidFill>
                <a:schemeClr val="accent2"/>
              </a:solidFill>
            </a:endParaRPr>
          </a:p>
        </p:txBody>
      </p: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8F5F6A3D-386A-C018-EE9C-80B78ABF286D}"/>
              </a:ext>
            </a:extLst>
          </p:cNvPr>
          <p:cNvSpPr/>
          <p:nvPr/>
        </p:nvSpPr>
        <p:spPr>
          <a:xfrm>
            <a:off x="5538796" y="3604002"/>
            <a:ext cx="2313597" cy="664250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If </a:t>
            </a:r>
            <a:r>
              <a:rPr lang="en-GB" sz="1400" b="1" dirty="0">
                <a:solidFill>
                  <a:schemeClr val="accent2"/>
                </a:solidFill>
              </a:rPr>
              <a:t>age</a:t>
            </a:r>
            <a:r>
              <a:rPr lang="en-GB" sz="1400" b="1" dirty="0">
                <a:solidFill>
                  <a:schemeClr val="tx1"/>
                </a:solidFill>
              </a:rPr>
              <a:t> &gt; 18</a:t>
            </a:r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9381AE7E-9B84-C4BA-184B-79038AA1BAAF}"/>
              </a:ext>
            </a:extLst>
          </p:cNvPr>
          <p:cNvSpPr/>
          <p:nvPr/>
        </p:nvSpPr>
        <p:spPr>
          <a:xfrm>
            <a:off x="6737684" y="4590644"/>
            <a:ext cx="2313616" cy="66425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Display “You are a child”</a:t>
            </a:r>
            <a:endParaRPr lang="en-GB" sz="1400" b="1" dirty="0">
              <a:solidFill>
                <a:schemeClr val="accent2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9AB4AB-19B4-271F-8C40-BFF358F29190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5192257" y="3936127"/>
            <a:ext cx="3465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BDFC19B-AE32-09C1-CCC8-1DF7B4B9BEDF}"/>
              </a:ext>
            </a:extLst>
          </p:cNvPr>
          <p:cNvCxnSpPr>
            <a:cxnSpLocks/>
          </p:cNvCxnSpPr>
          <p:nvPr/>
        </p:nvCxnSpPr>
        <p:spPr>
          <a:xfrm>
            <a:off x="5204466" y="3936127"/>
            <a:ext cx="0" cy="6230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A3404CD-ADF2-E5EB-0849-05458027C9EC}"/>
              </a:ext>
            </a:extLst>
          </p:cNvPr>
          <p:cNvCxnSpPr>
            <a:cxnSpLocks/>
          </p:cNvCxnSpPr>
          <p:nvPr/>
        </p:nvCxnSpPr>
        <p:spPr>
          <a:xfrm flipH="1">
            <a:off x="7852393" y="3936127"/>
            <a:ext cx="3465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C986FA-F2D1-EB31-A5D7-4CCC9D395081}"/>
              </a:ext>
            </a:extLst>
          </p:cNvPr>
          <p:cNvCxnSpPr>
            <a:cxnSpLocks/>
          </p:cNvCxnSpPr>
          <p:nvPr/>
        </p:nvCxnSpPr>
        <p:spPr>
          <a:xfrm>
            <a:off x="8198932" y="3936127"/>
            <a:ext cx="0" cy="6545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017E3AD-CC99-F541-487F-876DB9208DC0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5204466" y="5233870"/>
            <a:ext cx="0" cy="1431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AC019B-2679-E5B2-6F87-61FA0585336F}"/>
              </a:ext>
            </a:extLst>
          </p:cNvPr>
          <p:cNvCxnSpPr>
            <a:cxnSpLocks/>
          </p:cNvCxnSpPr>
          <p:nvPr/>
        </p:nvCxnSpPr>
        <p:spPr>
          <a:xfrm flipV="1">
            <a:off x="8174576" y="5254895"/>
            <a:ext cx="0" cy="1431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997E9B-B827-03AE-6A82-50C2E374B98D}"/>
              </a:ext>
            </a:extLst>
          </p:cNvPr>
          <p:cNvCxnSpPr>
            <a:cxnSpLocks/>
          </p:cNvCxnSpPr>
          <p:nvPr/>
        </p:nvCxnSpPr>
        <p:spPr>
          <a:xfrm flipH="1">
            <a:off x="5192257" y="5398039"/>
            <a:ext cx="29822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12430EF-512C-682E-6ECD-195E7F59B499}"/>
              </a:ext>
            </a:extLst>
          </p:cNvPr>
          <p:cNvSpPr txBox="1"/>
          <p:nvPr/>
        </p:nvSpPr>
        <p:spPr>
          <a:xfrm>
            <a:off x="4768412" y="4075815"/>
            <a:ext cx="448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F14BC4-5E56-5038-C4E7-89304EC0F59A}"/>
              </a:ext>
            </a:extLst>
          </p:cNvPr>
          <p:cNvSpPr txBox="1"/>
          <p:nvPr/>
        </p:nvSpPr>
        <p:spPr>
          <a:xfrm>
            <a:off x="8174513" y="4074555"/>
            <a:ext cx="401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6213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7" grpId="0" animBg="1"/>
      <p:bldP spid="9" grpId="0" animBg="1"/>
      <p:bldP spid="10" grpId="0" animBg="1"/>
      <p:bldP spid="20" grpId="0" animBg="1"/>
      <p:bldP spid="25" grpId="0" animBg="1"/>
      <p:bldP spid="28" grpId="0" animBg="1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36AD-7F65-B643-5A00-8CFDD1AE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32DA-318D-9C8A-3E7F-CFFAA9C5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Condition Flowchart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A13C7-07ED-28B9-EC16-F9C43FF73FAC}"/>
              </a:ext>
            </a:extLst>
          </p:cNvPr>
          <p:cNvSpPr txBox="1"/>
          <p:nvPr/>
        </p:nvSpPr>
        <p:spPr>
          <a:xfrm>
            <a:off x="1357632" y="1823709"/>
            <a:ext cx="6428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the following programs using </a:t>
            </a:r>
            <a:r>
              <a:rPr lang="en-US" b="1" dirty="0"/>
              <a:t>Flowcharts</a:t>
            </a:r>
            <a:r>
              <a:rPr lang="en-US" dirty="0"/>
              <a:t>: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231F20"/>
                </a:solidFill>
              </a:rPr>
              <a:t>A program which asks the user for their age. If over 17, display “Can learn to drive”, otherwise display “Can’t learn to drive”.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solidFill>
                <a:srgbClr val="231F2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231F20"/>
                </a:solidFill>
              </a:rPr>
              <a:t>A program which asks the user for the temperature. If it is over 20, display “Hot”, otherwise display “Cold”.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 program which asks the user for two numbers. If the first number is greater than the second, display “First number bigger”, otherwise display “Second number bigger”.</a:t>
            </a:r>
          </a:p>
        </p:txBody>
      </p:sp>
    </p:spTree>
    <p:extLst>
      <p:ext uri="{BB962C8B-B14F-4D97-AF65-F5344CB8AC3E}">
        <p14:creationId xmlns:p14="http://schemas.microsoft.com/office/powerpoint/2010/main" val="1294146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B10AB-9050-4708-6586-2BBF7A9F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FAF5-1DCF-EFCE-C304-8C6D57B4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632" y="682812"/>
            <a:ext cx="3505200" cy="1325563"/>
          </a:xfrm>
        </p:spPr>
        <p:txBody>
          <a:bodyPr/>
          <a:lstStyle/>
          <a:p>
            <a:pPr algn="l"/>
            <a:r>
              <a:rPr lang="en-GB" dirty="0"/>
              <a:t>Loops in Flowcharts</a:t>
            </a:r>
          </a:p>
        </p:txBody>
      </p:sp>
      <p:pic>
        <p:nvPicPr>
          <p:cNvPr id="1026" name="Picture 2" descr="N5 Computing Science flowcharts">
            <a:extLst>
              <a:ext uri="{FF2B5EF4-FFF2-40B4-BE49-F238E27FC236}">
                <a16:creationId xmlns:a16="http://schemas.microsoft.com/office/drawing/2014/main" id="{06C5CE35-F622-DAA1-7DFE-52C11FD72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539937"/>
            <a:ext cx="3105150" cy="574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3588AA-7268-F578-EA3C-AE79BD734C30}"/>
              </a:ext>
            </a:extLst>
          </p:cNvPr>
          <p:cNvSpPr/>
          <p:nvPr/>
        </p:nvSpPr>
        <p:spPr>
          <a:xfrm>
            <a:off x="4662168" y="3521074"/>
            <a:ext cx="2819400" cy="25050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B370D-746F-48BE-4E48-FD3CE393677C}"/>
              </a:ext>
            </a:extLst>
          </p:cNvPr>
          <p:cNvSpPr txBox="1"/>
          <p:nvPr/>
        </p:nvSpPr>
        <p:spPr>
          <a:xfrm>
            <a:off x="1357632" y="2056000"/>
            <a:ext cx="26428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Loops are notated using an arrow </a:t>
            </a:r>
            <a:r>
              <a:rPr lang="en-GB" b="1" dirty="0"/>
              <a:t>going back</a:t>
            </a:r>
            <a:r>
              <a:rPr lang="en-GB" dirty="0"/>
              <a:t> to another process.</a:t>
            </a:r>
          </a:p>
          <a:p>
            <a:endParaRPr lang="en-GB" dirty="0"/>
          </a:p>
          <a:p>
            <a:r>
              <a:rPr lang="en-GB" dirty="0"/>
              <a:t>There may be </a:t>
            </a:r>
            <a:r>
              <a:rPr lang="en-GB" b="1" dirty="0"/>
              <a:t>additional processes </a:t>
            </a:r>
            <a:r>
              <a:rPr lang="en-GB" dirty="0"/>
              <a:t>before going back to the start of the loop.</a:t>
            </a:r>
          </a:p>
          <a:p>
            <a:endParaRPr lang="en-GB" dirty="0"/>
          </a:p>
          <a:p>
            <a:r>
              <a:rPr lang="en-GB" dirty="0"/>
              <a:t>This example shows a </a:t>
            </a:r>
            <a:r>
              <a:rPr lang="en-GB" b="1" dirty="0"/>
              <a:t>conditional loop </a:t>
            </a:r>
            <a:r>
              <a:rPr lang="en-GB" dirty="0"/>
              <a:t>(loops until the index is 7).</a:t>
            </a:r>
          </a:p>
        </p:txBody>
      </p:sp>
    </p:spTree>
    <p:extLst>
      <p:ext uri="{BB962C8B-B14F-4D97-AF65-F5344CB8AC3E}">
        <p14:creationId xmlns:p14="http://schemas.microsoft.com/office/powerpoint/2010/main" val="263904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377E6-4F8F-3E0F-39D4-AFFE8ED8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E39F-C365-932F-9A2A-CB8F18EA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Course Specification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5E811-0F77-5061-2E97-F5BD03A2DAAF}"/>
              </a:ext>
            </a:extLst>
          </p:cNvPr>
          <p:cNvSpPr txBox="1"/>
          <p:nvPr/>
        </p:nvSpPr>
        <p:spPr>
          <a:xfrm>
            <a:off x="1357632" y="1823709"/>
            <a:ext cx="64287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National 5, you must be able to: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Read and understand</a:t>
            </a:r>
            <a:r>
              <a:rPr lang="en-GB" dirty="0"/>
              <a:t> </a:t>
            </a:r>
            <a:r>
              <a:rPr lang="en-GB" b="1" dirty="0"/>
              <a:t>all three design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Structure diagrams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Flowcharts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Pseudocode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Exemplify and implement </a:t>
            </a:r>
            <a:r>
              <a:rPr lang="en-GB" b="1" dirty="0"/>
              <a:t>ONE</a:t>
            </a:r>
            <a:r>
              <a:rPr lang="en-GB" dirty="0"/>
              <a:t> of the design techniques to design efficient solutions to a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Describe, exemplify, and implement user interface design in terms of input and output, using a </a:t>
            </a:r>
            <a:r>
              <a:rPr lang="en-GB" b="1" dirty="0"/>
              <a:t>Wireframe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2750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6D392-DB7F-01D7-BB37-837E9E38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0261-0D5C-9285-1A38-2471C9CC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4137C-F0DF-5696-D7C4-0A614259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0B3A8-A99A-C459-1A21-382A8636F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design stage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read and create structure diagrams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77E6C-EC39-3D21-7C3C-79FCF822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4A7D0-43BC-5191-DC85-3B8F3BAB6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design phase and the aspects of software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Design structure diagrams according to a program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709378173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FC96E7-6AA4-4B2D-88E7-8DFD6D3BFBA2}"/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2564</TotalTime>
  <Words>1053</Words>
  <Application>Microsoft Office PowerPoint</Application>
  <PresentationFormat>On-screen Show (4:3)</PresentationFormat>
  <Paragraphs>191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ReithSans</vt:lpstr>
      <vt:lpstr>Tenorite</vt:lpstr>
      <vt:lpstr>Monoline</vt:lpstr>
      <vt:lpstr>Starter Task</vt:lpstr>
      <vt:lpstr>Learning intentions and success criteria</vt:lpstr>
      <vt:lpstr>Basic Worked Example</vt:lpstr>
      <vt:lpstr>Worked Example with Condition</vt:lpstr>
      <vt:lpstr>Structure Diagram</vt:lpstr>
      <vt:lpstr>Example with Conditional Loop</vt:lpstr>
      <vt:lpstr>Example with Fixed Loop</vt:lpstr>
      <vt:lpstr>Worksheet Part 3: Loops</vt:lpstr>
      <vt:lpstr>Flowcharts</vt:lpstr>
      <vt:lpstr>Introduction</vt:lpstr>
      <vt:lpstr>Symbols</vt:lpstr>
      <vt:lpstr>Basic Example 1</vt:lpstr>
      <vt:lpstr>Basic Example 2</vt:lpstr>
      <vt:lpstr>Basic Flowchart Tasks</vt:lpstr>
      <vt:lpstr>Conditions in Flowcharts</vt:lpstr>
      <vt:lpstr>Condition Flowchart Tasks</vt:lpstr>
      <vt:lpstr>Loops in Flowcharts</vt:lpstr>
      <vt:lpstr>Course Specification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203</cp:revision>
  <cp:lastPrinted>2025-08-18T09:52:00Z</cp:lastPrinted>
  <dcterms:created xsi:type="dcterms:W3CDTF">2025-02-10T23:03:02Z</dcterms:created>
  <dcterms:modified xsi:type="dcterms:W3CDTF">2025-09-09T14:57:36Z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