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447" r:id="rId5"/>
    <p:sldId id="296" r:id="rId6"/>
    <p:sldId id="446" r:id="rId7"/>
    <p:sldId id="454" r:id="rId8"/>
    <p:sldId id="456" r:id="rId9"/>
    <p:sldId id="458" r:id="rId10"/>
    <p:sldId id="457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55" r:id="rId25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86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28/10/2025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E20D-2254-6FA9-86FC-D9E6AD6F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AE409-7DF4-56B1-8941-6A77679B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8CB7B-6D60-5AB0-1700-365D0E66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EE258-1A29-38E3-11B3-447409547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951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B701-E0A0-E248-FF69-1DCBE0C8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279BD-BD2D-D78C-0218-73FA2806C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B2DE0-C04F-48EC-0666-246C014FD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DADA8-50B9-553B-2ED1-C8868CEAC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476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A527-E959-C731-BE45-7EB941BA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CC0B9-A6FA-B6DE-3EA3-0888B8E9D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CC8BE-9853-AE09-1EFC-6B06BB3C8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360E-B550-AE3A-17DB-8D14BF70B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90402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6BFD-10F9-A56E-F706-4F03933D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828A0-49E6-E4A5-4549-E7FDD8E3E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4688-9195-E7C3-959E-3F3FF6884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2625-2094-263D-34F4-46E68FCD9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7693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1D8A-C33C-CF58-EE8A-EB9D07ED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6DB98-8D52-F6CC-0054-AAFCC457B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7FF5E-4B68-30A4-D7A8-C0DCC5B84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73F91-BAA2-EF1B-C9C4-0E1AA834A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28035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B9D5-6C07-DB5F-57F4-54F4348F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A3BD6-577A-C199-7F14-01873BCD7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E8F8C-2F7A-160B-1387-A80412FD6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634A8-A72B-D2F0-DD0A-ED40514D8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65423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DD6E-2C43-B95C-55B8-FDA36033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0D010-271E-66B5-F8BA-DF8B44FD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25726-C170-B03A-BD2C-78AF1014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91B95-EA25-1A1A-D07C-CF5017863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95919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5F3F-9884-F500-A459-929D532C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15797-335D-A61A-AAD8-1F537E2A3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B5751-2B8B-8EFD-8A84-86D9E05F3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87E5-2843-12D1-C73D-B1679D652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53520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E81B-80F7-03A4-98A5-DDA10EBE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7378A-74CF-BEC8-AF0F-2A24D59DB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6C0EF-8721-44B7-9603-765F2367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37046-99B2-F5B5-F679-58B8612B9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1527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912C-6EA9-0C5E-42E4-A4C62D0A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9CB6D-43F3-66F8-2A0B-413E6EA27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D9646-A590-A47A-0170-BEE322063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3B0B9-6664-E866-975C-1D79E8F6C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4979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E1318-0FE6-FC05-7FC5-205CB65F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6E018-CF47-3494-1EA4-C2F8161E1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E8F76-ACD1-5F8B-0B02-683BAD80A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AD7AD-078B-BB46-AC22-119629D95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33016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C5B3-615B-15C4-6442-97BEE138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EAC58-0314-9BCA-A2C1-B900F0B32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3C079-966A-245B-3035-DC6406CDC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B53F4-F0A7-5CC3-914C-89B7CB404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37362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8AC8-15C8-09F0-3892-9272D6E8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DEEEB-3AC5-03B7-A681-9CAA6DA1C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A2631-17A8-93CC-296B-03F83615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DA755-9EB6-709E-2734-0FE73AA4E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32210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607F-9945-FE0F-7479-669DCFBA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FAA5A-AD96-E64F-4E5E-DC28925A7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F7985-9C24-B56D-3D30-55842CA27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CCFB8-1A39-8393-621F-60648D6E0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3146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9FBC-2B8C-F312-3E01-68DDD91A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A02AD-C6B0-8046-C239-0F725837A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60D70-99C3-45D3-62D6-198DD6BE8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E454B-DC03-84FF-2084-3E2008B68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94895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949E-60A9-FE50-5F57-C9B4275D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04722-B94D-9B60-84CC-A1CDD2E9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D2D3E-1AF6-3A13-B69E-11E43C8EF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B3665-6B5D-8120-BC41-7BA13135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76298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C329-0DBF-DB6B-6B03-0966CC83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7A588-00E6-56C8-E652-2EE81AAC2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4F4BC-B005-0DC7-2E28-49239288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1B4E7-F491-3445-16BD-9E0BB68D3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5419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1F1E-6164-263F-0E8F-BCBA8BCD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BE89F-E249-E225-4A9A-1289D0ABE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C6EE7-D792-52AF-7FD0-24365EF8A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ED242-803B-44AB-4E82-6273419D7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5076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hecklist-task-to-do-list-plan-1295319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healthsanteinfo.ca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ourses.lumenlearning.com/alamo-sociology/chapter/reading-types-of-group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flickr.com/photos/otacke/1222129250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publicdomainpictures.net/en/view-image.php?image=241736&amp;picture=push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flickr.com/photos/lhanaphotography/610763939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uxmastery.com/readability-tests-magic-formula-or-recipe-for-disaster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healthsanteinfo.ca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2089134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Complete the SDD Testing starter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Attempt all questions on both sides </a:t>
            </a:r>
            <a:r>
              <a:rPr lang="en-GB" sz="2000" i="1"/>
              <a:t>of the page</a:t>
            </a:r>
            <a:endParaRPr lang="en-GB" sz="2000" i="1" dirty="0"/>
          </a:p>
        </p:txBody>
      </p:sp>
      <p:pic>
        <p:nvPicPr>
          <p:cNvPr id="3" name="Picture 2" descr="A clipboard with a pencil and check marks&#10;&#10;AI-generated content may be incorrect.">
            <a:extLst>
              <a:ext uri="{FF2B5EF4-FFF2-40B4-BE49-F238E27FC236}">
                <a16:creationId xmlns:a16="http://schemas.microsoft.com/office/drawing/2014/main" id="{6123B080-2A82-F879-F166-0EDAC85C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290" y="4342665"/>
            <a:ext cx="1929420" cy="20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</a:t>
            </a:r>
            <a:r>
              <a:rPr lang="en-GB" sz="2000" b="1" dirty="0"/>
              <a:t>Evaluation</a:t>
            </a:r>
            <a:r>
              <a:rPr lang="en-GB" sz="2000" dirty="0"/>
              <a:t> and </a:t>
            </a:r>
            <a:r>
              <a:rPr lang="en-GB" sz="2000" b="1" dirty="0"/>
              <a:t>Documentation</a:t>
            </a:r>
            <a:r>
              <a:rPr lang="en-GB" sz="2000" dirty="0"/>
              <a:t> stages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evaluate a computer program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evaluation and documentation stages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Evaluate a computer program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4278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FEC8-8446-D54E-192C-440DFA5C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F0CC-CBBC-981F-66D7-DE3EDAD0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Recap: Errors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D89DF-110B-D302-81C6-FE6CFFD74A09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</a:t>
            </a:r>
            <a:r>
              <a:rPr lang="en-GB" b="1" dirty="0"/>
              <a:t>three types of errors </a:t>
            </a:r>
            <a:r>
              <a:rPr lang="en-GB" dirty="0"/>
              <a:t>you will need to know.</a:t>
            </a:r>
          </a:p>
          <a:p>
            <a:endParaRPr lang="en-GB" dirty="0"/>
          </a:p>
          <a:p>
            <a:r>
              <a:rPr lang="en-GB" dirty="0"/>
              <a:t>Syntax error: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Spelling/grammar mistakes, missing symbols, etc.</a:t>
            </a:r>
          </a:p>
          <a:p>
            <a:endParaRPr lang="en-GB" dirty="0"/>
          </a:p>
          <a:p>
            <a:r>
              <a:rPr lang="en-GB" dirty="0"/>
              <a:t>Execution error: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Asking the program to do something impossible (like divide by zero)</a:t>
            </a:r>
          </a:p>
          <a:p>
            <a:endParaRPr lang="en-GB" dirty="0"/>
          </a:p>
          <a:p>
            <a:r>
              <a:rPr lang="en-GB" dirty="0"/>
              <a:t>Logic error: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program works but it produces unexpected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3FF549-52ED-85D5-1C29-8C6A9F7C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05" t="21354"/>
          <a:stretch>
            <a:fillRect/>
          </a:stretch>
        </p:blipFill>
        <p:spPr>
          <a:xfrm>
            <a:off x="2964274" y="69106"/>
            <a:ext cx="3215452" cy="105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10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C91C-4005-E5C3-65F5-BA519A7F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08F9-5D1C-FE65-A92E-C80256F5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67BA1-A96E-6D48-3A52-0330D7CE7670}"/>
              </a:ext>
            </a:extLst>
          </p:cNvPr>
          <p:cNvSpPr txBox="1"/>
          <p:nvPr/>
        </p:nvSpPr>
        <p:spPr>
          <a:xfrm>
            <a:off x="1357631" y="1843950"/>
            <a:ext cx="65405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the process of checking if a program </a:t>
            </a:r>
            <a:r>
              <a:rPr lang="en-GB" b="1" dirty="0"/>
              <a:t>meets the user’s requirements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There are </a:t>
            </a:r>
            <a:r>
              <a:rPr lang="en-GB" b="1" dirty="0"/>
              <a:t>four criteria </a:t>
            </a:r>
            <a:r>
              <a:rPr lang="en-GB" dirty="0"/>
              <a:t>for evaluating a program: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Fitness for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Efficient use of Coding Constructs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Robustness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You should be able to evaluate a program against </a:t>
            </a:r>
            <a:r>
              <a:rPr lang="en-GB" b="1" dirty="0"/>
              <a:t>all four</a:t>
            </a:r>
            <a:r>
              <a:rPr lang="en-GB" dirty="0"/>
              <a:t> of these criteria.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black and white circle with a blue tick in the middle&#10;&#10;AI-generated content may be incorrect.">
            <a:extLst>
              <a:ext uri="{FF2B5EF4-FFF2-40B4-BE49-F238E27FC236}">
                <a16:creationId xmlns:a16="http://schemas.microsoft.com/office/drawing/2014/main" id="{143D5460-4CF1-385E-5040-1F7412F92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499757" y="195620"/>
            <a:ext cx="1107346" cy="11251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0332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BA30-E8EF-E139-AFD2-81215624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34C7-A455-0427-4952-17DB2162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Fitness for Purpose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D356B-B4E5-483B-F055-715DAB810ABA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making sure that the program </a:t>
            </a:r>
            <a:r>
              <a:rPr lang="en-GB" b="1" dirty="0"/>
              <a:t>does what it’s supposed to do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Requirements are created during the analysis stage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program is </a:t>
            </a:r>
            <a:r>
              <a:rPr lang="en-GB" b="1" dirty="0"/>
              <a:t>fit for purpose</a:t>
            </a:r>
            <a:r>
              <a:rPr lang="en-GB" dirty="0"/>
              <a:t> if it meets all the </a:t>
            </a:r>
            <a:r>
              <a:rPr lang="en-GB" b="1" dirty="0"/>
              <a:t>functional requirements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 descr="A group of construction workers in orange vests&#10;&#10;AI-generated content may be incorrect.">
            <a:extLst>
              <a:ext uri="{FF2B5EF4-FFF2-40B4-BE49-F238E27FC236}">
                <a16:creationId xmlns:a16="http://schemas.microsoft.com/office/drawing/2014/main" id="{28B3E119-B833-04A0-13C6-26B37C2C4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030213" y="4332307"/>
            <a:ext cx="3083574" cy="205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8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1214-1C5D-0005-1D91-3C90D6E7F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42F2-EF42-23C3-5BEB-F37E48A3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Functional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BCCE6-8E22-4A80-5BB9-FAB324C4C883}"/>
              </a:ext>
            </a:extLst>
          </p:cNvPr>
          <p:cNvSpPr txBox="1"/>
          <p:nvPr/>
        </p:nvSpPr>
        <p:spPr>
          <a:xfrm>
            <a:off x="1357631" y="1843950"/>
            <a:ext cx="6540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Requirements describe the specific </a:t>
            </a:r>
            <a:r>
              <a:rPr lang="en-GB" b="1" dirty="0"/>
              <a:t>processes</a:t>
            </a:r>
            <a:r>
              <a:rPr lang="en-GB" dirty="0"/>
              <a:t> and </a:t>
            </a:r>
            <a:r>
              <a:rPr lang="en-GB" b="1" dirty="0"/>
              <a:t>activities</a:t>
            </a:r>
            <a:r>
              <a:rPr lang="en-GB" dirty="0"/>
              <a:t> the program must perform.</a:t>
            </a:r>
          </a:p>
          <a:p>
            <a:endParaRPr lang="en-GB" dirty="0"/>
          </a:p>
          <a:p>
            <a:r>
              <a:rPr lang="en-GB" dirty="0"/>
              <a:t>Examples: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program must </a:t>
            </a:r>
            <a:r>
              <a:rPr lang="en-GB" dirty="0"/>
              <a:t>calculate the average mark of the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program must </a:t>
            </a:r>
            <a:r>
              <a:rPr lang="en-GB" dirty="0"/>
              <a:t>validate that each mark is between 1 and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program must </a:t>
            </a:r>
            <a:r>
              <a:rPr lang="en-GB" dirty="0"/>
              <a:t>display the average mark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9" name="Picture 8" descr="A drawing of a checklist&#10;&#10;AI-generated content may be incorrect.">
            <a:extLst>
              <a:ext uri="{FF2B5EF4-FFF2-40B4-BE49-F238E27FC236}">
                <a16:creationId xmlns:a16="http://schemas.microsoft.com/office/drawing/2014/main" id="{1F4A2F12-40D0-E980-1966-7DA5FD3CB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862474" y="4706272"/>
            <a:ext cx="1419052" cy="157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7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2F84-4B1E-158F-EA86-F4F41FD3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CB6B-44D7-34BC-ADFE-41BF9436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Efficient use of Coding Constructs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4576B-43E3-3B37-E233-A6217CCE4882}"/>
              </a:ext>
            </a:extLst>
          </p:cNvPr>
          <p:cNvSpPr txBox="1"/>
          <p:nvPr/>
        </p:nvSpPr>
        <p:spPr>
          <a:xfrm>
            <a:off x="1357631" y="1843950"/>
            <a:ext cx="6540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Questions we can ask to decide if a program is </a:t>
            </a:r>
            <a:r>
              <a:rPr lang="en-GB" b="1" dirty="0"/>
              <a:t>efficient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Does it have </a:t>
            </a:r>
            <a:r>
              <a:rPr lang="en-GB" b="1" dirty="0"/>
              <a:t>unnecessary lines of code</a:t>
            </a:r>
            <a:r>
              <a:rPr lang="en-GB" dirty="0"/>
              <a:t>?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 all the loops repeat the </a:t>
            </a:r>
            <a:r>
              <a:rPr lang="en-GB" b="1" dirty="0"/>
              <a:t>correct number </a:t>
            </a:r>
            <a:r>
              <a:rPr lang="en-GB" dirty="0"/>
              <a:t>of times?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Could the code have been </a:t>
            </a:r>
            <a:r>
              <a:rPr lang="en-GB" b="1" dirty="0"/>
              <a:t>written more efficiently </a:t>
            </a:r>
            <a:r>
              <a:rPr lang="en-GB" dirty="0"/>
              <a:t>using constructs?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Does the program </a:t>
            </a:r>
            <a:r>
              <a:rPr lang="en-GB" b="1" dirty="0"/>
              <a:t>make use of arrays</a:t>
            </a:r>
            <a:r>
              <a:rPr lang="en-GB" dirty="0"/>
              <a:t> where appropriate instead of individual variables?</a:t>
            </a:r>
            <a:endParaRPr lang="en-GB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Are the arrays </a:t>
            </a:r>
            <a:r>
              <a:rPr lang="en-GB" b="1" dirty="0">
                <a:cs typeface="Calibri"/>
              </a:rPr>
              <a:t>appropriately sized </a:t>
            </a:r>
            <a:r>
              <a:rPr lang="en-GB" dirty="0">
                <a:cs typeface="Calibri"/>
              </a:rPr>
              <a:t>to not waste memory?</a:t>
            </a:r>
            <a:endParaRPr lang="en-GB" dirty="0">
              <a:ea typeface="Calibri"/>
              <a:cs typeface="Calibri"/>
            </a:endParaRP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group of people pushing a large ball&#10;&#10;AI-generated content may be incorrect.">
            <a:extLst>
              <a:ext uri="{FF2B5EF4-FFF2-40B4-BE49-F238E27FC236}">
                <a16:creationId xmlns:a16="http://schemas.microsoft.com/office/drawing/2014/main" id="{E05E8E75-C1E5-CF2B-101B-A16E319E7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99778" y="4778469"/>
            <a:ext cx="2344444" cy="17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0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7598-E1A8-955D-5713-69A0213E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52CA-1752-66EC-4EB1-1F8ED0E3D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Efficiency 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6552B-E6A8-C5AA-0A19-8CE27A7DB2BA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cs typeface="Calibri"/>
              </a:rPr>
              <a:t>Can you use an </a:t>
            </a:r>
            <a:r>
              <a:rPr lang="en-GB" b="1" dirty="0">
                <a:cs typeface="Calibri"/>
              </a:rPr>
              <a:t>array</a:t>
            </a:r>
            <a:r>
              <a:rPr lang="en-GB" dirty="0">
                <a:cs typeface="Calibri"/>
              </a:rPr>
              <a:t> instead of </a:t>
            </a:r>
            <a:r>
              <a:rPr lang="en-GB" b="1" dirty="0">
                <a:cs typeface="Calibri"/>
              </a:rPr>
              <a:t>repeated variables</a:t>
            </a:r>
            <a:r>
              <a:rPr lang="en-GB" dirty="0">
                <a:cs typeface="Calibri"/>
              </a:rPr>
              <a:t>?</a:t>
            </a:r>
          </a:p>
          <a:p>
            <a:pPr algn="ctr"/>
            <a:endParaRPr lang="en-GB" dirty="0">
              <a:ea typeface="Calibri"/>
              <a:cs typeface="Calibri"/>
            </a:endParaRPr>
          </a:p>
          <a:p>
            <a:pPr algn="ctr"/>
            <a:r>
              <a:rPr lang="en-GB" dirty="0">
                <a:ea typeface="Calibri"/>
                <a:cs typeface="Calibri"/>
              </a:rPr>
              <a:t>This would save </a:t>
            </a:r>
            <a:r>
              <a:rPr lang="en-GB" b="1" dirty="0">
                <a:ea typeface="Calibri"/>
                <a:cs typeface="Calibri"/>
              </a:rPr>
              <a:t>lines of code</a:t>
            </a:r>
            <a:r>
              <a:rPr lang="en-GB" dirty="0">
                <a:ea typeface="Calibri"/>
                <a:cs typeface="Calibri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B46B9-F223-DFA4-6FEC-3382227B7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42" y="3039158"/>
            <a:ext cx="6664064" cy="313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51F2B-5791-E144-28F2-3BABFE89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7D3F-31C2-3662-F8A7-2A530BF1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Efficiency 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B94E2-AA9A-F6AF-C03A-ABE5E4855697}"/>
              </a:ext>
            </a:extLst>
          </p:cNvPr>
          <p:cNvSpPr txBox="1"/>
          <p:nvPr/>
        </p:nvSpPr>
        <p:spPr>
          <a:xfrm>
            <a:off x="1357631" y="1843950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cs typeface="Calibri"/>
              </a:rPr>
              <a:t>Can you use </a:t>
            </a:r>
            <a:r>
              <a:rPr lang="en-GB" b="1" dirty="0">
                <a:cs typeface="Calibri"/>
              </a:rPr>
              <a:t>fixed loops</a:t>
            </a:r>
            <a:r>
              <a:rPr lang="en-GB" dirty="0">
                <a:cs typeface="Calibri"/>
              </a:rPr>
              <a:t> instead of </a:t>
            </a:r>
            <a:r>
              <a:rPr lang="en-GB" b="1" dirty="0">
                <a:cs typeface="Calibri"/>
              </a:rPr>
              <a:t>repeated lines </a:t>
            </a:r>
            <a:r>
              <a:rPr lang="en-GB" dirty="0">
                <a:cs typeface="Calibri"/>
              </a:rPr>
              <a:t>of code?</a:t>
            </a:r>
            <a:endParaRPr lang="en-GB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01F5D-E7B3-D33C-F225-033055B2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55" y="2764961"/>
            <a:ext cx="6484690" cy="34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4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29C3-5B23-1B63-1981-2127BE10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FF8E-7C6D-6084-FF03-D48C553B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Efficiency Example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17D98-740E-FC91-9759-C305E55BC7B8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cs typeface="Calibri"/>
              </a:rPr>
              <a:t>Can you use </a:t>
            </a:r>
            <a:r>
              <a:rPr lang="en-GB" b="1" dirty="0">
                <a:cs typeface="Calibri"/>
              </a:rPr>
              <a:t>nested conditions </a:t>
            </a:r>
            <a:r>
              <a:rPr lang="en-GB" dirty="0">
                <a:cs typeface="Calibri"/>
              </a:rPr>
              <a:t>instead of multiple </a:t>
            </a:r>
            <a:r>
              <a:rPr lang="en-GB" b="1" dirty="0">
                <a:cs typeface="Calibri"/>
              </a:rPr>
              <a:t>if/else</a:t>
            </a:r>
            <a:r>
              <a:rPr lang="en-GB" dirty="0">
                <a:cs typeface="Calibri"/>
              </a:rPr>
              <a:t> statements?</a:t>
            </a:r>
            <a:endParaRPr lang="en-GB"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23807-9532-640C-C9CD-09F5740DD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518" y="2713631"/>
            <a:ext cx="6016963" cy="362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F4FD-5610-2000-F07F-0FD9A086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26F0-3C19-0B99-D707-15063FCE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Efficiency Example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CBE3F-FF22-6B20-DDD5-FC7C3AD8D423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cs typeface="Calibri"/>
              </a:rPr>
              <a:t>Can you use a </a:t>
            </a:r>
            <a:r>
              <a:rPr lang="en-GB" b="1" dirty="0">
                <a:cs typeface="Calibri"/>
              </a:rPr>
              <a:t>complex condition</a:t>
            </a:r>
            <a:r>
              <a:rPr lang="en-GB" dirty="0">
                <a:cs typeface="Calibri"/>
              </a:rPr>
              <a:t> instead of </a:t>
            </a:r>
            <a:r>
              <a:rPr lang="en-GB" b="1" dirty="0">
                <a:cs typeface="Calibri"/>
              </a:rPr>
              <a:t>multiple conditions</a:t>
            </a:r>
            <a:r>
              <a:rPr lang="en-GB" dirty="0">
                <a:cs typeface="Calibri"/>
              </a:rPr>
              <a:t>?</a:t>
            </a:r>
            <a:endParaRPr lang="en-GB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55CCC-AD87-ED70-1C5E-887A74614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40" y="3047389"/>
            <a:ext cx="6868720" cy="271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1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FB85-5EBA-12E3-7E4C-9636D9E6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D5E1-2F50-2F40-7F93-38BA95D3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Robustness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E8023-A5D6-3721-D3DD-428FABBD8B8B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program is deemed to be robust if it can cope with </a:t>
            </a:r>
            <a:r>
              <a:rPr lang="en-GB" b="1" dirty="0"/>
              <a:t>unexpected or incorrect input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Examples;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Entering a </a:t>
            </a:r>
            <a:r>
              <a:rPr lang="en-GB" b="1" dirty="0"/>
              <a:t>String</a:t>
            </a:r>
            <a:r>
              <a:rPr lang="en-GB" dirty="0"/>
              <a:t> when the program asks for an </a:t>
            </a:r>
            <a:r>
              <a:rPr lang="en-GB" b="1" dirty="0"/>
              <a:t>Integer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Entering a number </a:t>
            </a:r>
            <a:r>
              <a:rPr lang="en-GB" b="1" dirty="0"/>
              <a:t>outside the range</a:t>
            </a:r>
            <a:r>
              <a:rPr lang="en-GB" dirty="0"/>
              <a:t> the program expects</a:t>
            </a:r>
          </a:p>
          <a:p>
            <a:endParaRPr lang="en-GB" dirty="0"/>
          </a:p>
          <a:p>
            <a:r>
              <a:rPr lang="en-GB" dirty="0"/>
              <a:t>Many of these problems can be solved with </a:t>
            </a:r>
            <a:r>
              <a:rPr lang="en-GB" b="1" dirty="0"/>
              <a:t>input validation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So, the program only continues once an </a:t>
            </a:r>
            <a:r>
              <a:rPr lang="en-GB" b="1" dirty="0"/>
              <a:t>acceptable input </a:t>
            </a:r>
            <a:r>
              <a:rPr lang="en-GB" dirty="0"/>
              <a:t>is entered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By using </a:t>
            </a:r>
            <a:r>
              <a:rPr lang="en-GB" b="1" dirty="0"/>
              <a:t>test tables</a:t>
            </a:r>
            <a:r>
              <a:rPr lang="en-GB" dirty="0"/>
              <a:t>, you can check that inputs do as you expected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crane next to a building under construction&#10;&#10;AI-generated content may be incorrect.">
            <a:extLst>
              <a:ext uri="{FF2B5EF4-FFF2-40B4-BE49-F238E27FC236}">
                <a16:creationId xmlns:a16="http://schemas.microsoft.com/office/drawing/2014/main" id="{C778D42D-DA74-47BE-E9EC-38A0F316E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96351" y="130029"/>
            <a:ext cx="2003710" cy="16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178C-0D2D-1265-15BB-4B8AEF08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43AB-E346-50C3-2204-7F083BF2D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Readability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51E22-716D-BAEA-DA1A-D9E88FAC9729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Most of the time, programmers will be working in </a:t>
            </a:r>
            <a:r>
              <a:rPr lang="en-GB" b="1" dirty="0"/>
              <a:t>teams</a:t>
            </a:r>
            <a:r>
              <a:rPr lang="en-GB" dirty="0"/>
              <a:t>, and you will have to work on </a:t>
            </a:r>
            <a:r>
              <a:rPr lang="en-GB" b="1" dirty="0"/>
              <a:t>other people’s code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is important to write code which can be </a:t>
            </a:r>
            <a:r>
              <a:rPr lang="en-GB" b="1" dirty="0"/>
              <a:t>read and understood by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can also be helpful for yourself, if you work on code you haven’t used in a 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There are four factors which can help a program be readable: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Internal commentary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Meaningful identifiers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Indentation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White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 descr="A cartoon of a robot&#10;&#10;AI-generated content may be incorrect.">
            <a:extLst>
              <a:ext uri="{FF2B5EF4-FFF2-40B4-BE49-F238E27FC236}">
                <a16:creationId xmlns:a16="http://schemas.microsoft.com/office/drawing/2014/main" id="{33A2DBA8-F14F-2E29-E877-475CFA60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94976" y="4896254"/>
            <a:ext cx="3246539" cy="153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1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0A8E-F7D0-995F-8523-186189D1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1E14-D580-6E10-1EAC-F21B1B80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Internal Commentary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15A2E-8BCA-F9C1-B8D7-57702366C08F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Comments let a programmer </a:t>
            </a:r>
            <a:r>
              <a:rPr lang="en-GB" b="1" dirty="0"/>
              <a:t>explain what their program does </a:t>
            </a:r>
            <a:r>
              <a:rPr lang="en-GB" dirty="0"/>
              <a:t>inside the code itself: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Lines of code which the </a:t>
            </a:r>
            <a:r>
              <a:rPr lang="en-GB" b="1" dirty="0"/>
              <a:t>computer ignores</a:t>
            </a:r>
            <a:r>
              <a:rPr lang="en-GB" dirty="0"/>
              <a:t> – they are just there to be </a:t>
            </a:r>
            <a:r>
              <a:rPr lang="en-GB" b="1" dirty="0"/>
              <a:t>read by humans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386C5-4317-927A-FA82-7D587788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15" y="3923601"/>
            <a:ext cx="3707585" cy="2142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0ED89-C282-C99C-1164-AB2750651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77" y="3885412"/>
            <a:ext cx="3773812" cy="2569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FF4F52-B6F9-2DBD-DF08-2CEA54F91C0E}"/>
              </a:ext>
            </a:extLst>
          </p:cNvPr>
          <p:cNvSpPr txBox="1"/>
          <p:nvPr/>
        </p:nvSpPr>
        <p:spPr>
          <a:xfrm>
            <a:off x="1575202" y="6454724"/>
            <a:ext cx="2286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Without commentary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89FF2-091A-FA05-8BBE-619F3C0131F9}"/>
              </a:ext>
            </a:extLst>
          </p:cNvPr>
          <p:cNvSpPr txBox="1"/>
          <p:nvPr/>
        </p:nvSpPr>
        <p:spPr>
          <a:xfrm>
            <a:off x="5787282" y="6454724"/>
            <a:ext cx="196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commentary</a:t>
            </a:r>
          </a:p>
        </p:txBody>
      </p:sp>
    </p:spTree>
    <p:extLst>
      <p:ext uri="{BB962C8B-B14F-4D97-AF65-F5344CB8AC3E}">
        <p14:creationId xmlns:p14="http://schemas.microsoft.com/office/powerpoint/2010/main" val="9239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C8CDA-2CF5-EC1E-42DE-7C5B96EE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A302-345C-B0A9-44A3-20FED22F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Meaningful Identifiers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B6C66-1113-6DAA-DD61-7FEC212DEA29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creating variables, it’s important to give them a </a:t>
            </a:r>
            <a:r>
              <a:rPr lang="en-GB" b="1" dirty="0"/>
              <a:t>meaningful name</a:t>
            </a:r>
            <a:r>
              <a:rPr lang="en-GB" dirty="0"/>
              <a:t> so that you know what it’s for.</a:t>
            </a:r>
          </a:p>
          <a:p>
            <a:endParaRPr lang="en-GB" dirty="0"/>
          </a:p>
          <a:p>
            <a:r>
              <a:rPr lang="en-GB" dirty="0"/>
              <a:t>Same program as last time but replaced variable names: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4FFC1-EDF6-5256-B191-CC92DCD3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665" y="3321278"/>
            <a:ext cx="4404670" cy="324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6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4916-F0D5-85EC-96D4-5E7DF995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B2A3-06F7-9093-1347-76D4B5E3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Meaningful Identifiers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B6118-4AC6-7543-3703-AC8294CFAFFD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i="1" dirty="0"/>
              <a:t>less extreme </a:t>
            </a:r>
            <a:r>
              <a:rPr lang="en-GB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328CD-9359-8CBD-97A0-57E2BDCC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87" y="3301378"/>
            <a:ext cx="3152893" cy="2133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CFA2B-7995-7145-BE2B-9FC86727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253391"/>
            <a:ext cx="5394960" cy="2181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7372CE-BC5A-FF7C-3A8A-681AE274EFB5}"/>
              </a:ext>
            </a:extLst>
          </p:cNvPr>
          <p:cNvSpPr txBox="1"/>
          <p:nvPr/>
        </p:nvSpPr>
        <p:spPr>
          <a:xfrm>
            <a:off x="354330" y="5781412"/>
            <a:ext cx="319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Without meaningful identifiers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A1728-E55C-9013-E880-DC599F9AE2EF}"/>
              </a:ext>
            </a:extLst>
          </p:cNvPr>
          <p:cNvSpPr txBox="1"/>
          <p:nvPr/>
        </p:nvSpPr>
        <p:spPr>
          <a:xfrm>
            <a:off x="4712714" y="5793544"/>
            <a:ext cx="295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meaningful identifiers</a:t>
            </a:r>
          </a:p>
        </p:txBody>
      </p:sp>
    </p:spTree>
    <p:extLst>
      <p:ext uri="{BB962C8B-B14F-4D97-AF65-F5344CB8AC3E}">
        <p14:creationId xmlns:p14="http://schemas.microsoft.com/office/powerpoint/2010/main" val="199278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5674-F67B-7131-534B-6D95D9FB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287D-94B9-84D5-FBAE-C7677F87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Indentation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C7A85-D61C-BE67-8906-47534E1DF219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when part of your code is shifted to the left to indicate that it is </a:t>
            </a:r>
            <a:r>
              <a:rPr lang="en-GB" b="1" dirty="0"/>
              <a:t>inside another block </a:t>
            </a:r>
            <a:r>
              <a:rPr lang="en-GB" dirty="0"/>
              <a:t>of code (the code </a:t>
            </a:r>
            <a:r>
              <a:rPr lang="en-GB" b="1" dirty="0"/>
              <a:t>hierarchy</a:t>
            </a:r>
            <a:r>
              <a:rPr lang="en-GB" dirty="0"/>
              <a:t>):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E.g. code in an </a:t>
            </a:r>
            <a:r>
              <a:rPr lang="en-GB" b="1" dirty="0"/>
              <a:t>If statement</a:t>
            </a:r>
            <a:r>
              <a:rPr lang="en-GB" dirty="0"/>
              <a:t> or a </a:t>
            </a:r>
            <a:r>
              <a:rPr lang="en-GB" b="1" dirty="0"/>
              <a:t>while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most programming environments this is </a:t>
            </a:r>
            <a:r>
              <a:rPr lang="en-GB" b="1" dirty="0"/>
              <a:t>automatic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A5DA8-AA08-EF73-E43D-41CF6C6B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06" y="3900680"/>
            <a:ext cx="5378587" cy="21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5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B515-D7B8-3522-7A61-38390E9C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817E-C1F9-F277-4C8B-4925C446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Whitespace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171D7-EBC9-6867-649B-54748C3D55E7}"/>
              </a:ext>
            </a:extLst>
          </p:cNvPr>
          <p:cNvSpPr txBox="1"/>
          <p:nvPr/>
        </p:nvSpPr>
        <p:spPr>
          <a:xfrm>
            <a:off x="1357631" y="1843950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when you add blank lines of code in between sections of your program: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Helps to separate different processes in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Especially when your program is very large, whitespace is crucial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001D0-5290-3481-8481-A90898C7E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168" y="3875275"/>
            <a:ext cx="5231663" cy="240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4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759B-DC16-3EF2-BFFA-E117BFB0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80CE-45ED-89A4-56E6-0766835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Evaluation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245BC-105A-6BB2-BB24-A0011402DA31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</a:t>
            </a:r>
            <a:r>
              <a:rPr lang="en-GB" b="1" dirty="0"/>
              <a:t>four criteria </a:t>
            </a:r>
            <a:r>
              <a:rPr lang="en-GB" dirty="0"/>
              <a:t>for evaluating a program.</a:t>
            </a:r>
          </a:p>
          <a:p>
            <a:endParaRPr lang="en-GB" dirty="0"/>
          </a:p>
          <a:p>
            <a:r>
              <a:rPr lang="en-GB" dirty="0"/>
              <a:t>Fitness for 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Does the program meet the </a:t>
            </a:r>
            <a:r>
              <a:rPr lang="en-GB" b="1" dirty="0"/>
              <a:t>requirements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dirty="0"/>
              <a:t>Efficient use of Coding Constructs: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Are there ways to make the program </a:t>
            </a:r>
            <a:r>
              <a:rPr lang="en-GB" b="1" dirty="0"/>
              <a:t>more efficient</a:t>
            </a:r>
            <a:r>
              <a:rPr lang="en-GB" dirty="0"/>
              <a:t> (e.g. less lines, use of loops and arrays,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Robustness: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Can the program handle </a:t>
            </a:r>
            <a:r>
              <a:rPr lang="en-GB" b="1" dirty="0"/>
              <a:t>unexpected inputs</a:t>
            </a:r>
            <a:r>
              <a:rPr lang="en-GB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Readability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Is the program easy to </a:t>
            </a:r>
            <a:r>
              <a:rPr lang="en-GB" b="1" dirty="0"/>
              <a:t>read and understand</a:t>
            </a:r>
            <a:r>
              <a:rPr lang="en-GB" dirty="0"/>
              <a:t>?</a:t>
            </a:r>
          </a:p>
          <a:p>
            <a:endParaRPr lang="en-GB" dirty="0"/>
          </a:p>
        </p:txBody>
      </p:sp>
      <p:pic>
        <p:nvPicPr>
          <p:cNvPr id="5" name="Picture 4" descr="A black and white circle with a blue tick in the middle&#10;&#10;AI-generated content may be incorrect.">
            <a:extLst>
              <a:ext uri="{FF2B5EF4-FFF2-40B4-BE49-F238E27FC236}">
                <a16:creationId xmlns:a16="http://schemas.microsoft.com/office/drawing/2014/main" id="{FA43A506-77DF-5708-E1B7-BDC324CF8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499757" y="195620"/>
            <a:ext cx="1107346" cy="11251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5344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16E0-D9C5-B2BB-E5E2-0C9448AD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3C73-92E5-ED03-2FDE-A08F8F37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Documentation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291CB-A39A-FD8C-1DF4-7C543EEFADEC}"/>
              </a:ext>
            </a:extLst>
          </p:cNvPr>
          <p:cNvSpPr txBox="1"/>
          <p:nvPr/>
        </p:nvSpPr>
        <p:spPr>
          <a:xfrm>
            <a:off x="1357631" y="1843949"/>
            <a:ext cx="4342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Throughout a program’s development, documentation is created which </a:t>
            </a:r>
            <a:r>
              <a:rPr lang="en-GB" b="1" dirty="0"/>
              <a:t>explains what the program does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Documentation is carried out in </a:t>
            </a:r>
            <a:r>
              <a:rPr lang="en-GB" b="1" dirty="0"/>
              <a:t>all stages </a:t>
            </a:r>
            <a:r>
              <a:rPr lang="en-GB" dirty="0"/>
              <a:t>of software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11CCC-B0E2-80D7-5F3E-F30E719D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013"/>
          <a:stretch/>
        </p:blipFill>
        <p:spPr>
          <a:xfrm>
            <a:off x="6217947" y="2364067"/>
            <a:ext cx="2160240" cy="39273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09EE38-99DD-52EF-403B-FD6482239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5842"/>
              </p:ext>
            </p:extLst>
          </p:nvPr>
        </p:nvGraphicFramePr>
        <p:xfrm>
          <a:off x="1357631" y="3699778"/>
          <a:ext cx="4309132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566">
                  <a:extLst>
                    <a:ext uri="{9D8B030D-6E8A-4147-A177-3AD203B41FA5}">
                      <a16:colId xmlns:a16="http://schemas.microsoft.com/office/drawing/2014/main" val="1468671121"/>
                    </a:ext>
                  </a:extLst>
                </a:gridCol>
                <a:gridCol w="2154566">
                  <a:extLst>
                    <a:ext uri="{9D8B030D-6E8A-4147-A177-3AD203B41FA5}">
                      <a16:colId xmlns:a16="http://schemas.microsoft.com/office/drawing/2014/main" val="231408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Development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044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Software specification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75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Wireframes, code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063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9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Test plans, test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46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Code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679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72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001174c44652ea014ddcd51994e03726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19f7ac9fbab857f28dddae0242ccdb19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850D04-1E95-4D5E-9A81-821E22AEF5BA}"/>
</file>

<file path=customXml/itemProps3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2820</TotalTime>
  <Words>846</Words>
  <Application>Microsoft Office PowerPoint</Application>
  <PresentationFormat>On-screen Show (4:3)</PresentationFormat>
  <Paragraphs>168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Tenorite</vt:lpstr>
      <vt:lpstr>Monoline</vt:lpstr>
      <vt:lpstr>Starter Task</vt:lpstr>
      <vt:lpstr>Learning intentions and success criteria</vt:lpstr>
      <vt:lpstr>Evaluation</vt:lpstr>
      <vt:lpstr>Recap: Errors</vt:lpstr>
      <vt:lpstr>Evaluation</vt:lpstr>
      <vt:lpstr>Fitness for Purpose</vt:lpstr>
      <vt:lpstr>Functional Requirements</vt:lpstr>
      <vt:lpstr>Efficient use of Coding Constructs</vt:lpstr>
      <vt:lpstr>Efficiency Example 1</vt:lpstr>
      <vt:lpstr>Efficiency Example 2</vt:lpstr>
      <vt:lpstr>Efficiency Example 3</vt:lpstr>
      <vt:lpstr>Efficiency Example 4</vt:lpstr>
      <vt:lpstr>Robustness</vt:lpstr>
      <vt:lpstr>Readability</vt:lpstr>
      <vt:lpstr>Internal Commentary</vt:lpstr>
      <vt:lpstr>Meaningful Identifiers</vt:lpstr>
      <vt:lpstr>Meaningful Identifiers</vt:lpstr>
      <vt:lpstr>Indentation</vt:lpstr>
      <vt:lpstr>Whitespace</vt:lpstr>
      <vt:lpstr>Evaluation Summary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238</cp:revision>
  <cp:lastPrinted>2025-08-18T09:52:00Z</cp:lastPrinted>
  <dcterms:created xsi:type="dcterms:W3CDTF">2025-02-10T23:03:02Z</dcterms:created>
  <dcterms:modified xsi:type="dcterms:W3CDTF">2025-10-28T12:05:11Z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