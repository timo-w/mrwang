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8"/>
  </p:notesMasterIdLst>
  <p:handoutMasterIdLst>
    <p:handoutMasterId r:id="rId19"/>
  </p:handoutMasterIdLst>
  <p:sldIdLst>
    <p:sldId id="296" r:id="rId5"/>
    <p:sldId id="424" r:id="rId6"/>
    <p:sldId id="436" r:id="rId7"/>
    <p:sldId id="444" r:id="rId8"/>
    <p:sldId id="441" r:id="rId9"/>
    <p:sldId id="437" r:id="rId10"/>
    <p:sldId id="425" r:id="rId11"/>
    <p:sldId id="443" r:id="rId12"/>
    <p:sldId id="442" r:id="rId13"/>
    <p:sldId id="423" r:id="rId14"/>
    <p:sldId id="440" r:id="rId15"/>
    <p:sldId id="445" r:id="rId16"/>
    <p:sldId id="439" r:id="rId17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86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21/10/2025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85575-FCD9-F190-781F-C847E45F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DABF5-A41A-8281-3596-F1A62F154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4C1AC-D47D-4385-8015-38D476598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DC51-DEF7-826F-6F33-31BB906F8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98537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8B6C-CEA9-6ABE-FA94-B0B2DC4F1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C7E23-6BFA-D393-1856-B9BC49EF4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93AC3-C100-9135-6F58-A45DC67A7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83265-5DF2-0DFE-B027-0C104EE9B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95305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7744-33FF-A0E1-6FBD-D302D7FA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74EE0-CE90-FA91-3377-665EB73F4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D98CC-E352-C040-BCA5-9D3B4B420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D7EF-D17D-9322-4190-4FFD5FF11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60139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E60B1-59D6-1BE8-5530-53889F40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CA9F1-F48F-379A-2DD3-115279303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80158-9319-A9E6-BF55-26BC38618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6BED-34FF-9C7E-1829-3D1B692FC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003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F20E-BA9D-CC10-776C-77E829B3B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32095-5E73-FC5C-EF3C-97106997C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D7A6-D211-F644-56B8-67D8A17C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CB429-960B-F209-0F02-C8A963C5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9294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0966-6CBD-564B-7C6E-5180360B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96669-C731-0C69-FCE5-526AF85CA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B93B7-AC7D-02C9-063A-66E34C751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551BA-87D0-F8B3-C466-56FA55D76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8830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E027-8101-2719-F7A1-C2F9E303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16C22-6DE5-84C2-71FC-3E052BC41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ABE92-2CCD-FD5A-2EA8-3B2842793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E1AB9-5D6C-A8E9-101F-C6948CB9A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196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F3129-A3D9-F2EA-C9B1-A64E6D92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D7BB7-910B-4EDF-B19A-A9B503796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14CCA-6E23-EBF9-E68A-C77AC90D0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A0F2F-C28B-4A1E-5D6A-C201B349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06209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5176-C7C8-D4F8-51C3-D21C88F21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9432F-74BD-0C84-482D-AD99C3974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94976-0CBB-C26C-4271-D520D13E3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7946C-6701-6EFD-8848-698BDEE4F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776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858C-1FF6-AB3A-709A-B04352AA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CAB8A-3584-E229-3D21-8031B4BEA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FF0EF-25EE-2FDC-E86E-29572F4F1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3A1FD-EA01-3C30-F308-DD8FDEFED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6445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BAB0-268B-F2CD-E92C-1A224B66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87FDD-25D3-B6DD-4979-281300BEE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ED5EE9-94CD-6A94-F5B5-E63BEA3FA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ED969-EDF8-6B40-FCF2-A2475EA32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719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standard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implement the three standard algorithms in National 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what each of the three standard algorithms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Create programs which use standard algorithms</a:t>
            </a:r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F9F05-578B-2B48-1590-4984B5E7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F945-5202-6682-9A0F-F6495D39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B51CC-AA81-6417-5A41-552D2E2B519F}"/>
              </a:ext>
            </a:extLst>
          </p:cNvPr>
          <p:cNvSpPr txBox="1"/>
          <p:nvPr/>
        </p:nvSpPr>
        <p:spPr>
          <a:xfrm>
            <a:off x="1357631" y="1843950"/>
            <a:ext cx="65405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An algorithm is a set of </a:t>
            </a:r>
            <a:r>
              <a:rPr lang="en-GB" b="1" dirty="0"/>
              <a:t>step-by-step instructions</a:t>
            </a:r>
            <a:r>
              <a:rPr lang="en-GB" dirty="0"/>
              <a:t> for a computer to perform a specific task.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There are three algorithms you need to know in National 5: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Traversing a 1-D Array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Input validation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Running total within a loop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7305"/>
            <a:r>
              <a:rPr lang="en-GB" i="1" dirty="0"/>
              <a:t>All three use loops, so make sure you know how to use them!</a:t>
            </a:r>
          </a:p>
          <a:p>
            <a:pPr marL="254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2" descr="Ideas Machine Cartoon PNG &amp; SVG Design For T-Shirts">
            <a:extLst>
              <a:ext uri="{FF2B5EF4-FFF2-40B4-BE49-F238E27FC236}">
                <a16:creationId xmlns:a16="http://schemas.microsoft.com/office/drawing/2014/main" id="{A75980FC-031C-C73E-3742-A32C7DA26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16" y="4941832"/>
            <a:ext cx="1571368" cy="157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70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B522-CFA7-0B36-6631-98000E959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4184-4B55-793E-B1E7-1096A4F33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Traversing a 1-D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67D0C-3054-92A6-6263-0F7B88A4B8B0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This means </a:t>
            </a:r>
            <a:r>
              <a:rPr lang="en-GB" b="1" dirty="0"/>
              <a:t>going through an array</a:t>
            </a:r>
            <a:r>
              <a:rPr lang="en-GB" dirty="0"/>
              <a:t> from start to finish using a </a:t>
            </a:r>
            <a:r>
              <a:rPr lang="en-GB" b="1" dirty="0"/>
              <a:t>loop</a:t>
            </a:r>
            <a:r>
              <a:rPr lang="en-GB" dirty="0"/>
              <a:t>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20FA38-61B3-6382-3773-3C41DD15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861278"/>
              </p:ext>
            </p:extLst>
          </p:nvPr>
        </p:nvGraphicFramePr>
        <p:xfrm>
          <a:off x="2932651" y="2686950"/>
          <a:ext cx="3278698" cy="196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903">
                  <a:extLst>
                    <a:ext uri="{9D8B030D-6E8A-4147-A177-3AD203B41FA5}">
                      <a16:colId xmlns:a16="http://schemas.microsoft.com/office/drawing/2014/main" val="3100811648"/>
                    </a:ext>
                  </a:extLst>
                </a:gridCol>
                <a:gridCol w="1375795">
                  <a:extLst>
                    <a:ext uri="{9D8B030D-6E8A-4147-A177-3AD203B41FA5}">
                      <a16:colId xmlns:a16="http://schemas.microsoft.com/office/drawing/2014/main" val="2152410214"/>
                    </a:ext>
                  </a:extLst>
                </a:gridCol>
              </a:tblGrid>
              <a:tr h="410828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Names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8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“Joel”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91054"/>
                  </a:ext>
                </a:extLst>
              </a:tr>
              <a:tr h="442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Names[1]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“Billy”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70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Names[2]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“Hannah”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59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Names[3]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“Sarah”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1742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E56B9EA-E4B6-0C29-60A7-68D5D9BB06EF}"/>
              </a:ext>
            </a:extLst>
          </p:cNvPr>
          <p:cNvSpPr txBox="1"/>
          <p:nvPr/>
        </p:nvSpPr>
        <p:spPr>
          <a:xfrm>
            <a:off x="1357630" y="4974859"/>
            <a:ext cx="6540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Two examples: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Displaying </a:t>
            </a:r>
            <a:r>
              <a:rPr lang="en-GB" b="1" dirty="0"/>
              <a:t>each name </a:t>
            </a:r>
            <a:r>
              <a:rPr lang="en-GB" dirty="0"/>
              <a:t>to the user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Asking the user to change </a:t>
            </a:r>
            <a:r>
              <a:rPr lang="en-GB" b="1" dirty="0"/>
              <a:t>each name </a:t>
            </a:r>
            <a:r>
              <a:rPr lang="en-GB" dirty="0"/>
              <a:t>in the array</a:t>
            </a:r>
          </a:p>
        </p:txBody>
      </p:sp>
    </p:spTree>
    <p:extLst>
      <p:ext uri="{BB962C8B-B14F-4D97-AF65-F5344CB8AC3E}">
        <p14:creationId xmlns:p14="http://schemas.microsoft.com/office/powerpoint/2010/main" val="1549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AD21C-C94A-D278-2252-B5D76FCE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4A5C-3601-2873-4CF5-B6CA77C2E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Traversing a 1-D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092BB-C918-FD15-E650-3576CBF0CC1F}"/>
              </a:ext>
            </a:extLst>
          </p:cNvPr>
          <p:cNvSpPr txBox="1"/>
          <p:nvPr/>
        </p:nvSpPr>
        <p:spPr>
          <a:xfrm>
            <a:off x="1357631" y="1843950"/>
            <a:ext cx="6540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Displaying </a:t>
            </a:r>
            <a:r>
              <a:rPr lang="en-GB" b="1" dirty="0"/>
              <a:t>each name </a:t>
            </a:r>
            <a:r>
              <a:rPr lang="en-GB" dirty="0"/>
              <a:t>to the user:</a:t>
            </a:r>
          </a:p>
          <a:p>
            <a:pPr marL="27305"/>
            <a:endParaRPr lang="en-GB" dirty="0"/>
          </a:p>
          <a:p>
            <a:pPr fontAlgn="base"/>
            <a:r>
              <a:rPr lang="en-GB" dirty="0"/>
              <a:t>Line 1	DECLARE names INITIALLY [“Alice”, “Bob”, “Charlie”]</a:t>
            </a:r>
          </a:p>
          <a:p>
            <a:pPr fontAlgn="base"/>
            <a:r>
              <a:rPr lang="en-GB" dirty="0"/>
              <a:t>Line 2	FOR counter FROM 0 TO 2 DO</a:t>
            </a:r>
          </a:p>
          <a:p>
            <a:pPr fontAlgn="base"/>
            <a:r>
              <a:rPr lang="en-GB" dirty="0"/>
              <a:t>Line 3 	    SEND names [counter] TO DISPLAY</a:t>
            </a:r>
          </a:p>
          <a:p>
            <a:pPr fontAlgn="base"/>
            <a:r>
              <a:rPr lang="en-GB" dirty="0"/>
              <a:t>Line 4	END FOR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Asking the user to change </a:t>
            </a:r>
            <a:r>
              <a:rPr lang="en-GB" b="1" dirty="0"/>
              <a:t>each name </a:t>
            </a:r>
            <a:r>
              <a:rPr lang="en-GB" dirty="0"/>
              <a:t>in the array:</a:t>
            </a:r>
          </a:p>
          <a:p>
            <a:pPr marL="27305"/>
            <a:endParaRPr lang="en-GB" dirty="0"/>
          </a:p>
          <a:p>
            <a:pPr fontAlgn="base"/>
            <a:r>
              <a:rPr lang="en-GB" dirty="0"/>
              <a:t>Line 1	DECLARE names INITIALLY [“Alice”, “Bob”, “Charlie”]</a:t>
            </a:r>
          </a:p>
          <a:p>
            <a:pPr fontAlgn="base"/>
            <a:r>
              <a:rPr lang="en-GB" dirty="0"/>
              <a:t>Line 2	DECLARE name INITIALLY “ ”</a:t>
            </a:r>
          </a:p>
          <a:p>
            <a:pPr fontAlgn="base"/>
            <a:r>
              <a:rPr lang="en-GB" dirty="0"/>
              <a:t>Line 3	FOR counter FROM 0 TO 2 DO</a:t>
            </a:r>
          </a:p>
          <a:p>
            <a:pPr fontAlgn="base"/>
            <a:r>
              <a:rPr lang="en-GB" dirty="0"/>
              <a:t>Line 4 	    GET name FROM KEYBOARD</a:t>
            </a:r>
          </a:p>
          <a:p>
            <a:pPr fontAlgn="base"/>
            <a:r>
              <a:rPr lang="en-GB" dirty="0"/>
              <a:t>Line 5	    SET names [counter] TO name</a:t>
            </a:r>
          </a:p>
          <a:p>
            <a:pPr fontAlgn="base"/>
            <a:r>
              <a:rPr lang="en-GB" dirty="0"/>
              <a:t>Line 6	END FOR</a:t>
            </a:r>
          </a:p>
          <a:p>
            <a:pPr marL="27305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958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36BF9-9FEA-9C7E-D7AB-1EE7C4E2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1CE2-4B2C-7482-B241-EF7142E4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Traversing a 1-D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A19B8-858E-E2E5-21FD-213A2D301275}"/>
              </a:ext>
            </a:extLst>
          </p:cNvPr>
          <p:cNvSpPr txBox="1"/>
          <p:nvPr/>
        </p:nvSpPr>
        <p:spPr>
          <a:xfrm>
            <a:off x="1357631" y="1843950"/>
            <a:ext cx="6540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We can use a </a:t>
            </a:r>
            <a:r>
              <a:rPr lang="en-GB" b="1" dirty="0"/>
              <a:t>fixed loop</a:t>
            </a:r>
            <a:r>
              <a:rPr lang="en-GB" dirty="0"/>
              <a:t> to display each value in the array one-by-one: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A04FC-B5F2-F12A-5319-EB3EB5BE7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070" y="2768393"/>
            <a:ext cx="5483860" cy="24132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88DE79-8E6D-7D47-403F-7319CE834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14" y="5534069"/>
            <a:ext cx="1511523" cy="10541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62B0EE7-236C-436E-8D8A-86F66D552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2058" y="5534069"/>
            <a:ext cx="1477407" cy="105419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B25395-E179-157C-2373-1338A01CEC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885" y="5521195"/>
            <a:ext cx="1511523" cy="10876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0EF4E3-C8B8-812C-DD4A-8D1EB101FC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3829" y="5521195"/>
            <a:ext cx="1511521" cy="106043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D3575B-3B91-A9C7-BFAF-5BE0B0E02D1E}"/>
              </a:ext>
            </a:extLst>
          </p:cNvPr>
          <p:cNvCxnSpPr>
            <a:cxnSpLocks/>
          </p:cNvCxnSpPr>
          <p:nvPr/>
        </p:nvCxnSpPr>
        <p:spPr>
          <a:xfrm>
            <a:off x="2254250" y="607060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D6E0D2-DBE5-2362-A553-A5D73CF2A71E}"/>
              </a:ext>
            </a:extLst>
          </p:cNvPr>
          <p:cNvCxnSpPr>
            <a:cxnSpLocks/>
          </p:cNvCxnSpPr>
          <p:nvPr/>
        </p:nvCxnSpPr>
        <p:spPr>
          <a:xfrm>
            <a:off x="4375150" y="608965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9844263-CF69-B5E2-1D04-4F85831453FA}"/>
              </a:ext>
            </a:extLst>
          </p:cNvPr>
          <p:cNvCxnSpPr>
            <a:cxnSpLocks/>
          </p:cNvCxnSpPr>
          <p:nvPr/>
        </p:nvCxnSpPr>
        <p:spPr>
          <a:xfrm>
            <a:off x="6496050" y="6108700"/>
            <a:ext cx="3937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16C6AEF-DAD7-DD95-9EFC-1345B4BDF379}"/>
              </a:ext>
            </a:extLst>
          </p:cNvPr>
          <p:cNvSpPr txBox="1"/>
          <p:nvPr/>
        </p:nvSpPr>
        <p:spPr>
          <a:xfrm>
            <a:off x="4724485" y="3690290"/>
            <a:ext cx="2165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0000"/>
                </a:solidFill>
              </a:rPr>
              <a:t>Use a loop to display each value in the array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9E92B1-6337-38D4-04CC-3443514F60D8}"/>
              </a:ext>
            </a:extLst>
          </p:cNvPr>
          <p:cNvCxnSpPr>
            <a:cxnSpLocks/>
          </p:cNvCxnSpPr>
          <p:nvPr/>
        </p:nvCxnSpPr>
        <p:spPr>
          <a:xfrm flipH="1">
            <a:off x="3920012" y="3951900"/>
            <a:ext cx="828786" cy="5783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4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F8C54-1721-3345-2DA4-F404D67FC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5FB0-9A55-CF87-C6DA-C4A578C5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Traversing a 1-D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73E9C-5645-F587-EED9-61E273B367FB}"/>
              </a:ext>
            </a:extLst>
          </p:cNvPr>
          <p:cNvSpPr txBox="1"/>
          <p:nvPr/>
        </p:nvSpPr>
        <p:spPr>
          <a:xfrm>
            <a:off x="1357631" y="1843950"/>
            <a:ext cx="6540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We can also </a:t>
            </a:r>
            <a:r>
              <a:rPr lang="en-GB" b="1" dirty="0"/>
              <a:t>get the user </a:t>
            </a:r>
            <a:r>
              <a:rPr lang="en-GB" dirty="0"/>
              <a:t>to populate the array: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C1E6AA-9C70-D8C4-51EA-7F4E31013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696" y="2491075"/>
            <a:ext cx="5512607" cy="1225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FB715D-651A-4807-C043-F0377AF9952A}"/>
              </a:ext>
            </a:extLst>
          </p:cNvPr>
          <p:cNvSpPr txBox="1"/>
          <p:nvPr/>
        </p:nvSpPr>
        <p:spPr>
          <a:xfrm>
            <a:off x="1388391" y="3993892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In this example the program will ask: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i="1" dirty="0"/>
              <a:t>Enter name 0: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i="1" dirty="0"/>
              <a:t>Enter name 1: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i="1" dirty="0"/>
              <a:t>Enter name 2: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i="1" dirty="0"/>
              <a:t>Enter name 3: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i="1" dirty="0"/>
              <a:t>Enter name 4:</a:t>
            </a:r>
          </a:p>
        </p:txBody>
      </p:sp>
    </p:spTree>
    <p:extLst>
      <p:ext uri="{BB962C8B-B14F-4D97-AF65-F5344CB8AC3E}">
        <p14:creationId xmlns:p14="http://schemas.microsoft.com/office/powerpoint/2010/main" val="43146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0680-C548-0943-8EC4-F1ADA9C9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D36A-6A6F-49F7-1917-E0799CB2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Input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47F6AF-63EE-23E5-AC94-BF33DA80FD8C}"/>
              </a:ext>
            </a:extLst>
          </p:cNvPr>
          <p:cNvSpPr txBox="1"/>
          <p:nvPr/>
        </p:nvSpPr>
        <p:spPr>
          <a:xfrm>
            <a:off x="1357631" y="1843950"/>
            <a:ext cx="65405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Input validation is used to check that an </a:t>
            </a:r>
            <a:r>
              <a:rPr lang="en-GB" b="1" dirty="0"/>
              <a:t>input</a:t>
            </a:r>
            <a:r>
              <a:rPr lang="en-GB" dirty="0"/>
              <a:t> is acceptable before moving on: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E.g. to check a score input is </a:t>
            </a:r>
            <a:r>
              <a:rPr lang="en-GB" b="1" dirty="0"/>
              <a:t>between 1-100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E.g. to check a password is </a:t>
            </a:r>
            <a:r>
              <a:rPr lang="en-GB" b="1" dirty="0"/>
              <a:t>equal to a certain String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7305"/>
            <a:r>
              <a:rPr lang="en-GB" dirty="0"/>
              <a:t>Pseudocode example:</a:t>
            </a:r>
          </a:p>
          <a:p>
            <a:pPr marL="27305"/>
            <a:endParaRPr lang="en-GB" dirty="0"/>
          </a:p>
          <a:p>
            <a:pPr fontAlgn="base"/>
            <a:r>
              <a:rPr lang="en-GB" dirty="0"/>
              <a:t>Line 1 RECEIVE score FROM (INTEGER) KEYBOARD</a:t>
            </a:r>
          </a:p>
          <a:p>
            <a:pPr fontAlgn="base"/>
            <a:r>
              <a:rPr lang="en-GB" dirty="0"/>
              <a:t>Line 2 WHILE score ˂ 1 OR score ˃ 99 DO</a:t>
            </a:r>
          </a:p>
          <a:p>
            <a:pPr fontAlgn="base"/>
            <a:r>
              <a:rPr lang="en-GB" dirty="0"/>
              <a:t>Line 3      SEND “Enter a score between 1 and 99" TO DISPLAY</a:t>
            </a:r>
          </a:p>
          <a:p>
            <a:pPr fontAlgn="base"/>
            <a:r>
              <a:rPr lang="en-GB" dirty="0"/>
              <a:t>Line 4      RECEIVE score FROM (INTEGER) KEYBOARD</a:t>
            </a:r>
          </a:p>
          <a:p>
            <a:pPr fontAlgn="base"/>
            <a:r>
              <a:rPr lang="en-GB" dirty="0"/>
              <a:t>Line 5 END WHILE</a:t>
            </a:r>
          </a:p>
          <a:p>
            <a:pPr marL="27305"/>
            <a:endParaRPr lang="en-GB" dirty="0"/>
          </a:p>
          <a:p>
            <a:pPr marL="27305"/>
            <a:r>
              <a:rPr lang="en-GB" b="1" dirty="0"/>
              <a:t>By the end of this program, score MUST be between 1 and 99.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0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FC423-CCFD-0668-18C9-5FA50BE9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8C9BA-F74F-CCD3-A05F-A2D29DF8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Input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C74A3-CE69-E3F1-7968-F1379710586C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We can use a conditional loop to loop over and over until a </a:t>
            </a:r>
            <a:r>
              <a:rPr lang="en-GB" b="1" dirty="0"/>
              <a:t>condition</a:t>
            </a:r>
            <a:r>
              <a:rPr lang="en-GB" dirty="0"/>
              <a:t> is met: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This program will </a:t>
            </a:r>
            <a:r>
              <a:rPr lang="en-GB" b="1" dirty="0"/>
              <a:t>keep on looping </a:t>
            </a:r>
            <a:r>
              <a:rPr lang="en-GB" dirty="0"/>
              <a:t>until a </a:t>
            </a:r>
            <a:r>
              <a:rPr lang="en-GB" b="1" dirty="0"/>
              <a:t>valid </a:t>
            </a:r>
            <a:r>
              <a:rPr lang="en-GB" dirty="0"/>
              <a:t>input is entered.</a:t>
            </a:r>
            <a:endParaRPr lang="en-US" dirty="0"/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It will only continue once the password is “</a:t>
            </a:r>
            <a:r>
              <a:rPr lang="en-GB" dirty="0" err="1"/>
              <a:t>letmein</a:t>
            </a:r>
            <a:r>
              <a:rPr lang="en-GB" dirty="0"/>
              <a:t>”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03CCE86-0910-87EF-AC79-422C6D0E0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22444" r="62361" b="55111"/>
          <a:stretch/>
        </p:blipFill>
        <p:spPr bwMode="auto">
          <a:xfrm>
            <a:off x="1982537" y="3871255"/>
            <a:ext cx="5178926" cy="2410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636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95C4-21CB-81E9-7A66-3E81EB7A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DDBD-A638-1714-B86B-25D9B849C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Running Total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E331B-E932-DD24-910B-4D8F9604245B}"/>
              </a:ext>
            </a:extLst>
          </p:cNvPr>
          <p:cNvSpPr txBox="1"/>
          <p:nvPr/>
        </p:nvSpPr>
        <p:spPr>
          <a:xfrm>
            <a:off x="1357631" y="1843950"/>
            <a:ext cx="6540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Keeping a running total means keeping a note of the total </a:t>
            </a:r>
            <a:r>
              <a:rPr lang="en-GB" b="1" dirty="0"/>
              <a:t>throughout the program</a:t>
            </a:r>
            <a:r>
              <a:rPr lang="en-GB" dirty="0"/>
              <a:t>, instead of calculating it at the end: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Start with zero and keep adding until the final total is reached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86A6475-78B7-723F-0D6D-069CE30E7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4686"/>
              </p:ext>
            </p:extLst>
          </p:nvPr>
        </p:nvGraphicFramePr>
        <p:xfrm>
          <a:off x="1349220" y="3501101"/>
          <a:ext cx="3278698" cy="1965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903">
                  <a:extLst>
                    <a:ext uri="{9D8B030D-6E8A-4147-A177-3AD203B41FA5}">
                      <a16:colId xmlns:a16="http://schemas.microsoft.com/office/drawing/2014/main" val="3100811648"/>
                    </a:ext>
                  </a:extLst>
                </a:gridCol>
                <a:gridCol w="1375795">
                  <a:extLst>
                    <a:ext uri="{9D8B030D-6E8A-4147-A177-3AD203B41FA5}">
                      <a16:colId xmlns:a16="http://schemas.microsoft.com/office/drawing/2014/main" val="2152410214"/>
                    </a:ext>
                  </a:extLst>
                </a:gridCol>
              </a:tblGrid>
              <a:tr h="410828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Scores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586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891054"/>
                  </a:ext>
                </a:extLst>
              </a:tr>
              <a:tr h="442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Scores[1]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170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Scores[2]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559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Scores[3]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174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C988B8-133C-1411-CE44-77A882D56FEC}"/>
              </a:ext>
            </a:extLst>
          </p:cNvPr>
          <p:cNvSpPr txBox="1"/>
          <p:nvPr/>
        </p:nvSpPr>
        <p:spPr>
          <a:xfrm>
            <a:off x="5008227" y="3504151"/>
            <a:ext cx="283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Total: 0 (initial value)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12FD0-A8B2-7C3E-F716-96563E2FE299}"/>
              </a:ext>
            </a:extLst>
          </p:cNvPr>
          <p:cNvSpPr txBox="1"/>
          <p:nvPr/>
        </p:nvSpPr>
        <p:spPr>
          <a:xfrm>
            <a:off x="5008228" y="3873483"/>
            <a:ext cx="283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Total: 0 + 5 =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19E03-CE24-630B-7921-A72EDD88126A}"/>
              </a:ext>
            </a:extLst>
          </p:cNvPr>
          <p:cNvSpPr txBox="1"/>
          <p:nvPr/>
        </p:nvSpPr>
        <p:spPr>
          <a:xfrm>
            <a:off x="5008228" y="4297341"/>
            <a:ext cx="283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Total: 5 + 3 =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358AA-62D2-A52C-BFF6-0EFD33B9DB9D}"/>
              </a:ext>
            </a:extLst>
          </p:cNvPr>
          <p:cNvSpPr txBox="1"/>
          <p:nvPr/>
        </p:nvSpPr>
        <p:spPr>
          <a:xfrm>
            <a:off x="5008228" y="4704423"/>
            <a:ext cx="2834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Total: 8 + 4 =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A99E5B-119F-353F-F37E-CF6A88880C0D}"/>
              </a:ext>
            </a:extLst>
          </p:cNvPr>
          <p:cNvSpPr txBox="1"/>
          <p:nvPr/>
        </p:nvSpPr>
        <p:spPr>
          <a:xfrm>
            <a:off x="5008227" y="5097217"/>
            <a:ext cx="2834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Total: 12 + 1 = 13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Final total: 13</a:t>
            </a:r>
          </a:p>
        </p:txBody>
      </p:sp>
    </p:spTree>
    <p:extLst>
      <p:ext uri="{BB962C8B-B14F-4D97-AF65-F5344CB8AC3E}">
        <p14:creationId xmlns:p14="http://schemas.microsoft.com/office/powerpoint/2010/main" val="315854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291F-4FA7-EB08-9711-F8BE1F9B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2401-66B3-B636-95F8-587D29A5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Running Total within a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5EFC8-9934-C470-FB4D-DF4271E51350}"/>
              </a:ext>
            </a:extLst>
          </p:cNvPr>
          <p:cNvSpPr txBox="1"/>
          <p:nvPr/>
        </p:nvSpPr>
        <p:spPr>
          <a:xfrm>
            <a:off x="1378603" y="1831367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 running total is a </a:t>
            </a:r>
            <a:r>
              <a:rPr lang="en-GB" b="1" dirty="0"/>
              <a:t>cumulative sum</a:t>
            </a:r>
            <a:r>
              <a:rPr lang="en-GB" dirty="0"/>
              <a:t>:</a:t>
            </a:r>
          </a:p>
          <a:p>
            <a:pPr marL="27305"/>
            <a:endParaRPr lang="en-GB" dirty="0"/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On every loop, you increase the total (it </a:t>
            </a:r>
            <a:r>
              <a:rPr lang="en-GB" i="1" dirty="0"/>
              <a:t>accumulates</a:t>
            </a:r>
            <a:r>
              <a:rPr lang="en-GB" dirty="0"/>
              <a:t>)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b="1" i="1" dirty="0"/>
              <a:t>total = total + number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7305"/>
            <a:r>
              <a:rPr lang="en-GB" dirty="0"/>
              <a:t>Example pseudocode:</a:t>
            </a:r>
          </a:p>
          <a:p>
            <a:pPr marL="27305"/>
            <a:endParaRPr lang="en-GB" dirty="0"/>
          </a:p>
          <a:p>
            <a:pPr fontAlgn="base"/>
            <a:r>
              <a:rPr lang="en-GB" dirty="0"/>
              <a:t>Line 1	DECLARE total INITIALLY 0</a:t>
            </a:r>
          </a:p>
          <a:p>
            <a:pPr fontAlgn="base"/>
            <a:endParaRPr lang="en-GB" dirty="0"/>
          </a:p>
          <a:p>
            <a:pPr fontAlgn="base"/>
            <a:r>
              <a:rPr lang="en-GB" dirty="0"/>
              <a:t>Line 2	FOR loop FROM 0 TO 4 DO</a:t>
            </a:r>
          </a:p>
          <a:p>
            <a:pPr fontAlgn="base"/>
            <a:r>
              <a:rPr lang="en-GB" dirty="0"/>
              <a:t>Line 3		RECEIVE number FROM KEYBOARD</a:t>
            </a:r>
          </a:p>
          <a:p>
            <a:pPr fontAlgn="base"/>
            <a:r>
              <a:rPr lang="en-GB" dirty="0"/>
              <a:t>Line 4		SET total TO total + number</a:t>
            </a:r>
          </a:p>
          <a:p>
            <a:pPr fontAlgn="base"/>
            <a:r>
              <a:rPr lang="en-GB" dirty="0"/>
              <a:t>Line 5	END FOR</a:t>
            </a:r>
          </a:p>
          <a:p>
            <a:pPr marL="27305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8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4E92-5474-C9B5-42A3-F5ED373AA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98FE2-8DE4-7D24-C1BB-8CCB573EC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Running Total within a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F2CA88-162B-1118-0B13-E59DC895F656}"/>
              </a:ext>
            </a:extLst>
          </p:cNvPr>
          <p:cNvSpPr txBox="1"/>
          <p:nvPr/>
        </p:nvSpPr>
        <p:spPr>
          <a:xfrm>
            <a:off x="1357631" y="1843950"/>
            <a:ext cx="65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In this example, a running total is used to calculate the average age of a class: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94C5328F-80B4-7B8A-178D-E7869B417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99" y="2654882"/>
            <a:ext cx="5982602" cy="38362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081D60-38B0-93D1-6EEC-52BE8B62DF25}"/>
              </a:ext>
            </a:extLst>
          </p:cNvPr>
          <p:cNvSpPr/>
          <p:nvPr/>
        </p:nvSpPr>
        <p:spPr>
          <a:xfrm>
            <a:off x="1697961" y="3993883"/>
            <a:ext cx="1203131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64C48E-C5E3-708C-282A-4C31F16CB49E}"/>
              </a:ext>
            </a:extLst>
          </p:cNvPr>
          <p:cNvCxnSpPr/>
          <p:nvPr/>
        </p:nvCxnSpPr>
        <p:spPr>
          <a:xfrm flipH="1">
            <a:off x="3086867" y="3480424"/>
            <a:ext cx="1890169" cy="4479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0623BD8-B463-15CD-EC0D-F8DA648ED5B7}"/>
              </a:ext>
            </a:extLst>
          </p:cNvPr>
          <p:cNvSpPr txBox="1"/>
          <p:nvPr/>
        </p:nvSpPr>
        <p:spPr>
          <a:xfrm>
            <a:off x="5039717" y="2890788"/>
            <a:ext cx="2460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user decides how many times the program will loop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83E352-1005-5F40-F9E0-F8C6F7921452}"/>
              </a:ext>
            </a:extLst>
          </p:cNvPr>
          <p:cNvSpPr/>
          <p:nvPr/>
        </p:nvSpPr>
        <p:spPr>
          <a:xfrm>
            <a:off x="2065312" y="5030517"/>
            <a:ext cx="1944625" cy="3102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FE6895-CD07-E288-C4B9-54ED18ED5CFB}"/>
              </a:ext>
            </a:extLst>
          </p:cNvPr>
          <p:cNvCxnSpPr>
            <a:cxnSpLocks/>
          </p:cNvCxnSpPr>
          <p:nvPr/>
        </p:nvCxnSpPr>
        <p:spPr>
          <a:xfrm flipH="1" flipV="1">
            <a:off x="4194495" y="5313322"/>
            <a:ext cx="1046699" cy="20214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2F0F2BF-D598-B781-5A07-13BFEDE3CFE3}"/>
              </a:ext>
            </a:extLst>
          </p:cNvPr>
          <p:cNvSpPr txBox="1"/>
          <p:nvPr/>
        </p:nvSpPr>
        <p:spPr>
          <a:xfrm>
            <a:off x="5376495" y="5208929"/>
            <a:ext cx="2760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Every time the program loops, the total increases</a:t>
            </a:r>
          </a:p>
        </p:txBody>
      </p:sp>
    </p:spTree>
    <p:extLst>
      <p:ext uri="{BB962C8B-B14F-4D97-AF65-F5344CB8AC3E}">
        <p14:creationId xmlns:p14="http://schemas.microsoft.com/office/powerpoint/2010/main" val="28410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/>
      <p:bldP spid="4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2440-FC55-16CF-65C7-D2866B15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07B4-CF33-472C-5D8E-7ABC8C6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6B379-25C3-234A-E6E4-95ADBF837C21}"/>
              </a:ext>
            </a:extLst>
          </p:cNvPr>
          <p:cNvSpPr txBox="1"/>
          <p:nvPr/>
        </p:nvSpPr>
        <p:spPr>
          <a:xfrm>
            <a:off x="1378603" y="1831367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"/>
            <a:r>
              <a:rPr lang="en-GB" dirty="0"/>
              <a:t>An algorithm is a set of </a:t>
            </a:r>
            <a:r>
              <a:rPr lang="en-GB" b="1" dirty="0"/>
              <a:t>step-by-step instructions</a:t>
            </a:r>
            <a:r>
              <a:rPr lang="en-GB" dirty="0"/>
              <a:t> for a computer to perform a specific task.</a:t>
            </a:r>
          </a:p>
          <a:p>
            <a:pPr marL="27305"/>
            <a:endParaRPr lang="en-GB" dirty="0"/>
          </a:p>
          <a:p>
            <a:pPr marL="27305"/>
            <a:r>
              <a:rPr lang="en-GB" dirty="0"/>
              <a:t>There are </a:t>
            </a:r>
            <a:r>
              <a:rPr lang="en-GB" b="1" dirty="0"/>
              <a:t>three</a:t>
            </a:r>
            <a:r>
              <a:rPr lang="en-GB" dirty="0"/>
              <a:t> algorithms you need to know in National 5.</a:t>
            </a:r>
          </a:p>
          <a:p>
            <a:pPr marL="27305"/>
            <a:endParaRPr lang="en-GB" dirty="0"/>
          </a:p>
          <a:p>
            <a:pPr marL="27305"/>
            <a:r>
              <a:rPr lang="en-GB" b="1" dirty="0"/>
              <a:t>Traversing a 1-D Array: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Going through an array one-by-one</a:t>
            </a:r>
          </a:p>
          <a:p>
            <a:pPr marL="27305"/>
            <a:endParaRPr lang="en-GB" dirty="0"/>
          </a:p>
          <a:p>
            <a:pPr marL="27305"/>
            <a:r>
              <a:rPr lang="en-GB" b="1" dirty="0"/>
              <a:t>Input validation: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Checking a value until it is acceptable</a:t>
            </a:r>
          </a:p>
          <a:p>
            <a:pPr marL="27305"/>
            <a:endParaRPr lang="en-GB" dirty="0"/>
          </a:p>
          <a:p>
            <a:pPr marL="27305"/>
            <a:r>
              <a:rPr lang="en-GB" b="1" dirty="0"/>
              <a:t>Running total: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r>
              <a:rPr lang="en-GB" dirty="0"/>
              <a:t>Keeping a sum/total as the program runs</a:t>
            </a:r>
          </a:p>
          <a:p>
            <a:pPr marL="313055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0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60FB0-844F-668A-910B-0CF41DA76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1F76-5E31-697D-4CAA-2BC14704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C89DE-6BD9-67D6-A9A7-D228E66CF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0F13B-7720-F810-0174-7E1109A83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About standard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How to implement the three standard algorithms in National 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41CD1-FDBE-04E9-76CB-47C5EC6FC8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B07B8-0033-5482-5855-FCD855650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Describe what each of the three standard algorithms does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Create programs which use standard algorithms</a:t>
            </a:r>
          </a:p>
        </p:txBody>
      </p:sp>
    </p:spTree>
    <p:extLst>
      <p:ext uri="{BB962C8B-B14F-4D97-AF65-F5344CB8AC3E}">
        <p14:creationId xmlns:p14="http://schemas.microsoft.com/office/powerpoint/2010/main" val="66656196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c5f0b38251d317ab277e387d6b557b9b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921f147f580d21fb0753fb6d8f6b699d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3.xml><?xml version="1.0" encoding="utf-8"?>
<ds:datastoreItem xmlns:ds="http://schemas.openxmlformats.org/officeDocument/2006/customXml" ds:itemID="{BC61A7A4-95A0-4B60-85A4-FE33AB4D8638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2598</TotalTime>
  <Words>834</Words>
  <Application>Microsoft Office PowerPoint</Application>
  <PresentationFormat>On-screen Show (4:3)</PresentationFormat>
  <Paragraphs>156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Monoline</vt:lpstr>
      <vt:lpstr>Learning intentions and success criteria</vt:lpstr>
      <vt:lpstr>Algorithms</vt:lpstr>
      <vt:lpstr>Traversing a 1-D Array</vt:lpstr>
      <vt:lpstr>Traversing a 1-D Array</vt:lpstr>
      <vt:lpstr>Traversing a 1-D Array</vt:lpstr>
      <vt:lpstr>Traversing a 1-D Array</vt:lpstr>
      <vt:lpstr>Input Validation</vt:lpstr>
      <vt:lpstr>Input Validation</vt:lpstr>
      <vt:lpstr>Running Total</vt:lpstr>
      <vt:lpstr>Running Total within a Loop</vt:lpstr>
      <vt:lpstr>Running Total within a Loop</vt:lpstr>
      <vt:lpstr>Summary</vt:lpstr>
      <vt:lpstr>Learning intentions and success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222</cp:revision>
  <cp:lastPrinted>2025-08-18T09:52:00Z</cp:lastPrinted>
  <dcterms:created xsi:type="dcterms:W3CDTF">2025-02-10T23:03:02Z</dcterms:created>
  <dcterms:modified xsi:type="dcterms:W3CDTF">2025-10-21T11:26:42Z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