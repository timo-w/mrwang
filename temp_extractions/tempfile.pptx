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0"/>
  </p:notesMasterIdLst>
  <p:handoutMasterIdLst>
    <p:handoutMasterId r:id="rId21"/>
  </p:handoutMasterIdLst>
  <p:sldIdLst>
    <p:sldId id="358" r:id="rId5"/>
    <p:sldId id="296" r:id="rId6"/>
    <p:sldId id="424" r:id="rId7"/>
    <p:sldId id="423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6" r:id="rId17"/>
    <p:sldId id="437" r:id="rId18"/>
    <p:sldId id="438" r:id="rId19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316" y="104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21/10/2025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5575-FCD9-F190-781F-C847E45F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DABF5-A41A-8281-3596-F1A62F154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4C1AC-D47D-4385-8015-38D476598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ADC51-DEF7-826F-6F33-31BB906F8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98537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0ADF-A431-C50B-256D-EA920D18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7B6C-1E6F-A773-4FD9-8EB0C84FC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E814D-C70E-344C-D8C0-CD91E2ED3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0A194-F3F1-F85B-673C-230B3CEFD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4839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71EB-8CFB-C70B-1AA3-987268D6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43A3C-3A7E-CDAE-EED0-2AC35D15A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A5628-0435-1BCD-D107-46DDE6627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84C0C-111D-5203-AB7B-C4ABFFC4D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771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F834-A32F-60E1-D314-8CE89E49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B3B9E-7371-BCA7-FE44-283C09BFA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D2734-9ED6-4701-13B9-96590B904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8ECA0-EE62-1C5C-7F87-2B7546DD3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46988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9C57-B41D-EA8D-38E0-503F9A83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A5511-40C3-E859-F33A-F3B87435B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1A326-FAB6-C4B3-E7B1-FAF1A8E18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BD735-50AA-BCD0-2943-4C135F92B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51437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07F8-BDD0-4158-DFDE-91A597AF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CC55B-CD39-342E-4C8B-F1FF96FB1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DD58D-ABEB-7D1D-AC7B-9BC8EEAB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9C462-3660-7A0B-54A9-3BE1103D2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9498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256F-B6D5-5A24-2508-116748AA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B5D9D-904C-00E5-7462-67F017B3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C6722-6378-BE67-F71B-570D2BFE0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63EFC-A107-C488-D1B5-BEAD7992B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56255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FAAFF-6705-B9DC-74D7-026A1BCC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408C9-EFF0-4D9E-87E6-F55AD397C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E8AFE-3179-9F8E-53E1-CCBC5CD2F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E0E15-41E4-3BC2-65B8-31D035EC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8284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F588-6A5A-0AB4-CA6B-F716F2BA7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65D2B-5A98-3815-504F-0DFC15DDD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04691-20BF-D9AE-84EA-DD0D4577F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5357B-8A3F-6DAF-CDE2-C6675745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81620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A78D3-AF94-91E6-CFF9-AFE80DF7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7A70E-7975-E621-73B0-2D2500FBA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DFD8B-E8EA-87F2-0F1A-C3AF22128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5BB58-C80F-1191-5CF7-25418F200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38616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8B6C-CEA9-6ABE-FA94-B0B2DC4F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C7E23-6BFA-D393-1856-B9BC49EF4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93AC3-C100-9135-6F58-A45DC67A7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83265-5DF2-0DFE-B027-0C104EE9B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95305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F20E-BA9D-CC10-776C-77E829B3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32095-5E73-FC5C-EF3C-97106997C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D7A6-D211-F644-56B8-67D8A17C6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CB429-960B-F209-0F02-C8A963C59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392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hecklist-task-to-do-list-plan-1295319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://www.placesandfoods.com/2015/05/adidas-mid-end-clearance-sale-viva-expo-hall-may-2015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2089134"/>
            <a:ext cx="653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Complete the SDD implementation starter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Attempt all questions on </a:t>
            </a:r>
            <a:r>
              <a:rPr lang="en-GB" sz="2000" i="1"/>
              <a:t>both sides</a:t>
            </a:r>
            <a:endParaRPr lang="en-GB" sz="2000" i="1" dirty="0"/>
          </a:p>
        </p:txBody>
      </p:sp>
      <p:pic>
        <p:nvPicPr>
          <p:cNvPr id="3" name="Picture 2" descr="A clipboard with a pencil and check marks&#10;&#10;AI-generated content may be incorrect.">
            <a:extLst>
              <a:ext uri="{FF2B5EF4-FFF2-40B4-BE49-F238E27FC236}">
                <a16:creationId xmlns:a16="http://schemas.microsoft.com/office/drawing/2014/main" id="{6123B080-2A82-F879-F166-0EDAC85CD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290" y="4342665"/>
            <a:ext cx="1929420" cy="207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1-D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implement 1-D arrays in Visual Basic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what an array is and what they are 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Write programs using 1-D arrays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9F05-578B-2B48-1590-4984B5E7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F945-5202-6682-9A0F-F6495D39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Recap: Predefined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B51CC-AA81-6417-5A41-552D2E2B519F}"/>
              </a:ext>
            </a:extLst>
          </p:cNvPr>
          <p:cNvSpPr txBox="1"/>
          <p:nvPr/>
        </p:nvSpPr>
        <p:spPr>
          <a:xfrm>
            <a:off x="1357631" y="1843950"/>
            <a:ext cx="6540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 block of code already written and built into a programming language or software.</a:t>
            </a:r>
          </a:p>
          <a:p>
            <a:pPr marL="27305"/>
            <a:endParaRPr lang="en-GB" dirty="0"/>
          </a:p>
          <a:p>
            <a:pPr marL="27305"/>
            <a:r>
              <a:rPr lang="en-GB" dirty="0"/>
              <a:t>There are three you need to know in National 5: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Round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Length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Random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2" descr="Ideas Machine Cartoon PNG &amp; SVG Design For T-Shirts">
            <a:extLst>
              <a:ext uri="{FF2B5EF4-FFF2-40B4-BE49-F238E27FC236}">
                <a16:creationId xmlns:a16="http://schemas.microsoft.com/office/drawing/2014/main" id="{A75980FC-031C-C73E-3742-A32C7DA2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16" y="4019043"/>
            <a:ext cx="1571368" cy="15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70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48E7-92C8-C435-EEF2-1FC86B01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3C01-A4E4-089F-A74F-AF201948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Round </a:t>
            </a:r>
            <a:r>
              <a:rPr lang="en-GB" dirty="0"/>
              <a:t>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CBA84-0892-F19D-75BB-FD43D1FEAAA1}"/>
              </a:ext>
            </a:extLst>
          </p:cNvPr>
          <p:cNvSpPr txBox="1"/>
          <p:nvPr/>
        </p:nvSpPr>
        <p:spPr>
          <a:xfrm>
            <a:off x="2728385" y="5158126"/>
            <a:ext cx="36872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result = </a:t>
            </a:r>
            <a:r>
              <a:rPr lang="en-GB" dirty="0" err="1"/>
              <a:t>Math.Round</a:t>
            </a:r>
            <a:r>
              <a:rPr lang="en-GB" dirty="0"/>
              <a:t>(  </a:t>
            </a:r>
            <a:r>
              <a:rPr lang="en-GB" b="1" dirty="0">
                <a:solidFill>
                  <a:schemeClr val="accent5"/>
                </a:solidFill>
              </a:rPr>
              <a:t>3.14159 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2</a:t>
            </a:r>
            <a:r>
              <a:rPr lang="en-GB" dirty="0"/>
              <a:t>  )</a:t>
            </a:r>
          </a:p>
          <a:p>
            <a:endParaRPr lang="en-GB" dirty="0"/>
          </a:p>
          <a:p>
            <a:r>
              <a:rPr lang="en-GB" dirty="0"/>
              <a:t>result = </a:t>
            </a:r>
            <a:r>
              <a:rPr lang="en-GB" b="1" dirty="0">
                <a:solidFill>
                  <a:schemeClr val="accent2"/>
                </a:solidFill>
              </a:rPr>
              <a:t>3.14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852C0-18DE-B441-8AA7-E77C13814453}"/>
              </a:ext>
            </a:extLst>
          </p:cNvPr>
          <p:cNvSpPr txBox="1"/>
          <p:nvPr/>
        </p:nvSpPr>
        <p:spPr>
          <a:xfrm>
            <a:off x="1301712" y="1849064"/>
            <a:ext cx="6540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has two “</a:t>
            </a:r>
            <a:r>
              <a:rPr lang="en-US" b="1" dirty="0"/>
              <a:t>Parameters</a:t>
            </a:r>
            <a:r>
              <a:rPr lang="en-US" dirty="0"/>
              <a:t>” - pieces of data you put between the brackets of a function: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piece of information is </a:t>
            </a:r>
            <a:r>
              <a:rPr lang="en-US" b="1" dirty="0">
                <a:solidFill>
                  <a:schemeClr val="accent5"/>
                </a:solidFill>
              </a:rPr>
              <a:t>the number you want to 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second piece of information is the </a:t>
            </a:r>
            <a:r>
              <a:rPr lang="en-US" b="1" dirty="0">
                <a:solidFill>
                  <a:schemeClr val="accent6"/>
                </a:solidFill>
              </a:rPr>
              <a:t>number of decimal places </a:t>
            </a:r>
            <a:r>
              <a:rPr lang="en-US" dirty="0"/>
              <a:t>you want to round the number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rounded number can be stored inside a </a:t>
            </a:r>
            <a:r>
              <a:rPr lang="en-US" b="1" dirty="0">
                <a:solidFill>
                  <a:schemeClr val="accent2"/>
                </a:solidFill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265793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738B-5987-492E-096A-172BF87C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B58D-159A-CC31-0DD3-69C6B061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Length </a:t>
            </a:r>
            <a:r>
              <a:rPr lang="en-GB" dirty="0"/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8B047-849E-59E7-2404-3E8135D9EA1C}"/>
              </a:ext>
            </a:extLst>
          </p:cNvPr>
          <p:cNvSpPr txBox="1"/>
          <p:nvPr/>
        </p:nvSpPr>
        <p:spPr>
          <a:xfrm>
            <a:off x="1301712" y="1849064"/>
            <a:ext cx="6540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Len() </a:t>
            </a:r>
            <a:r>
              <a:rPr lang="en-US" dirty="0"/>
              <a:t>function calculates how many characters there are in a string.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 lvl="1"/>
            <a:r>
              <a:rPr lang="en-US" dirty="0"/>
              <a:t>Dim </a:t>
            </a:r>
            <a:r>
              <a:rPr lang="en-US" b="1" dirty="0" err="1">
                <a:solidFill>
                  <a:schemeClr val="accent5"/>
                </a:solidFill>
              </a:rPr>
              <a:t>my_word</a:t>
            </a:r>
            <a:r>
              <a:rPr lang="en-US" b="1" dirty="0">
                <a:solidFill>
                  <a:schemeClr val="accent5"/>
                </a:solidFill>
              </a:rPr>
              <a:t> </a:t>
            </a:r>
            <a:r>
              <a:rPr lang="en-US" dirty="0"/>
              <a:t>As String</a:t>
            </a:r>
          </a:p>
          <a:p>
            <a:pPr lvl="1"/>
            <a:r>
              <a:rPr lang="en-US" dirty="0"/>
              <a:t>Dim </a:t>
            </a:r>
            <a:r>
              <a:rPr lang="en-US" b="1" dirty="0" err="1">
                <a:solidFill>
                  <a:schemeClr val="accent6"/>
                </a:solidFill>
              </a:rPr>
              <a:t>word_length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As Integer</a:t>
            </a:r>
          </a:p>
          <a:p>
            <a:pPr lvl="1"/>
            <a:endParaRPr lang="en-US" dirty="0"/>
          </a:p>
          <a:p>
            <a:pPr lvl="1"/>
            <a:r>
              <a:rPr lang="en-US" b="1" dirty="0" err="1">
                <a:solidFill>
                  <a:schemeClr val="accent5"/>
                </a:solidFill>
              </a:rPr>
              <a:t>my_word</a:t>
            </a:r>
            <a:r>
              <a:rPr lang="en-US" b="1" dirty="0">
                <a:solidFill>
                  <a:schemeClr val="accent5"/>
                </a:solidFill>
              </a:rPr>
              <a:t> </a:t>
            </a:r>
            <a:r>
              <a:rPr lang="en-US" dirty="0"/>
              <a:t>= “</a:t>
            </a:r>
            <a:r>
              <a:rPr lang="en-US" b="1" dirty="0"/>
              <a:t>MrWang4Eva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lvl="1"/>
            <a:r>
              <a:rPr lang="en-US" b="1" dirty="0" err="1">
                <a:solidFill>
                  <a:schemeClr val="accent6"/>
                </a:solidFill>
              </a:rPr>
              <a:t>word_length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= </a:t>
            </a:r>
            <a:r>
              <a:rPr lang="en-US" b="1" dirty="0" err="1"/>
              <a:t>len</a:t>
            </a:r>
            <a:r>
              <a:rPr lang="en-US" b="1" dirty="0"/>
              <a:t>(</a:t>
            </a:r>
            <a:r>
              <a:rPr lang="en-US" b="1" dirty="0" err="1">
                <a:solidFill>
                  <a:schemeClr val="accent5"/>
                </a:solidFill>
              </a:rPr>
              <a:t>my_word</a:t>
            </a:r>
            <a:r>
              <a:rPr lang="en-US" b="1" dirty="0"/>
              <a:t>)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b="1" dirty="0" err="1">
                <a:solidFill>
                  <a:srgbClr val="C00000"/>
                </a:solidFill>
              </a:rPr>
              <a:t>word_length</a:t>
            </a:r>
            <a:r>
              <a:rPr lang="en-US" b="1" dirty="0">
                <a:solidFill>
                  <a:srgbClr val="C00000"/>
                </a:solidFill>
              </a:rPr>
              <a:t> will have a value of 10</a:t>
            </a:r>
          </a:p>
        </p:txBody>
      </p:sp>
    </p:spTree>
    <p:extLst>
      <p:ext uri="{BB962C8B-B14F-4D97-AF65-F5344CB8AC3E}">
        <p14:creationId xmlns:p14="http://schemas.microsoft.com/office/powerpoint/2010/main" val="143079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CFC8-7B96-DE07-B545-4AABACEA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78A0-8284-CD54-2E63-C3FACBE3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Random </a:t>
            </a:r>
            <a:r>
              <a:rPr lang="en-GB" dirty="0"/>
              <a:t>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0CD25-7467-D038-45D8-DEE8675CB828}"/>
              </a:ext>
            </a:extLst>
          </p:cNvPr>
          <p:cNvSpPr txBox="1"/>
          <p:nvPr/>
        </p:nvSpPr>
        <p:spPr>
          <a:xfrm>
            <a:off x="1301712" y="1849064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Rnd</a:t>
            </a:r>
            <a:r>
              <a:rPr lang="en-US" b="1" dirty="0"/>
              <a:t>() </a:t>
            </a:r>
            <a:r>
              <a:rPr lang="en-US" dirty="0"/>
              <a:t>function generates a random number between 0-1: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A399B8D-E4F5-2E9D-2C7B-B8B33FE50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847" y="2487536"/>
            <a:ext cx="3630304" cy="15980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12275-F0C7-AD72-4CED-F686FE03BAD0}"/>
              </a:ext>
            </a:extLst>
          </p:cNvPr>
          <p:cNvSpPr txBox="1"/>
          <p:nvPr/>
        </p:nvSpPr>
        <p:spPr>
          <a:xfrm>
            <a:off x="1301712" y="4443192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above program generates a number between 1 and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also use the </a:t>
            </a:r>
            <a:r>
              <a:rPr lang="en-US" b="1" dirty="0"/>
              <a:t>Int()</a:t>
            </a:r>
            <a:r>
              <a:rPr lang="en-US" dirty="0"/>
              <a:t> function to convert the a real number to an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/>
              <a:t>The formula to use is: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GB" dirty="0">
                <a:solidFill>
                  <a:srgbClr val="00B050"/>
                </a:solidFill>
                <a:latin typeface="Calibri"/>
                <a:ea typeface="+mn-lt"/>
                <a:cs typeface="Calibri"/>
              </a:rPr>
              <a:t>Variable </a:t>
            </a:r>
            <a:r>
              <a:rPr lang="en-GB" dirty="0">
                <a:solidFill>
                  <a:srgbClr val="7030A0"/>
                </a:solidFill>
                <a:latin typeface="Calibri"/>
                <a:ea typeface="+mn-lt"/>
                <a:cs typeface="Calibri"/>
              </a:rPr>
              <a:t>=  </a:t>
            </a:r>
            <a:r>
              <a:rPr lang="en-GB" dirty="0">
                <a:solidFill>
                  <a:srgbClr val="FF0000"/>
                </a:solidFill>
                <a:latin typeface="Calibri"/>
                <a:ea typeface="+mn-lt"/>
                <a:cs typeface="Calibri"/>
              </a:rPr>
              <a:t>Int</a:t>
            </a:r>
            <a:r>
              <a:rPr lang="en-GB" dirty="0">
                <a:solidFill>
                  <a:srgbClr val="7030A0"/>
                </a:solidFill>
                <a:latin typeface="Calibri"/>
                <a:ea typeface="+mn-lt"/>
                <a:cs typeface="Calibri"/>
              </a:rPr>
              <a:t>(</a:t>
            </a:r>
            <a:r>
              <a:rPr lang="en-GB" dirty="0">
                <a:solidFill>
                  <a:srgbClr val="0070C0"/>
                </a:solidFill>
                <a:latin typeface="Calibri"/>
                <a:ea typeface="+mn-lt"/>
                <a:cs typeface="Calibri"/>
              </a:rPr>
              <a:t>RND()</a:t>
            </a:r>
            <a:r>
              <a:rPr lang="en-GB" dirty="0">
                <a:solidFill>
                  <a:srgbClr val="7030A0"/>
                </a:solidFill>
                <a:latin typeface="Calibri"/>
                <a:ea typeface="+mn-lt"/>
                <a:cs typeface="Calibri"/>
              </a:rPr>
              <a:t> * Possibilities)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Calibri"/>
                <a:ea typeface="+mn-lt"/>
                <a:cs typeface="Calibri"/>
              </a:rPr>
              <a:t>+ Lowest</a:t>
            </a:r>
            <a:endParaRPr lang="en-GB" dirty="0">
              <a:solidFill>
                <a:schemeClr val="accent3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4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225E-8F36-DF96-CDCD-654762FE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03AC-328E-F07E-FCD7-7E0202AE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Creating Lists in Programming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F7E3A-1208-4AAB-4B92-544750527187}"/>
              </a:ext>
            </a:extLst>
          </p:cNvPr>
          <p:cNvSpPr txBox="1"/>
          <p:nvPr/>
        </p:nvSpPr>
        <p:spPr>
          <a:xfrm>
            <a:off x="1357631" y="1843950"/>
            <a:ext cx="65405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Sometimes, you might need multiple pieces of </a:t>
            </a:r>
            <a:r>
              <a:rPr lang="en-GB" b="1" dirty="0"/>
              <a:t>related data</a:t>
            </a:r>
            <a:r>
              <a:rPr lang="en-GB" dirty="0"/>
              <a:t> for a program, for example:</a:t>
            </a:r>
          </a:p>
          <a:p>
            <a:pPr marL="27305"/>
            <a:endParaRPr lang="en-GB" b="1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list</a:t>
            </a:r>
            <a:r>
              <a:rPr lang="en-GB" dirty="0"/>
              <a:t> of names in a class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list </a:t>
            </a:r>
            <a:r>
              <a:rPr lang="en-GB" dirty="0"/>
              <a:t>of scores in a football tournament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dirty="0"/>
              <a:t>list</a:t>
            </a:r>
            <a:r>
              <a:rPr lang="en-GB" dirty="0"/>
              <a:t> of prices in a shop</a:t>
            </a:r>
          </a:p>
          <a:p>
            <a:pPr marL="27305"/>
            <a:endParaRPr lang="en-GB" dirty="0"/>
          </a:p>
          <a:p>
            <a:pPr marL="27305"/>
            <a:r>
              <a:rPr lang="en-GB" dirty="0"/>
              <a:t>So far, you might do something like this:</a:t>
            </a:r>
          </a:p>
          <a:p>
            <a:pPr marL="27305"/>
            <a:endParaRPr lang="en-GB" dirty="0"/>
          </a:p>
          <a:p>
            <a:pPr marL="484505" lvl="1"/>
            <a:r>
              <a:rPr lang="en-GB" b="1" i="1" dirty="0">
                <a:solidFill>
                  <a:schemeClr val="accent2"/>
                </a:solidFill>
              </a:rPr>
              <a:t>name1 = “Alice”</a:t>
            </a:r>
          </a:p>
          <a:p>
            <a:pPr marL="484505" lvl="1"/>
            <a:r>
              <a:rPr lang="en-GB" b="1" i="1" dirty="0">
                <a:solidFill>
                  <a:schemeClr val="accent4"/>
                </a:solidFill>
              </a:rPr>
              <a:t>name2 = “Bob”</a:t>
            </a:r>
          </a:p>
          <a:p>
            <a:pPr marL="484505" lvl="1"/>
            <a:r>
              <a:rPr lang="en-GB" b="1" i="1" dirty="0">
                <a:solidFill>
                  <a:schemeClr val="accent5"/>
                </a:solidFill>
              </a:rPr>
              <a:t>name3 = “Charlie</a:t>
            </a:r>
          </a:p>
          <a:p>
            <a:pPr marL="484505" lvl="1"/>
            <a:r>
              <a:rPr lang="en-GB" b="1" i="1" dirty="0">
                <a:solidFill>
                  <a:schemeClr val="accent6"/>
                </a:solidFill>
              </a:rPr>
              <a:t>name4 = “Mr Wang”</a:t>
            </a:r>
          </a:p>
          <a:p>
            <a:pPr marL="27305"/>
            <a:endParaRPr lang="en-GB" i="1" dirty="0"/>
          </a:p>
          <a:p>
            <a:pPr marL="27305"/>
            <a:r>
              <a:rPr lang="en-GB" dirty="0"/>
              <a:t>But there is a </a:t>
            </a:r>
            <a:r>
              <a:rPr lang="en-GB" b="1" dirty="0"/>
              <a:t>better way </a:t>
            </a:r>
            <a:r>
              <a:rPr lang="en-GB" dirty="0"/>
              <a:t>to store this information!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ign with price list&#10;&#10;AI-generated content may be incorrect.">
            <a:extLst>
              <a:ext uri="{FF2B5EF4-FFF2-40B4-BE49-F238E27FC236}">
                <a16:creationId xmlns:a16="http://schemas.microsoft.com/office/drawing/2014/main" id="{3E84F80E-AC26-2552-A675-B36485A67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24051" y="2628900"/>
            <a:ext cx="2627015" cy="263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8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C3AA-71BE-3178-1F36-0A555445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F310-9D1D-9250-528C-F4E667E7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Introducing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D980B-00E5-3809-1462-9F8E6C3FD031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Instead of:</a:t>
            </a:r>
          </a:p>
          <a:p>
            <a:pPr marL="27305"/>
            <a:endParaRPr lang="en-GB" dirty="0"/>
          </a:p>
          <a:p>
            <a:pPr marL="484505" lvl="1"/>
            <a:r>
              <a:rPr lang="en-GB" b="1" i="1" dirty="0">
                <a:solidFill>
                  <a:schemeClr val="accent2"/>
                </a:solidFill>
              </a:rPr>
              <a:t>name1 = “Alice”</a:t>
            </a:r>
          </a:p>
          <a:p>
            <a:pPr marL="484505" lvl="1"/>
            <a:r>
              <a:rPr lang="en-GB" b="1" i="1" dirty="0">
                <a:solidFill>
                  <a:schemeClr val="accent4"/>
                </a:solidFill>
              </a:rPr>
              <a:t>name2 = “Bob”</a:t>
            </a:r>
          </a:p>
          <a:p>
            <a:pPr marL="484505" lvl="1"/>
            <a:r>
              <a:rPr lang="en-GB" b="1" i="1" dirty="0">
                <a:solidFill>
                  <a:schemeClr val="accent5"/>
                </a:solidFill>
              </a:rPr>
              <a:t>name3 = “Charlie</a:t>
            </a:r>
          </a:p>
          <a:p>
            <a:pPr marL="484505" lvl="1"/>
            <a:r>
              <a:rPr lang="en-GB" b="1" i="1" dirty="0">
                <a:solidFill>
                  <a:schemeClr val="accent6"/>
                </a:solidFill>
              </a:rPr>
              <a:t>name4 = “Mr Wang”</a:t>
            </a:r>
          </a:p>
          <a:p>
            <a:pPr marL="27305"/>
            <a:endParaRPr lang="en-GB" i="1" dirty="0"/>
          </a:p>
          <a:p>
            <a:pPr marL="27305"/>
            <a:endParaRPr lang="en-GB" i="1" dirty="0"/>
          </a:p>
          <a:p>
            <a:pPr marL="27305"/>
            <a:r>
              <a:rPr lang="en-GB" dirty="0"/>
              <a:t>We can do this:</a:t>
            </a:r>
          </a:p>
          <a:p>
            <a:pPr marL="27305"/>
            <a:endParaRPr lang="en-GB" dirty="0"/>
          </a:p>
          <a:p>
            <a:pPr marL="27305"/>
            <a:r>
              <a:rPr lang="en-GB" i="1" dirty="0"/>
              <a:t>	</a:t>
            </a:r>
            <a:r>
              <a:rPr lang="en-GB" b="1" i="1" dirty="0"/>
              <a:t>names</a:t>
            </a:r>
            <a:r>
              <a:rPr lang="en-GB" i="1" dirty="0"/>
              <a:t> = [ </a:t>
            </a:r>
            <a:r>
              <a:rPr lang="en-GB" b="1" i="1" dirty="0">
                <a:solidFill>
                  <a:schemeClr val="accent2"/>
                </a:solidFill>
              </a:rPr>
              <a:t>“Alice” </a:t>
            </a:r>
            <a:r>
              <a:rPr lang="en-GB" b="1" i="1" dirty="0"/>
              <a:t>, </a:t>
            </a:r>
            <a:r>
              <a:rPr lang="en-GB" b="1" i="1" dirty="0">
                <a:solidFill>
                  <a:schemeClr val="accent4"/>
                </a:solidFill>
              </a:rPr>
              <a:t>“Bob” </a:t>
            </a:r>
            <a:r>
              <a:rPr lang="en-GB" b="1" i="1" dirty="0"/>
              <a:t>, </a:t>
            </a:r>
            <a:r>
              <a:rPr lang="en-GB" b="1" i="1" dirty="0">
                <a:solidFill>
                  <a:schemeClr val="accent5"/>
                </a:solidFill>
              </a:rPr>
              <a:t>“Charlie” </a:t>
            </a:r>
            <a:r>
              <a:rPr lang="en-GB" b="1" i="1" dirty="0"/>
              <a:t>, </a:t>
            </a:r>
            <a:r>
              <a:rPr lang="en-GB" b="1" i="1" dirty="0">
                <a:solidFill>
                  <a:schemeClr val="accent6"/>
                </a:solidFill>
              </a:rPr>
              <a:t>“Mr Wang”</a:t>
            </a:r>
            <a:r>
              <a:rPr lang="en-GB" i="1" dirty="0">
                <a:solidFill>
                  <a:schemeClr val="accent6"/>
                </a:solidFill>
              </a:rPr>
              <a:t> </a:t>
            </a:r>
            <a:r>
              <a:rPr lang="en-GB" i="1" dirty="0"/>
              <a:t>]</a:t>
            </a:r>
          </a:p>
          <a:p>
            <a:pPr marL="27305"/>
            <a:endParaRPr lang="en-GB" i="1" dirty="0"/>
          </a:p>
          <a:p>
            <a:pPr marL="27305"/>
            <a:r>
              <a:rPr lang="en-GB" dirty="0"/>
              <a:t>In this example, </a:t>
            </a:r>
            <a:r>
              <a:rPr lang="en-GB" b="1" dirty="0"/>
              <a:t>names</a:t>
            </a:r>
            <a:r>
              <a:rPr lang="en-GB" dirty="0"/>
              <a:t> is a </a:t>
            </a:r>
            <a:r>
              <a:rPr lang="en-GB" b="1" dirty="0"/>
              <a:t>1-D Array</a:t>
            </a:r>
            <a:r>
              <a:rPr lang="en-GB" dirty="0"/>
              <a:t>.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An array</a:t>
            </a:r>
            <a:r>
              <a:rPr lang="en-GB" b="1" dirty="0"/>
              <a:t> </a:t>
            </a:r>
            <a:r>
              <a:rPr lang="en-GB" dirty="0"/>
              <a:t>is a </a:t>
            </a:r>
            <a:r>
              <a:rPr lang="en-GB" b="1" i="1" u="sng" dirty="0"/>
              <a:t>data-type</a:t>
            </a:r>
            <a:r>
              <a:rPr lang="en-GB" dirty="0"/>
              <a:t>, just like a </a:t>
            </a:r>
            <a:r>
              <a:rPr lang="en-GB" b="1" dirty="0"/>
              <a:t>String</a:t>
            </a:r>
            <a:r>
              <a:rPr lang="en-GB" dirty="0"/>
              <a:t> or an </a:t>
            </a:r>
            <a:r>
              <a:rPr lang="en-GB" b="1" dirty="0"/>
              <a:t>Integer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43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EA05-8182-086F-6D4D-4C2B4FEA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E0DE2-7E99-2D88-1DB4-DDF5D5AF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Using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366A0-BBD9-F964-3A03-498775DEDD20}"/>
              </a:ext>
            </a:extLst>
          </p:cNvPr>
          <p:cNvSpPr txBox="1"/>
          <p:nvPr/>
        </p:nvSpPr>
        <p:spPr>
          <a:xfrm>
            <a:off x="1357631" y="1843950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Just like </a:t>
            </a:r>
            <a:r>
              <a:rPr lang="en-GB" b="1" dirty="0"/>
              <a:t>String</a:t>
            </a:r>
            <a:r>
              <a:rPr lang="en-GB" dirty="0"/>
              <a:t> variables hold text, or </a:t>
            </a:r>
            <a:r>
              <a:rPr lang="en-GB" b="1" dirty="0"/>
              <a:t>Integer </a:t>
            </a:r>
            <a:r>
              <a:rPr lang="en-GB" dirty="0"/>
              <a:t>variables hold whole numbers, Arrays hold </a:t>
            </a:r>
            <a:r>
              <a:rPr lang="en-GB" b="1" dirty="0"/>
              <a:t>a list of values</a:t>
            </a:r>
            <a:r>
              <a:rPr lang="en-GB" dirty="0"/>
              <a:t>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The values must be </a:t>
            </a:r>
            <a:r>
              <a:rPr lang="en-GB" b="1" dirty="0"/>
              <a:t>the same type</a:t>
            </a:r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For example, a list of names (string) or a list of ages (integer)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862014-20A9-BDEB-DC3F-B33A2EB35430}"/>
              </a:ext>
            </a:extLst>
          </p:cNvPr>
          <p:cNvSpPr txBox="1"/>
          <p:nvPr/>
        </p:nvSpPr>
        <p:spPr>
          <a:xfrm>
            <a:off x="1555750" y="3912285"/>
            <a:ext cx="6032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/>
            <a:r>
              <a:rPr lang="en-GB" sz="2000" b="1" i="1" dirty="0"/>
              <a:t>names</a:t>
            </a:r>
            <a:r>
              <a:rPr lang="en-GB" sz="2000" i="1" dirty="0"/>
              <a:t> = [ </a:t>
            </a:r>
            <a:r>
              <a:rPr lang="en-GB" sz="2000" b="1" i="1" dirty="0">
                <a:solidFill>
                  <a:schemeClr val="accent2"/>
                </a:solidFill>
              </a:rPr>
              <a:t>“Alice”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4"/>
                </a:solidFill>
              </a:rPr>
              <a:t>“Bob”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5"/>
                </a:solidFill>
              </a:rPr>
              <a:t>“Charlie”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6"/>
                </a:solidFill>
              </a:rPr>
              <a:t>“Mr Wang”</a:t>
            </a:r>
            <a:r>
              <a:rPr lang="en-GB" sz="2000" i="1" dirty="0">
                <a:solidFill>
                  <a:schemeClr val="accent6"/>
                </a:solidFill>
              </a:rPr>
              <a:t> </a:t>
            </a:r>
            <a:r>
              <a:rPr lang="en-GB" sz="2000" i="1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6F6CB-FAF6-BC1F-DBDB-B0BA6BBB554D}"/>
              </a:ext>
            </a:extLst>
          </p:cNvPr>
          <p:cNvSpPr txBox="1"/>
          <p:nvPr/>
        </p:nvSpPr>
        <p:spPr>
          <a:xfrm>
            <a:off x="1357631" y="450460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You can </a:t>
            </a:r>
            <a:r>
              <a:rPr lang="en-GB" b="1" dirty="0"/>
              <a:t>access </a:t>
            </a:r>
            <a:r>
              <a:rPr lang="en-GB" dirty="0"/>
              <a:t>the values in an array by using its </a:t>
            </a:r>
            <a:r>
              <a:rPr lang="en-GB" b="1" dirty="0"/>
              <a:t>position in the array</a:t>
            </a:r>
            <a:r>
              <a:rPr lang="en-GB" dirty="0"/>
              <a:t>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DISPLAY names[</a:t>
            </a:r>
            <a:r>
              <a:rPr lang="en-GB" b="1" dirty="0">
                <a:solidFill>
                  <a:schemeClr val="accent2"/>
                </a:solidFill>
              </a:rPr>
              <a:t>0</a:t>
            </a:r>
            <a:r>
              <a:rPr lang="en-GB" dirty="0"/>
              <a:t>]  </a:t>
            </a:r>
            <a:r>
              <a:rPr lang="en-GB" dirty="0">
                <a:latin typeface="The Hand Extrablack" panose="020F0502020204030204" pitchFamily="66" charset="0"/>
              </a:rPr>
              <a:t>→</a:t>
            </a:r>
            <a:r>
              <a:rPr lang="en-GB" dirty="0"/>
              <a:t>  </a:t>
            </a:r>
            <a:r>
              <a:rPr lang="en-GB" b="1" dirty="0">
                <a:solidFill>
                  <a:schemeClr val="accent2"/>
                </a:solidFill>
              </a:rPr>
              <a:t>“Alice”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DISPLAY names[</a:t>
            </a:r>
            <a:r>
              <a:rPr lang="en-GB" b="1" dirty="0">
                <a:solidFill>
                  <a:schemeClr val="accent4"/>
                </a:solidFill>
              </a:rPr>
              <a:t>1</a:t>
            </a:r>
            <a:r>
              <a:rPr lang="en-GB" dirty="0"/>
              <a:t>]  </a:t>
            </a:r>
            <a:r>
              <a:rPr lang="en-GB" dirty="0">
                <a:latin typeface="The Hand Extrablack" panose="020F0502020204030204" pitchFamily="66" charset="0"/>
              </a:rPr>
              <a:t>→  </a:t>
            </a:r>
            <a:r>
              <a:rPr lang="en-GB" b="1" dirty="0">
                <a:solidFill>
                  <a:schemeClr val="accent4"/>
                </a:solidFill>
              </a:rPr>
              <a:t>“Bob”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DISPLAY names[</a:t>
            </a:r>
            <a:r>
              <a:rPr lang="en-GB" b="1" dirty="0">
                <a:solidFill>
                  <a:schemeClr val="accent5"/>
                </a:solidFill>
              </a:rPr>
              <a:t>2</a:t>
            </a:r>
            <a:r>
              <a:rPr lang="en-GB" dirty="0"/>
              <a:t>]  </a:t>
            </a:r>
            <a:r>
              <a:rPr lang="en-GB" dirty="0">
                <a:latin typeface="The Hand Extrablack" panose="020F0502020204030204" pitchFamily="66" charset="0"/>
              </a:rPr>
              <a:t>→  </a:t>
            </a:r>
            <a:r>
              <a:rPr lang="en-GB" b="1" dirty="0">
                <a:solidFill>
                  <a:schemeClr val="accent5"/>
                </a:solidFill>
              </a:rPr>
              <a:t>“Charlie”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DISPLAY names[</a:t>
            </a:r>
            <a:r>
              <a:rPr lang="en-GB" b="1" dirty="0">
                <a:solidFill>
                  <a:schemeClr val="accent6"/>
                </a:solidFill>
              </a:rPr>
              <a:t>3</a:t>
            </a:r>
            <a:r>
              <a:rPr lang="en-GB" dirty="0"/>
              <a:t>]  </a:t>
            </a:r>
            <a:r>
              <a:rPr lang="en-GB" dirty="0">
                <a:latin typeface="The Hand Extrablack" panose="020F0502020204030204" pitchFamily="66" charset="0"/>
              </a:rPr>
              <a:t>→</a:t>
            </a:r>
            <a:r>
              <a:rPr lang="en-GB" dirty="0"/>
              <a:t>  </a:t>
            </a:r>
            <a:r>
              <a:rPr lang="en-GB" b="1" dirty="0">
                <a:solidFill>
                  <a:schemeClr val="accent6"/>
                </a:solidFill>
              </a:rPr>
              <a:t>“Mr Wang”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874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44892-2791-5FAF-DD1A-E72B07A6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3E4F-C9DA-4FDF-FB9A-88ED5714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Declaring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BF04A-847A-3A62-F2BB-ACE538BEA644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When you make an array, you must declare its </a:t>
            </a:r>
            <a:r>
              <a:rPr lang="en-GB" b="1" dirty="0"/>
              <a:t>size</a:t>
            </a:r>
            <a:r>
              <a:rPr lang="en-GB" dirty="0"/>
              <a:t> and </a:t>
            </a:r>
            <a:r>
              <a:rPr lang="en-GB" b="1" dirty="0"/>
              <a:t>type</a:t>
            </a:r>
            <a:r>
              <a:rPr lang="en-GB" dirty="0"/>
              <a:t>:</a:t>
            </a:r>
          </a:p>
          <a:p>
            <a:pPr marL="27305"/>
            <a:endParaRPr lang="en-GB" b="1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i.e. </a:t>
            </a:r>
            <a:r>
              <a:rPr lang="en-GB" b="1" dirty="0"/>
              <a:t>How many </a:t>
            </a:r>
            <a:r>
              <a:rPr lang="en-GB" dirty="0"/>
              <a:t>values the list can hold and the </a:t>
            </a:r>
            <a:r>
              <a:rPr lang="en-GB" b="1" dirty="0"/>
              <a:t>data type </a:t>
            </a:r>
            <a:r>
              <a:rPr lang="en-GB" dirty="0"/>
              <a:t>of those values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For example, a list of 5 strings or a list of 10 real numbers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7305"/>
            <a:r>
              <a:rPr lang="en-GB" dirty="0"/>
              <a:t>In pseudocode: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b="1" dirty="0"/>
              <a:t>DECLARE names AS ARRAY OF STRING INITIALLY [“ “]*4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7305"/>
            <a:r>
              <a:rPr lang="en-GB" dirty="0"/>
              <a:t>This will make an array called </a:t>
            </a:r>
            <a:r>
              <a:rPr lang="en-GB" b="1" dirty="0"/>
              <a:t>names</a:t>
            </a:r>
            <a:r>
              <a:rPr lang="en-GB" dirty="0"/>
              <a:t> which can store four string values: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Each value is given an </a:t>
            </a:r>
            <a:r>
              <a:rPr lang="en-GB" b="1" dirty="0"/>
              <a:t>initial value </a:t>
            </a:r>
            <a:r>
              <a:rPr lang="en-GB" dirty="0"/>
              <a:t>of “” (an empty string)</a:t>
            </a:r>
          </a:p>
          <a:p>
            <a:pPr marL="27305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762B0-8F8F-3767-20FE-819EB6D3DA3E}"/>
              </a:ext>
            </a:extLst>
          </p:cNvPr>
          <p:cNvSpPr txBox="1"/>
          <p:nvPr/>
        </p:nvSpPr>
        <p:spPr>
          <a:xfrm>
            <a:off x="1555750" y="6033185"/>
            <a:ext cx="6032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/>
            <a:r>
              <a:rPr lang="en-GB" sz="2000" b="1" i="1" dirty="0"/>
              <a:t>names</a:t>
            </a:r>
            <a:r>
              <a:rPr lang="en-GB" sz="2000" i="1" dirty="0"/>
              <a:t> = [ </a:t>
            </a:r>
            <a:r>
              <a:rPr lang="en-GB" sz="2000" b="1" i="1" dirty="0">
                <a:solidFill>
                  <a:schemeClr val="accent2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4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5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6"/>
                </a:solidFill>
              </a:rPr>
              <a:t>“ ”</a:t>
            </a:r>
            <a:r>
              <a:rPr lang="en-GB" sz="2000" i="1" dirty="0">
                <a:solidFill>
                  <a:schemeClr val="accent6"/>
                </a:solidFill>
              </a:rPr>
              <a:t> </a:t>
            </a:r>
            <a:r>
              <a:rPr lang="en-GB" sz="2000" i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4447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5247-89B5-74B0-6732-4F202DE77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C98A-5DD1-537C-948C-56680D2D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Populating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E9290-E39A-5F1C-85B0-45D2BA6CD23E}"/>
              </a:ext>
            </a:extLst>
          </p:cNvPr>
          <p:cNvSpPr txBox="1"/>
          <p:nvPr/>
        </p:nvSpPr>
        <p:spPr>
          <a:xfrm>
            <a:off x="1357631" y="1843950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After making the empty array, you can set its values one-by-one: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C780B-331E-E47D-00A9-DFBB5B5961DF}"/>
              </a:ext>
            </a:extLst>
          </p:cNvPr>
          <p:cNvSpPr txBox="1"/>
          <p:nvPr/>
        </p:nvSpPr>
        <p:spPr>
          <a:xfrm>
            <a:off x="1555750" y="2413685"/>
            <a:ext cx="6032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/>
            <a:r>
              <a:rPr lang="en-GB" sz="2000" b="1" i="1" dirty="0"/>
              <a:t>names</a:t>
            </a:r>
            <a:r>
              <a:rPr lang="en-GB" sz="2000" i="1" dirty="0"/>
              <a:t> = [ </a:t>
            </a:r>
            <a:r>
              <a:rPr lang="en-GB" sz="2000" b="1" i="1" dirty="0">
                <a:solidFill>
                  <a:schemeClr val="accent2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4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5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6"/>
                </a:solidFill>
              </a:rPr>
              <a:t>“ ”</a:t>
            </a:r>
            <a:r>
              <a:rPr lang="en-GB" sz="2000" i="1" dirty="0">
                <a:solidFill>
                  <a:schemeClr val="accent6"/>
                </a:solidFill>
              </a:rPr>
              <a:t> </a:t>
            </a:r>
            <a:r>
              <a:rPr lang="en-GB" sz="2000" i="1" dirty="0"/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FD6C6-C04F-B563-B05E-56D2F9B9F9E1}"/>
              </a:ext>
            </a:extLst>
          </p:cNvPr>
          <p:cNvSpPr txBox="1"/>
          <p:nvPr/>
        </p:nvSpPr>
        <p:spPr>
          <a:xfrm>
            <a:off x="1357630" y="2936731"/>
            <a:ext cx="654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 algn="ctr"/>
            <a:r>
              <a:rPr lang="en-GB" b="1" dirty="0"/>
              <a:t>names</a:t>
            </a:r>
            <a:r>
              <a:rPr lang="en-GB" dirty="0"/>
              <a:t>[</a:t>
            </a:r>
            <a:r>
              <a:rPr lang="en-GB" b="1" dirty="0">
                <a:solidFill>
                  <a:schemeClr val="accent2"/>
                </a:solidFill>
              </a:rPr>
              <a:t>0</a:t>
            </a:r>
            <a:r>
              <a:rPr lang="en-GB" dirty="0"/>
              <a:t>]</a:t>
            </a:r>
            <a:r>
              <a:rPr lang="en-GB" b="1" dirty="0"/>
              <a:t> = “</a:t>
            </a:r>
            <a:r>
              <a:rPr lang="en-GB" b="1" dirty="0">
                <a:solidFill>
                  <a:schemeClr val="accent2"/>
                </a:solidFill>
              </a:rPr>
              <a:t>Tony</a:t>
            </a:r>
            <a:r>
              <a:rPr lang="en-GB" b="1" dirty="0"/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23EA5-87F4-AA37-FC26-3B5678671388}"/>
              </a:ext>
            </a:extLst>
          </p:cNvPr>
          <p:cNvSpPr txBox="1"/>
          <p:nvPr/>
        </p:nvSpPr>
        <p:spPr>
          <a:xfrm>
            <a:off x="1555750" y="3428999"/>
            <a:ext cx="6032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/>
            <a:r>
              <a:rPr lang="en-GB" sz="2000" b="1" i="1" dirty="0"/>
              <a:t>names</a:t>
            </a:r>
            <a:r>
              <a:rPr lang="en-GB" sz="2000" i="1" dirty="0"/>
              <a:t> = [ </a:t>
            </a:r>
            <a:r>
              <a:rPr lang="en-GB" sz="2000" b="1" i="1" dirty="0">
                <a:solidFill>
                  <a:schemeClr val="accent2"/>
                </a:solidFill>
              </a:rPr>
              <a:t>“Tony”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4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5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6"/>
                </a:solidFill>
              </a:rPr>
              <a:t>“ ”</a:t>
            </a:r>
            <a:r>
              <a:rPr lang="en-GB" sz="2000" i="1" dirty="0">
                <a:solidFill>
                  <a:schemeClr val="accent6"/>
                </a:solidFill>
              </a:rPr>
              <a:t> </a:t>
            </a:r>
            <a:r>
              <a:rPr lang="en-GB" sz="2000" i="1" dirty="0"/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38057-3618-4C94-4E5E-91475F64E4F2}"/>
              </a:ext>
            </a:extLst>
          </p:cNvPr>
          <p:cNvSpPr txBox="1"/>
          <p:nvPr/>
        </p:nvSpPr>
        <p:spPr>
          <a:xfrm>
            <a:off x="1357630" y="3957248"/>
            <a:ext cx="654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 algn="ctr"/>
            <a:r>
              <a:rPr lang="en-GB" b="1" dirty="0"/>
              <a:t>names</a:t>
            </a:r>
            <a:r>
              <a:rPr lang="en-GB" dirty="0"/>
              <a:t>[</a:t>
            </a:r>
            <a:r>
              <a:rPr lang="en-GB" b="1" dirty="0">
                <a:solidFill>
                  <a:schemeClr val="accent5"/>
                </a:solidFill>
              </a:rPr>
              <a:t>2</a:t>
            </a:r>
            <a:r>
              <a:rPr lang="en-GB" dirty="0"/>
              <a:t>]</a:t>
            </a:r>
            <a:r>
              <a:rPr lang="en-GB" b="1" dirty="0"/>
              <a:t> = “</a:t>
            </a:r>
            <a:r>
              <a:rPr lang="en-GB" b="1" dirty="0">
                <a:solidFill>
                  <a:schemeClr val="accent5"/>
                </a:solidFill>
              </a:rPr>
              <a:t>Elsie</a:t>
            </a:r>
            <a:r>
              <a:rPr lang="en-GB" b="1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AB7D2-EEB9-8F9D-CA20-A7DEF83AD03B}"/>
              </a:ext>
            </a:extLst>
          </p:cNvPr>
          <p:cNvSpPr txBox="1"/>
          <p:nvPr/>
        </p:nvSpPr>
        <p:spPr>
          <a:xfrm>
            <a:off x="1555750" y="4449516"/>
            <a:ext cx="6032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/>
            <a:r>
              <a:rPr lang="en-GB" sz="2000" b="1" i="1" dirty="0"/>
              <a:t>names</a:t>
            </a:r>
            <a:r>
              <a:rPr lang="en-GB" sz="2000" i="1" dirty="0"/>
              <a:t> = [ </a:t>
            </a:r>
            <a:r>
              <a:rPr lang="en-GB" sz="2000" b="1" i="1" dirty="0">
                <a:solidFill>
                  <a:schemeClr val="accent2"/>
                </a:solidFill>
              </a:rPr>
              <a:t>“Tony”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4"/>
                </a:solidFill>
              </a:rPr>
              <a:t>“ 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5"/>
                </a:solidFill>
              </a:rPr>
              <a:t>“Elsie”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6"/>
                </a:solidFill>
              </a:rPr>
              <a:t>“ ”</a:t>
            </a:r>
            <a:r>
              <a:rPr lang="en-GB" sz="2000" i="1" dirty="0">
                <a:solidFill>
                  <a:schemeClr val="accent6"/>
                </a:solidFill>
              </a:rPr>
              <a:t> </a:t>
            </a:r>
            <a:r>
              <a:rPr lang="en-GB" sz="2000" i="1" dirty="0"/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6F4F3-EFCA-95FE-4A9B-8D3A992A9B90}"/>
              </a:ext>
            </a:extLst>
          </p:cNvPr>
          <p:cNvSpPr txBox="1"/>
          <p:nvPr/>
        </p:nvSpPr>
        <p:spPr>
          <a:xfrm>
            <a:off x="1357630" y="4972562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 algn="ctr"/>
            <a:r>
              <a:rPr lang="en-GB" b="1" dirty="0"/>
              <a:t>names</a:t>
            </a:r>
            <a:r>
              <a:rPr lang="en-GB" dirty="0"/>
              <a:t>[</a:t>
            </a:r>
            <a:r>
              <a:rPr lang="en-GB" b="1" dirty="0">
                <a:solidFill>
                  <a:schemeClr val="accent4"/>
                </a:solidFill>
              </a:rPr>
              <a:t>1</a:t>
            </a:r>
            <a:r>
              <a:rPr lang="en-GB" dirty="0"/>
              <a:t>]</a:t>
            </a:r>
            <a:r>
              <a:rPr lang="en-GB" b="1" dirty="0"/>
              <a:t> = “</a:t>
            </a:r>
            <a:r>
              <a:rPr lang="en-GB" b="1" dirty="0">
                <a:solidFill>
                  <a:schemeClr val="accent4"/>
                </a:solidFill>
              </a:rPr>
              <a:t>Miriam</a:t>
            </a:r>
            <a:r>
              <a:rPr lang="en-GB" b="1" dirty="0"/>
              <a:t>”</a:t>
            </a:r>
          </a:p>
          <a:p>
            <a:pPr marL="27305" algn="ctr"/>
            <a:r>
              <a:rPr lang="en-GB" b="1" dirty="0"/>
              <a:t>names</a:t>
            </a:r>
            <a:r>
              <a:rPr lang="en-GB" dirty="0"/>
              <a:t>[</a:t>
            </a:r>
            <a:r>
              <a:rPr lang="en-GB" b="1" dirty="0">
                <a:solidFill>
                  <a:schemeClr val="accent6"/>
                </a:solidFill>
              </a:rPr>
              <a:t>3</a:t>
            </a:r>
            <a:r>
              <a:rPr lang="en-GB" dirty="0"/>
              <a:t>]</a:t>
            </a:r>
            <a:r>
              <a:rPr lang="en-GB" b="1" dirty="0"/>
              <a:t> = “</a:t>
            </a:r>
            <a:r>
              <a:rPr lang="en-GB" b="1" dirty="0">
                <a:solidFill>
                  <a:schemeClr val="accent6"/>
                </a:solidFill>
              </a:rPr>
              <a:t>Darth Vader</a:t>
            </a:r>
            <a:r>
              <a:rPr lang="en-GB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1C5D2B-5C42-C545-B046-5E924DC718F5}"/>
              </a:ext>
            </a:extLst>
          </p:cNvPr>
          <p:cNvSpPr txBox="1"/>
          <p:nvPr/>
        </p:nvSpPr>
        <p:spPr>
          <a:xfrm>
            <a:off x="1316392" y="5775078"/>
            <a:ext cx="6623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/>
            <a:r>
              <a:rPr lang="en-GB" sz="2000" b="1" i="1" dirty="0"/>
              <a:t>names</a:t>
            </a:r>
            <a:r>
              <a:rPr lang="en-GB" sz="2000" i="1" dirty="0"/>
              <a:t> = [ </a:t>
            </a:r>
            <a:r>
              <a:rPr lang="en-GB" sz="2000" b="1" i="1" dirty="0">
                <a:solidFill>
                  <a:schemeClr val="accent2"/>
                </a:solidFill>
              </a:rPr>
              <a:t>“Tony”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4"/>
                </a:solidFill>
              </a:rPr>
              <a:t>“Miriam”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5"/>
                </a:solidFill>
              </a:rPr>
              <a:t>“Elsie” </a:t>
            </a:r>
            <a:r>
              <a:rPr lang="en-GB" sz="2000" b="1" i="1" dirty="0"/>
              <a:t>, </a:t>
            </a:r>
            <a:r>
              <a:rPr lang="en-GB" sz="2000" b="1" i="1" dirty="0">
                <a:solidFill>
                  <a:schemeClr val="accent6"/>
                </a:solidFill>
              </a:rPr>
              <a:t>“Darth Vader”</a:t>
            </a:r>
            <a:r>
              <a:rPr lang="en-GB" sz="2000" i="1" dirty="0">
                <a:solidFill>
                  <a:schemeClr val="accent6"/>
                </a:solidFill>
              </a:rPr>
              <a:t> </a:t>
            </a:r>
            <a:r>
              <a:rPr lang="en-GB" sz="2000" i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2922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A40A-AA3E-2CBA-E7F5-57BB70F3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869CA-18D3-2DD2-7756-D95C4737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 Visual Basic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DFC78-7B5B-0F68-F8D5-412FA56A555A}"/>
              </a:ext>
            </a:extLst>
          </p:cNvPr>
          <p:cNvSpPr txBox="1"/>
          <p:nvPr/>
        </p:nvSpPr>
        <p:spPr>
          <a:xfrm>
            <a:off x="1357631" y="1843950"/>
            <a:ext cx="654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Below is an example of a </a:t>
            </a:r>
            <a:r>
              <a:rPr lang="en-GB" b="1" dirty="0"/>
              <a:t>String Array</a:t>
            </a:r>
            <a:r>
              <a:rPr lang="en-GB" dirty="0"/>
              <a:t> program in Visual Basic: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AFAAB5-864D-AE77-9AD4-41D06D81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5" y="3185919"/>
            <a:ext cx="4659215" cy="229413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2117B5-4AD6-4129-2A59-60B111EE2C14}"/>
              </a:ext>
            </a:extLst>
          </p:cNvPr>
          <p:cNvCxnSpPr>
            <a:cxnSpLocks/>
          </p:cNvCxnSpPr>
          <p:nvPr/>
        </p:nvCxnSpPr>
        <p:spPr>
          <a:xfrm>
            <a:off x="2444750" y="2831163"/>
            <a:ext cx="0" cy="3547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7D4C33-15F4-D87B-9CCC-ED3671036741}"/>
              </a:ext>
            </a:extLst>
          </p:cNvPr>
          <p:cNvCxnSpPr>
            <a:cxnSpLocks/>
          </p:cNvCxnSpPr>
          <p:nvPr/>
        </p:nvCxnSpPr>
        <p:spPr>
          <a:xfrm flipH="1">
            <a:off x="3403600" y="2887866"/>
            <a:ext cx="165100" cy="2980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A77876-1B7A-A045-D5C8-98931E5247EC}"/>
              </a:ext>
            </a:extLst>
          </p:cNvPr>
          <p:cNvSpPr txBox="1"/>
          <p:nvPr/>
        </p:nvSpPr>
        <p:spPr>
          <a:xfrm>
            <a:off x="1781176" y="2295760"/>
            <a:ext cx="1327148" cy="53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Name and length of array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709192-C8B4-B2F5-2B05-E81C1354389B}"/>
              </a:ext>
            </a:extLst>
          </p:cNvPr>
          <p:cNvSpPr txBox="1"/>
          <p:nvPr/>
        </p:nvSpPr>
        <p:spPr>
          <a:xfrm>
            <a:off x="3108324" y="2364646"/>
            <a:ext cx="132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Data-type of array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DA7291-B923-7192-ADAB-214B458B0C55}"/>
              </a:ext>
            </a:extLst>
          </p:cNvPr>
          <p:cNvCxnSpPr>
            <a:cxnSpLocks/>
          </p:cNvCxnSpPr>
          <p:nvPr/>
        </p:nvCxnSpPr>
        <p:spPr>
          <a:xfrm flipH="1">
            <a:off x="3921920" y="3845947"/>
            <a:ext cx="705998" cy="1291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8EC57F0-F38F-B79C-3BF4-7DE1AE1AF24C}"/>
              </a:ext>
            </a:extLst>
          </p:cNvPr>
          <p:cNvSpPr txBox="1"/>
          <p:nvPr/>
        </p:nvSpPr>
        <p:spPr>
          <a:xfrm>
            <a:off x="4603605" y="3560317"/>
            <a:ext cx="1647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Setting the values one-by-one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2ED7E4-2B5A-C698-2440-869A70B37DA6}"/>
              </a:ext>
            </a:extLst>
          </p:cNvPr>
          <p:cNvCxnSpPr>
            <a:cxnSpLocks/>
          </p:cNvCxnSpPr>
          <p:nvPr/>
        </p:nvCxnSpPr>
        <p:spPr>
          <a:xfrm flipH="1" flipV="1">
            <a:off x="3921920" y="3789690"/>
            <a:ext cx="705998" cy="457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B54EF2-1CA0-9A6D-F52F-11EFECCAA587}"/>
              </a:ext>
            </a:extLst>
          </p:cNvPr>
          <p:cNvCxnSpPr>
            <a:cxnSpLocks/>
          </p:cNvCxnSpPr>
          <p:nvPr/>
        </p:nvCxnSpPr>
        <p:spPr>
          <a:xfrm flipH="1">
            <a:off x="3921920" y="3860798"/>
            <a:ext cx="705998" cy="2836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9F8E18-BFD3-6ED4-ED1E-B0EFF2B75056}"/>
              </a:ext>
            </a:extLst>
          </p:cNvPr>
          <p:cNvCxnSpPr>
            <a:cxnSpLocks/>
          </p:cNvCxnSpPr>
          <p:nvPr/>
        </p:nvCxnSpPr>
        <p:spPr>
          <a:xfrm flipH="1">
            <a:off x="3799132" y="3860798"/>
            <a:ext cx="828786" cy="5783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15D5CA4-D434-E0C5-D906-B963800689D8}"/>
              </a:ext>
            </a:extLst>
          </p:cNvPr>
          <p:cNvCxnSpPr>
            <a:cxnSpLocks/>
          </p:cNvCxnSpPr>
          <p:nvPr/>
        </p:nvCxnSpPr>
        <p:spPr>
          <a:xfrm flipH="1">
            <a:off x="6070600" y="5008047"/>
            <a:ext cx="867667" cy="2871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DEBFE5-3E9C-B3BB-DF5E-3B06A076A82E}"/>
              </a:ext>
            </a:extLst>
          </p:cNvPr>
          <p:cNvCxnSpPr>
            <a:cxnSpLocks/>
          </p:cNvCxnSpPr>
          <p:nvPr/>
        </p:nvCxnSpPr>
        <p:spPr>
          <a:xfrm flipH="1" flipV="1">
            <a:off x="6070600" y="4859021"/>
            <a:ext cx="867667" cy="1490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B79C4C3-60DF-5537-F7AE-EF03575C3132}"/>
              </a:ext>
            </a:extLst>
          </p:cNvPr>
          <p:cNvSpPr txBox="1"/>
          <p:nvPr/>
        </p:nvSpPr>
        <p:spPr>
          <a:xfrm>
            <a:off x="6938267" y="4696585"/>
            <a:ext cx="132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Accessing the values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026EEDE-D638-B88A-1E17-BD98F5561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411" y="5706706"/>
            <a:ext cx="1620978" cy="10448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F5115FD-7400-7F93-5060-C1C233EA4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852" y="5706706"/>
            <a:ext cx="1668681" cy="1041981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3BAC810-B01B-0FAB-716A-C1924529ECC0}"/>
              </a:ext>
            </a:extLst>
          </p:cNvPr>
          <p:cNvCxnSpPr>
            <a:cxnSpLocks/>
          </p:cNvCxnSpPr>
          <p:nvPr/>
        </p:nvCxnSpPr>
        <p:spPr>
          <a:xfrm>
            <a:off x="4495800" y="6223000"/>
            <a:ext cx="393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14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5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B522-CFA7-0B36-6631-98000E95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184-4B55-793E-B1E7-1096A4F3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Traversing a 1-D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67D0C-3054-92A6-6263-0F7B88A4B8B0}"/>
              </a:ext>
            </a:extLst>
          </p:cNvPr>
          <p:cNvSpPr txBox="1"/>
          <p:nvPr/>
        </p:nvSpPr>
        <p:spPr>
          <a:xfrm>
            <a:off x="1357631" y="1843950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We can use a </a:t>
            </a:r>
            <a:r>
              <a:rPr lang="en-GB" b="1" dirty="0"/>
              <a:t>fixed loop</a:t>
            </a:r>
            <a:r>
              <a:rPr lang="en-GB" dirty="0"/>
              <a:t> to display each value in the array one-by-one: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4E4DF-E0E1-C549-5DF6-2EFEB00DC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070" y="2768393"/>
            <a:ext cx="5483860" cy="24132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C0E42A-1CC7-BAF4-63BA-66A1646B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14" y="5534069"/>
            <a:ext cx="1511523" cy="10541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26A3BC-F37F-87B7-4FB6-73B7B8496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058" y="5534069"/>
            <a:ext cx="1477407" cy="10541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4A22D8C-CAEB-063C-C23F-C7C049F0D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885" y="5521195"/>
            <a:ext cx="1511523" cy="10876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AC1C652-352E-7FF5-1725-21CD80DFA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829" y="5521195"/>
            <a:ext cx="1511521" cy="1060439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31B534-BD50-0091-48E1-B690FB566F8D}"/>
              </a:ext>
            </a:extLst>
          </p:cNvPr>
          <p:cNvCxnSpPr>
            <a:cxnSpLocks/>
          </p:cNvCxnSpPr>
          <p:nvPr/>
        </p:nvCxnSpPr>
        <p:spPr>
          <a:xfrm>
            <a:off x="2254250" y="6070600"/>
            <a:ext cx="393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419448-EBDE-FF55-11EA-24A79681E76B}"/>
              </a:ext>
            </a:extLst>
          </p:cNvPr>
          <p:cNvCxnSpPr>
            <a:cxnSpLocks/>
          </p:cNvCxnSpPr>
          <p:nvPr/>
        </p:nvCxnSpPr>
        <p:spPr>
          <a:xfrm>
            <a:off x="4375150" y="6089650"/>
            <a:ext cx="393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B3BCF7-BEA1-FD5C-38E1-5402783E972A}"/>
              </a:ext>
            </a:extLst>
          </p:cNvPr>
          <p:cNvCxnSpPr>
            <a:cxnSpLocks/>
          </p:cNvCxnSpPr>
          <p:nvPr/>
        </p:nvCxnSpPr>
        <p:spPr>
          <a:xfrm>
            <a:off x="6496050" y="6108700"/>
            <a:ext cx="393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A1C004-5BED-860A-B45F-BDA05CD212F9}"/>
              </a:ext>
            </a:extLst>
          </p:cNvPr>
          <p:cNvSpPr txBox="1"/>
          <p:nvPr/>
        </p:nvSpPr>
        <p:spPr>
          <a:xfrm>
            <a:off x="4724485" y="3690290"/>
            <a:ext cx="2165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Use a loop to display each value in the array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AEAA62-E254-2905-CBC0-8F0C3A4DEB75}"/>
              </a:ext>
            </a:extLst>
          </p:cNvPr>
          <p:cNvCxnSpPr>
            <a:cxnSpLocks/>
          </p:cNvCxnSpPr>
          <p:nvPr/>
        </p:nvCxnSpPr>
        <p:spPr>
          <a:xfrm flipH="1">
            <a:off x="3920012" y="3951900"/>
            <a:ext cx="828786" cy="5783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8C54-1721-3345-2DA4-F404D67F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5FB0-9A55-CF87-C6DA-C4A578C5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Populating an Array using a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73E9C-5645-F587-EED9-61E273B367FB}"/>
              </a:ext>
            </a:extLst>
          </p:cNvPr>
          <p:cNvSpPr txBox="1"/>
          <p:nvPr/>
        </p:nvSpPr>
        <p:spPr>
          <a:xfrm>
            <a:off x="1357631" y="1843950"/>
            <a:ext cx="654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We could ask the user to fill in the array, for 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D16A7-3668-F1F8-2DA0-8C05B1008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618" y="2446672"/>
            <a:ext cx="3428763" cy="14456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5BAC2E-DB15-B244-E6EA-DBF94BFC0DA8}"/>
              </a:ext>
            </a:extLst>
          </p:cNvPr>
          <p:cNvSpPr txBox="1"/>
          <p:nvPr/>
        </p:nvSpPr>
        <p:spPr>
          <a:xfrm>
            <a:off x="1301711" y="4275387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This has a lot of </a:t>
            </a:r>
            <a:r>
              <a:rPr lang="en-GB" b="1" dirty="0"/>
              <a:t>repetition</a:t>
            </a:r>
            <a:r>
              <a:rPr lang="en-GB" dirty="0"/>
              <a:t> – instead, we can use a </a:t>
            </a:r>
            <a:r>
              <a:rPr lang="en-GB" b="1" dirty="0"/>
              <a:t>fixed loop </a:t>
            </a:r>
            <a:r>
              <a:rPr lang="en-GB" dirty="0"/>
              <a:t> to </a:t>
            </a:r>
            <a:r>
              <a:rPr lang="en-GB" b="1" dirty="0"/>
              <a:t>traverse the array</a:t>
            </a:r>
            <a:r>
              <a:rPr lang="en-GB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C1E6AA-9C70-D8C4-51EA-7F4E31013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696" y="5150376"/>
            <a:ext cx="5512607" cy="122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6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6B49-13AC-4F10-9DD1-3B615D056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1764-C658-8BFD-AAF9-50F81F9E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70189-78F5-B5DE-6681-535F2FBEE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C00A-8327-3BF2-CB09-D0B57B805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1-D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implement 1-D arrays in Visual Basic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0ECDF-CF34-9077-DAFB-80BB7300E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A5A40-2EF9-0401-B137-12247654A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what an array is and what they are 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Write programs using 1-D arrays</a:t>
            </a:r>
          </a:p>
        </p:txBody>
      </p:sp>
    </p:spTree>
    <p:extLst>
      <p:ext uri="{BB962C8B-B14F-4D97-AF65-F5344CB8AC3E}">
        <p14:creationId xmlns:p14="http://schemas.microsoft.com/office/powerpoint/2010/main" val="3354814319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77C9FD-D126-43AF-8613-662FCD1101AB}"/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2450</TotalTime>
  <Words>925</Words>
  <Application>Microsoft Office PowerPoint</Application>
  <PresentationFormat>On-screen Show (4:3)</PresentationFormat>
  <Paragraphs>154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Tenorite</vt:lpstr>
      <vt:lpstr>The Hand Extrablack</vt:lpstr>
      <vt:lpstr>Monoline</vt:lpstr>
      <vt:lpstr>Starter Task</vt:lpstr>
      <vt:lpstr>Learning intentions and success criteria</vt:lpstr>
      <vt:lpstr>Recap: Predefined Functions</vt:lpstr>
      <vt:lpstr>The Round Function</vt:lpstr>
      <vt:lpstr>The Length Function</vt:lpstr>
      <vt:lpstr>The Random Function</vt:lpstr>
      <vt:lpstr>Creating Lists in Programming</vt:lpstr>
      <vt:lpstr>Introducing Arrays</vt:lpstr>
      <vt:lpstr>Using Arrays</vt:lpstr>
      <vt:lpstr>Declaring Arrays</vt:lpstr>
      <vt:lpstr>Populating Arrays</vt:lpstr>
      <vt:lpstr>In Visual Basic</vt:lpstr>
      <vt:lpstr>Traversing a 1-D Array</vt:lpstr>
      <vt:lpstr>Populating an Array using a Loop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TWang (Bellahouston)</cp:lastModifiedBy>
  <cp:revision>214</cp:revision>
  <cp:lastPrinted>2025-08-18T09:52:00Z</cp:lastPrinted>
  <dcterms:created xsi:type="dcterms:W3CDTF">2025-02-10T23:03:02Z</dcterms:created>
  <dcterms:modified xsi:type="dcterms:W3CDTF">2025-10-21T08:07:47Z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